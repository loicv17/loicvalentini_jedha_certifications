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95" r:id="rId4"/>
    <p:sldId id="263" r:id="rId5"/>
    <p:sldId id="297" r:id="rId6"/>
    <p:sldId id="286" r:id="rId7"/>
    <p:sldId id="298" r:id="rId8"/>
    <p:sldId id="294" r:id="rId9"/>
    <p:sldId id="262" r:id="rId10"/>
  </p:sldIdLst>
  <p:sldSz cx="9144000" cy="5143500" type="screen16x9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Medium" panose="020B0604020202020204" charset="0"/>
      <p:regular r:id="rId16"/>
      <p:bold r:id="rId17"/>
      <p:italic r:id="rId18"/>
      <p:boldItalic r:id="rId19"/>
    </p:embeddedFont>
    <p:embeddedFont>
      <p:font typeface="Inter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52" autoAdjust="0"/>
  </p:normalViewPr>
  <p:slideViewPr>
    <p:cSldViewPr snapToGrid="0">
      <p:cViewPr>
        <p:scale>
          <a:sx n="100" d="100"/>
          <a:sy n="100" d="100"/>
        </p:scale>
        <p:origin x="180" y="5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4598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132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525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61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252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/3.0/" TargetMode="External"/><Relationship Id="rId3" Type="http://schemas.openxmlformats.org/officeDocument/2006/relationships/image" Target="../media/image12.jpg"/><Relationship Id="rId7" Type="http://schemas.openxmlformats.org/officeDocument/2006/relationships/hyperlink" Target="https://appgetaround-6amwbwuwjmuns5pyhlhwhc.streamlit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gwash.org/view/76511/after-getting-ratiod-brandon-todd-clarifies-hes-not-against-all-car-sharing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/3.0/" TargetMode="External"/><Relationship Id="rId3" Type="http://schemas.openxmlformats.org/officeDocument/2006/relationships/image" Target="../media/image12.jpg"/><Relationship Id="rId7" Type="http://schemas.openxmlformats.org/officeDocument/2006/relationships/hyperlink" Target="https://loicv17-fastapi-getaround.hf.space/doc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gwash.org/view/76511/after-getting-ratiod-brandon-todd-clarifies-hes-not-against-all-car-sharin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5 – Industrialisation IA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Getaround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Juillet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Objectifs pédagogiques du projet 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27187" y="993725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b="0" i="0" dirty="0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  <a:t>Standardiser la construction et l'environnement informatique d'un algorithme d'apprentissage automatique grâce des outils de production comme </a:t>
            </a:r>
            <a:r>
              <a:rPr lang="fr-FR" sz="1400" b="0" i="0" dirty="0" err="1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  <a:t>MLflow</a:t>
            </a:r>
            <a:r>
              <a:rPr lang="fr-FR" sz="1400" b="0" i="0" dirty="0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  <a:t> et Docker afin de faciliter la mise en production de projets d'intelligence artificielle sur tous types de plateformes</a:t>
            </a:r>
            <a:br>
              <a:rPr lang="fr-FR" sz="1400" b="0" i="0" dirty="0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0" i="0" dirty="0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  <a:t>Créer une interface de programmation applicative grâce à des outil comme AWS </a:t>
            </a:r>
            <a:r>
              <a:rPr lang="fr-FR" sz="1400" b="0" i="0" dirty="0" err="1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  <a:t>sagemaker</a:t>
            </a:r>
            <a:r>
              <a:rPr lang="fr-FR" sz="1400" b="0" i="0" dirty="0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  <a:t> afin de donner un accès à échelle aux prédictions des algorithmes d'apprentissage automatique à l'ensemble des équipes métiers concernées</a:t>
            </a:r>
            <a:br>
              <a:rPr lang="fr-FR" sz="1400" b="0" i="0" dirty="0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0" i="0" dirty="0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  <a:t>Déployer une application web intégrant des algorithmes de statistiques prédictives (Machine Learning et Deep Learning) grâce à des outils comme Flask, </a:t>
            </a:r>
            <a:r>
              <a:rPr lang="fr-FR" sz="1400" b="0" i="0" dirty="0" err="1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  <a:t>Heroku</a:t>
            </a:r>
            <a:r>
              <a:rPr lang="fr-FR" sz="1400" b="0" i="0" dirty="0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  <a:t> ou AWS </a:t>
            </a:r>
            <a:r>
              <a:rPr lang="fr-FR" sz="1400" b="0" i="0" dirty="0" err="1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  <a:t>sagemaker</a:t>
            </a:r>
            <a:r>
              <a:rPr lang="fr-FR" sz="1400" b="0" i="0" dirty="0">
                <a:solidFill>
                  <a:srgbClr val="1F2123"/>
                </a:solidFill>
                <a:effectLst/>
                <a:latin typeface="Inter Medium" panose="020B0604020202020204" charset="0"/>
                <a:ea typeface="Inter Medium" panose="020B0604020202020204" charset="0"/>
              </a:rPr>
              <a:t> pour les rendre utilisables par l'ensemble des équipes métiers afin d'automatiser leurs processus de décision</a:t>
            </a:r>
            <a:br>
              <a:rPr lang="fr-FR" sz="1050" b="0" i="0" dirty="0">
                <a:solidFill>
                  <a:srgbClr val="1F2123"/>
                </a:solidFill>
                <a:effectLst/>
                <a:latin typeface="Inter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45031"/>
            <a:ext cx="9144000" cy="39839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9B66071D-AD28-9136-454D-9B33ECE99FA8}"/>
              </a:ext>
            </a:extLst>
          </p:cNvPr>
          <p:cNvSpPr/>
          <p:nvPr/>
        </p:nvSpPr>
        <p:spPr>
          <a:xfrm rot="21244006">
            <a:off x="557603" y="118693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2" y="226397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57603" y="310348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37854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2</a:t>
            </a:fld>
            <a:endParaRPr lang="fr-FR" sz="1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FD989C-3BAA-DA62-D092-7B63F3CF4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81" y="4706580"/>
            <a:ext cx="1699200" cy="4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etaround développe l'autopartage à Nice avec des voitures 100% électriques">
            <a:extLst>
              <a:ext uri="{FF2B5EF4-FFF2-40B4-BE49-F238E27FC236}">
                <a16:creationId xmlns:a16="http://schemas.microsoft.com/office/drawing/2014/main" id="{721B1744-5CA6-C3FD-EB7F-0D15EB61D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1575" y="-1850925"/>
            <a:ext cx="9325800" cy="699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Optimiser la location entre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partioculiers</a:t>
            </a:r>
            <a:endParaRPr lang="fr-FR"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Getaround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est une plateforme de locations de voitures entre particuliers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Pour maximiser la disponibilité des véhicules et satisfaire les utilisateurs, la ponctualité et le prix sont deux enjeux majeurs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Deux problématiques majeures ont été identifiées 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	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Retards fréquents lors des restitutions, affectant les locations suivantes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Prix non optimisés, parfois peu compétitifs ou sous-évalués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Le projet vise à répondre à ces enjeux à l’aide d’une approche data &amp; machine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learning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structurée.</a:t>
            </a:r>
            <a:br>
              <a:rPr lang="fr-FR" sz="1050" dirty="0"/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2" y="182683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1EF11A3D-6A8A-4349-517B-5016433973CC}"/>
              </a:ext>
            </a:extLst>
          </p:cNvPr>
          <p:cNvSpPr/>
          <p:nvPr/>
        </p:nvSpPr>
        <p:spPr>
          <a:xfrm rot="21244006">
            <a:off x="566302" y="352401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652A5A9-CF71-8DC2-8AF4-7BCD6D0B1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81" y="4706580"/>
            <a:ext cx="1699200" cy="4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75DDA477-63D0-7708-F3BB-5EEBC27E12F6}"/>
              </a:ext>
            </a:extLst>
          </p:cNvPr>
          <p:cNvSpPr/>
          <p:nvPr/>
        </p:nvSpPr>
        <p:spPr>
          <a:xfrm rot="21244006">
            <a:off x="566301" y="248651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1409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Graphique, graphisme, violette, Magenta&#10;&#10;Le contenu généré par l’IA peut être incorrect.">
            <a:extLst>
              <a:ext uri="{FF2B5EF4-FFF2-40B4-BE49-F238E27FC236}">
                <a16:creationId xmlns:a16="http://schemas.microsoft.com/office/drawing/2014/main" id="{D39B645F-206A-310E-AB53-E3CD03FD49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108000" y="-285750"/>
            <a:ext cx="16291505" cy="5430501"/>
          </a:xfrm>
          <a:prstGeom prst="rect">
            <a:avLst/>
          </a:prstGeom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retards aux prédictions : une approche data-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driven</a:t>
            </a:r>
            <a:endParaRPr lang="fr-FR"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Objectifs business du projet 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Réduire les retards de restitution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Optimiser les prix de location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Proposer un outil de visualisation et une API de prédiction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Approche technique 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Analyse exploratoire (EDA)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Dashboard interactif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Modèle Machine Learning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API déployée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302" y="268180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6720CED-5E56-44C9-70BA-EEA1AA87D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81" y="4706580"/>
            <a:ext cx="1699200" cy="4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Getaround">
            <a:extLst>
              <a:ext uri="{FF2B5EF4-FFF2-40B4-BE49-F238E27FC236}">
                <a16:creationId xmlns:a16="http://schemas.microsoft.com/office/drawing/2014/main" id="{560CE0CB-89F3-FB6F-1343-6EFC2D903D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40939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technique (résumé)</a:t>
            </a: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6720CED-5E56-44C9-70BA-EEA1AA87D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81" y="4706580"/>
            <a:ext cx="1699200" cy="4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Getaround">
            <a:extLst>
              <a:ext uri="{FF2B5EF4-FFF2-40B4-BE49-F238E27FC236}">
                <a16:creationId xmlns:a16="http://schemas.microsoft.com/office/drawing/2014/main" id="{560CE0CB-89F3-FB6F-1343-6EFC2D903D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4098" name="Picture 2" descr="Dataset Icons - Free SVG &amp; PNG Dataset Images - Noun Project">
            <a:extLst>
              <a:ext uri="{FF2B5EF4-FFF2-40B4-BE49-F238E27FC236}">
                <a16:creationId xmlns:a16="http://schemas.microsoft.com/office/drawing/2014/main" id="{5EDD2BE1-B463-0A9D-B96E-01655B1E3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327" y="893067"/>
            <a:ext cx="1360539" cy="136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3FCEB584-81A0-9339-4259-2D02FB4AEFFF}"/>
              </a:ext>
            </a:extLst>
          </p:cNvPr>
          <p:cNvCxnSpPr>
            <a:cxnSpLocks/>
          </p:cNvCxnSpPr>
          <p:nvPr/>
        </p:nvCxnSpPr>
        <p:spPr>
          <a:xfrm flipH="1">
            <a:off x="2259980" y="1573336"/>
            <a:ext cx="1573347" cy="1079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9F9A5A42-C9F6-2E4F-1E45-DC7F24D9318E}"/>
              </a:ext>
            </a:extLst>
          </p:cNvPr>
          <p:cNvCxnSpPr>
            <a:cxnSpLocks/>
            <a:stCxn id="4098" idx="3"/>
          </p:cNvCxnSpPr>
          <p:nvPr/>
        </p:nvCxnSpPr>
        <p:spPr>
          <a:xfrm>
            <a:off x="5193866" y="1573337"/>
            <a:ext cx="1573347" cy="1058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C81B4D31-C80C-D563-8712-0C22460F5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170060"/>
              </p:ext>
            </p:extLst>
          </p:nvPr>
        </p:nvGraphicFramePr>
        <p:xfrm>
          <a:off x="0" y="2753040"/>
          <a:ext cx="9133776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66888">
                  <a:extLst>
                    <a:ext uri="{9D8B030D-6E8A-4147-A177-3AD203B41FA5}">
                      <a16:colId xmlns:a16="http://schemas.microsoft.com/office/drawing/2014/main" val="4161308037"/>
                    </a:ext>
                  </a:extLst>
                </a:gridCol>
                <a:gridCol w="4566888">
                  <a:extLst>
                    <a:ext uri="{9D8B030D-6E8A-4147-A177-3AD203B41FA5}">
                      <a16:colId xmlns:a16="http://schemas.microsoft.com/office/drawing/2014/main" val="3753990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Analyse des données</a:t>
                      </a:r>
                      <a:endParaRPr lang="fr-FR" dirty="0">
                        <a:solidFill>
                          <a:schemeClr val="tx1"/>
                        </a:solidFill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Modèle Machine Learning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954679"/>
                  </a:ext>
                </a:extLst>
              </a:tr>
            </a:tbl>
          </a:graphicData>
        </a:graphic>
      </p:graphicFrame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C09E7914-D220-9AE2-9824-E0BC2B23ACA7}"/>
              </a:ext>
            </a:extLst>
          </p:cNvPr>
          <p:cNvCxnSpPr/>
          <p:nvPr/>
        </p:nvCxnSpPr>
        <p:spPr>
          <a:xfrm>
            <a:off x="2259980" y="3171071"/>
            <a:ext cx="0" cy="4661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au 22">
            <a:extLst>
              <a:ext uri="{FF2B5EF4-FFF2-40B4-BE49-F238E27FC236}">
                <a16:creationId xmlns:a16="http://schemas.microsoft.com/office/drawing/2014/main" id="{DAB0DF9B-287E-D132-4962-2D76DEEE7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72400"/>
              </p:ext>
            </p:extLst>
          </p:nvPr>
        </p:nvGraphicFramePr>
        <p:xfrm>
          <a:off x="0" y="3709161"/>
          <a:ext cx="9133776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66888">
                  <a:extLst>
                    <a:ext uri="{9D8B030D-6E8A-4147-A177-3AD203B41FA5}">
                      <a16:colId xmlns:a16="http://schemas.microsoft.com/office/drawing/2014/main" val="4161308037"/>
                    </a:ext>
                  </a:extLst>
                </a:gridCol>
                <a:gridCol w="4566888">
                  <a:extLst>
                    <a:ext uri="{9D8B030D-6E8A-4147-A177-3AD203B41FA5}">
                      <a16:colId xmlns:a16="http://schemas.microsoft.com/office/drawing/2014/main" val="3753990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Déploiement </a:t>
                      </a:r>
                      <a:r>
                        <a:rPr lang="fr-FR" i="0" dirty="0" err="1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Streamlit</a:t>
                      </a:r>
                      <a:endParaRPr lang="fr-FR" i="0" dirty="0">
                        <a:solidFill>
                          <a:schemeClr val="tx1"/>
                        </a:solidFill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Déploiement </a:t>
                      </a:r>
                      <a:r>
                        <a:rPr lang="fr-FR" i="0" dirty="0" err="1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FastAPI</a:t>
                      </a:r>
                      <a:endParaRPr lang="fr-FR" i="0" dirty="0">
                        <a:solidFill>
                          <a:schemeClr val="tx1"/>
                        </a:solidFill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954679"/>
                  </a:ext>
                </a:extLst>
              </a:tr>
            </a:tbl>
          </a:graphicData>
        </a:graphic>
      </p:graphicFrame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1FC31ECC-36B6-FAB1-0374-1820B6A42128}"/>
              </a:ext>
            </a:extLst>
          </p:cNvPr>
          <p:cNvCxnSpPr/>
          <p:nvPr/>
        </p:nvCxnSpPr>
        <p:spPr>
          <a:xfrm>
            <a:off x="6778364" y="3188949"/>
            <a:ext cx="0" cy="4661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176F94BB-4635-BE8A-AB21-DF5E60864778}"/>
              </a:ext>
            </a:extLst>
          </p:cNvPr>
          <p:cNvSpPr txBox="1"/>
          <p:nvPr/>
        </p:nvSpPr>
        <p:spPr>
          <a:xfrm>
            <a:off x="3690514" y="2145506"/>
            <a:ext cx="1934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Inter Medium" panose="020B0604020202020204" charset="0"/>
                <a:ea typeface="Inter Medium" panose="020B0604020202020204" charset="0"/>
              </a:rPr>
              <a:t>Base de données</a:t>
            </a:r>
          </a:p>
        </p:txBody>
      </p:sp>
      <p:pic>
        <p:nvPicPr>
          <p:cNvPr id="4112" name="Picture 16" descr="L'analyse des données - Icônes référencement et web gratuites">
            <a:extLst>
              <a:ext uri="{FF2B5EF4-FFF2-40B4-BE49-F238E27FC236}">
                <a16:creationId xmlns:a16="http://schemas.microsoft.com/office/drawing/2014/main" id="{8171ED72-2C4A-504A-BBEF-B90AC6798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19" y="2594168"/>
            <a:ext cx="706244" cy="70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>
            <a:extLst>
              <a:ext uri="{FF2B5EF4-FFF2-40B4-BE49-F238E27FC236}">
                <a16:creationId xmlns:a16="http://schemas.microsoft.com/office/drawing/2014/main" id="{46543B0F-4BD4-3A76-A0A3-FD2CF0330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299" y="4006587"/>
            <a:ext cx="989361" cy="57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>
            <a:extLst>
              <a:ext uri="{FF2B5EF4-FFF2-40B4-BE49-F238E27FC236}">
                <a16:creationId xmlns:a16="http://schemas.microsoft.com/office/drawing/2014/main" id="{C30CC03A-0FE1-0F5B-FC75-852A78D3D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653" y="4155565"/>
            <a:ext cx="1447144" cy="38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2" name="Picture 26" descr="FastAPI">
            <a:extLst>
              <a:ext uri="{FF2B5EF4-FFF2-40B4-BE49-F238E27FC236}">
                <a16:creationId xmlns:a16="http://schemas.microsoft.com/office/drawing/2014/main" id="{0C51A4A7-92A5-8999-FE38-F2A5364D8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792" y="4087697"/>
            <a:ext cx="1447144" cy="52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Image 27" descr="Une image contenant Graphique, graphisme, violette, Magenta&#10;&#10;Le contenu généré par l’IA peut être incorrect.">
            <a:extLst>
              <a:ext uri="{FF2B5EF4-FFF2-40B4-BE49-F238E27FC236}">
                <a16:creationId xmlns:a16="http://schemas.microsoft.com/office/drawing/2014/main" id="{D727E3D7-34E1-F744-9959-EF7C450BA04D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-108000" y="-285750"/>
            <a:ext cx="16291505" cy="5430501"/>
          </a:xfrm>
          <a:prstGeom prst="rect">
            <a:avLst/>
          </a:prstGeom>
        </p:spPr>
      </p:pic>
      <p:pic>
        <p:nvPicPr>
          <p:cNvPr id="4124" name="Picture 28" descr="Machine learning - Icônes éducation gratuites">
            <a:extLst>
              <a:ext uri="{FF2B5EF4-FFF2-40B4-BE49-F238E27FC236}">
                <a16:creationId xmlns:a16="http://schemas.microsoft.com/office/drawing/2014/main" id="{83B4D7C2-7808-167A-B640-DA54E03B4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752" y="2604390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93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Véhicule terrestre, véhicule, supercar, Conception automobile&#10;&#10;Le contenu généré par l’IA peut être incorrect.">
            <a:extLst>
              <a:ext uri="{FF2B5EF4-FFF2-40B4-BE49-F238E27FC236}">
                <a16:creationId xmlns:a16="http://schemas.microsoft.com/office/drawing/2014/main" id="{C5F16C36-ABBF-1DD7-DFA4-5D28D374D7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194400" y="-1094191"/>
            <a:ext cx="9404400" cy="6265682"/>
          </a:xfrm>
          <a:prstGeom prst="rect">
            <a:avLst/>
          </a:prstGeom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L’application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Streamlit</a:t>
            </a:r>
            <a:endParaRPr lang="fr-FR"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6</a:t>
            </a:fld>
            <a:endParaRPr lang="fr-FR" sz="1600" b="1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652A5A9-CF71-8DC2-8AF4-7BCD6D0B1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81" y="4706580"/>
            <a:ext cx="1699200" cy="4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9D1F3C5-A803-8072-975D-8C2F0B98D809}"/>
              </a:ext>
            </a:extLst>
          </p:cNvPr>
          <p:cNvSpPr txBox="1"/>
          <p:nvPr/>
        </p:nvSpPr>
        <p:spPr>
          <a:xfrm>
            <a:off x="762000" y="1034102"/>
            <a:ext cx="8180400" cy="6624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Objectif :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aider les équipes opérationnelles à ajuster les buffers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b="1" dirty="0">
                <a:latin typeface="Inter Medium" panose="020B0604020202020204" charset="0"/>
                <a:ea typeface="Inter Medium" panose="020B0604020202020204" charset="0"/>
              </a:rPr>
              <a:t>Fonctionnalités : 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Filtre par check-in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Choix d’un buffer de sécurité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Visualisation des taux : impact global, cas critiques évités, annulations concernées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u="sng" dirty="0">
              <a:solidFill>
                <a:srgbClr val="002060"/>
              </a:solidFill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fr-FR" sz="1400" b="1" u="sng" dirty="0">
                <a:solidFill>
                  <a:srgbClr val="00206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Outil en ligne : https://appgetaround-6amwbwuwjmuns5pyhlhwhc.streamlit.app/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1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1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Facilite la prise de décision pour les équipes métier pour mesurer les conséquences de l’instauration du « buffer » 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AB1802-1910-E50C-90FE-6C4CA53F971F}"/>
              </a:ext>
            </a:extLst>
          </p:cNvPr>
          <p:cNvSpPr txBox="1"/>
          <p:nvPr/>
        </p:nvSpPr>
        <p:spPr>
          <a:xfrm>
            <a:off x="762000" y="5110162"/>
            <a:ext cx="762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4" tooltip="https://ggwash.org/view/76511/after-getting-ratiod-brandon-todd-clarifies-hes-not-against-all-car-sharing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/3.0/"/>
              </a:rPr>
              <a:t>CC BY-NC</a:t>
            </a:r>
            <a:endParaRPr lang="fr-FR" sz="900"/>
          </a:p>
        </p:txBody>
      </p:sp>
      <p:sp>
        <p:nvSpPr>
          <p:cNvPr id="14" name="Google Shape;72;p15">
            <a:extLst>
              <a:ext uri="{FF2B5EF4-FFF2-40B4-BE49-F238E27FC236}">
                <a16:creationId xmlns:a16="http://schemas.microsoft.com/office/drawing/2014/main" id="{ABC2B65F-F1CF-8826-2F61-39A4EDA0517F}"/>
              </a:ext>
            </a:extLst>
          </p:cNvPr>
          <p:cNvSpPr/>
          <p:nvPr/>
        </p:nvSpPr>
        <p:spPr>
          <a:xfrm rot="21244006">
            <a:off x="499084" y="118308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72;p15">
            <a:extLst>
              <a:ext uri="{FF2B5EF4-FFF2-40B4-BE49-F238E27FC236}">
                <a16:creationId xmlns:a16="http://schemas.microsoft.com/office/drawing/2014/main" id="{0B1542B0-7685-54D3-BDF0-813C867A5E9E}"/>
              </a:ext>
            </a:extLst>
          </p:cNvPr>
          <p:cNvSpPr/>
          <p:nvPr/>
        </p:nvSpPr>
        <p:spPr>
          <a:xfrm rot="21244006">
            <a:off x="499084" y="180812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03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Véhicule terrestre, véhicule, supercar, Conception automobile&#10;&#10;Le contenu généré par l’IA peut être incorrect.">
            <a:extLst>
              <a:ext uri="{FF2B5EF4-FFF2-40B4-BE49-F238E27FC236}">
                <a16:creationId xmlns:a16="http://schemas.microsoft.com/office/drawing/2014/main" id="{C5F16C36-ABBF-1DD7-DFA4-5D28D374D7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194400" y="-1094191"/>
            <a:ext cx="9404400" cy="6265682"/>
          </a:xfrm>
          <a:prstGeom prst="rect">
            <a:avLst/>
          </a:prstGeom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L’API de prédiction des prix</a:t>
            </a: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7</a:t>
            </a:fld>
            <a:endParaRPr lang="fr-FR" sz="1600" b="1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652A5A9-CF71-8DC2-8AF4-7BCD6D0B1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81" y="4706580"/>
            <a:ext cx="1699200" cy="4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9D1F3C5-A803-8072-975D-8C2F0B98D809}"/>
              </a:ext>
            </a:extLst>
          </p:cNvPr>
          <p:cNvSpPr txBox="1"/>
          <p:nvPr/>
        </p:nvSpPr>
        <p:spPr>
          <a:xfrm>
            <a:off x="762000" y="1034102"/>
            <a:ext cx="8180400" cy="6840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Objectif :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permettre une prédiction automatisée du prix de location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b="1" dirty="0">
                <a:latin typeface="Inter Medium" panose="020B0604020202020204" charset="0"/>
                <a:ea typeface="Inter Medium" panose="020B0604020202020204" charset="0"/>
              </a:rPr>
              <a:t>Fonctionnalités : 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Formulaire d’entrée avec les caractéristiques du véhicule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Prédiction du prix de location via modèle </a:t>
            </a:r>
            <a:r>
              <a:rPr lang="fr-FR" dirty="0" err="1">
                <a:latin typeface="Inter Medium" panose="020B0604020202020204" charset="0"/>
                <a:ea typeface="Inter Medium" panose="020B0604020202020204" charset="0"/>
              </a:rPr>
              <a:t>XGBoost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 (modèles tracé sur </a:t>
            </a:r>
            <a:r>
              <a:rPr lang="fr-FR" dirty="0" err="1">
                <a:latin typeface="Inter Medium" panose="020B0604020202020204" charset="0"/>
                <a:ea typeface="Inter Medium" panose="020B0604020202020204" charset="0"/>
              </a:rPr>
              <a:t>MLFlow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)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API REST avec document interactive (</a:t>
            </a:r>
            <a:r>
              <a:rPr lang="fr-FR" dirty="0" err="1">
                <a:latin typeface="Inter Medium" panose="020B0604020202020204" charset="0"/>
                <a:ea typeface="Inter Medium" panose="020B0604020202020204" charset="0"/>
              </a:rPr>
              <a:t>Swagger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 UI)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Interface accessible via navigateur ou script Python (</a:t>
            </a:r>
            <a:r>
              <a:rPr lang="fr-FR" dirty="0" err="1">
                <a:latin typeface="Inter Medium" panose="020B0604020202020204" charset="0"/>
                <a:ea typeface="Inter Medium" panose="020B0604020202020204" charset="0"/>
              </a:rPr>
              <a:t>requests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)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b="1" u="sng" dirty="0">
              <a:solidFill>
                <a:srgbClr val="0097A7"/>
              </a:solidFill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fr-FR" sz="1400" b="1" u="sng" dirty="0">
                <a:solidFill>
                  <a:srgbClr val="00206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Outil en ligne : </a:t>
            </a:r>
            <a:r>
              <a:rPr lang="fr-FR" b="1" u="sng" dirty="0">
                <a:solidFill>
                  <a:srgbClr val="00206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https://loicv17-fastapi-getaround.hf.space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1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1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Facilite la prise de décision pour les équipes métier pour mesurer les conséquences de l’instauration du « buffer » 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AB1802-1910-E50C-90FE-6C4CA53F971F}"/>
              </a:ext>
            </a:extLst>
          </p:cNvPr>
          <p:cNvSpPr txBox="1"/>
          <p:nvPr/>
        </p:nvSpPr>
        <p:spPr>
          <a:xfrm>
            <a:off x="762000" y="5110162"/>
            <a:ext cx="762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4" tooltip="https://ggwash.org/view/76511/after-getting-ratiod-brandon-todd-clarifies-hes-not-against-all-car-sharing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/3.0/"/>
              </a:rPr>
              <a:t>CC BY-NC</a:t>
            </a:r>
            <a:endParaRPr lang="fr-FR" sz="900"/>
          </a:p>
        </p:txBody>
      </p:sp>
      <p:sp>
        <p:nvSpPr>
          <p:cNvPr id="14" name="Google Shape;72;p15">
            <a:extLst>
              <a:ext uri="{FF2B5EF4-FFF2-40B4-BE49-F238E27FC236}">
                <a16:creationId xmlns:a16="http://schemas.microsoft.com/office/drawing/2014/main" id="{ABC2B65F-F1CF-8826-2F61-39A4EDA0517F}"/>
              </a:ext>
            </a:extLst>
          </p:cNvPr>
          <p:cNvSpPr/>
          <p:nvPr/>
        </p:nvSpPr>
        <p:spPr>
          <a:xfrm rot="21244006">
            <a:off x="499084" y="118308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72;p15">
            <a:extLst>
              <a:ext uri="{FF2B5EF4-FFF2-40B4-BE49-F238E27FC236}">
                <a16:creationId xmlns:a16="http://schemas.microsoft.com/office/drawing/2014/main" id="{0B1542B0-7685-54D3-BDF0-813C867A5E9E}"/>
              </a:ext>
            </a:extLst>
          </p:cNvPr>
          <p:cNvSpPr/>
          <p:nvPr/>
        </p:nvSpPr>
        <p:spPr>
          <a:xfrm rot="21244006">
            <a:off x="499084" y="180812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885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ighlights from Getaround's debut on the New York Stock Exchange">
            <a:extLst>
              <a:ext uri="{FF2B5EF4-FFF2-40B4-BE49-F238E27FC236}">
                <a16:creationId xmlns:a16="http://schemas.microsoft.com/office/drawing/2014/main" id="{2AC6A6CE-0B5B-85C3-4717-6A9C5511C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6224" y="-932141"/>
            <a:ext cx="9544050" cy="636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Synthèse finale et recommandations stratégiques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85351" y="926109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Résultats 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Diminution potentielle des retards grâce au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dashboard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interactif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Modèle ML performant pour la prédiction des prix, intégré à une API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Décision data-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driven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 meilleure compréhension des causes de retard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Solution réutilisable (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Streamlit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FastAPI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MLFlow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) facilement intégrable dans les processus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Recommandations :</a:t>
            </a:r>
            <a:b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Mettre en place un réentraînement régulier du modèle avec des données à jour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Ajouter des données contextuelles (météo, jour/heure, évènements locaux…)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Envisager un déploiement cloud pour industrialiser l’API (GCP, AWS…)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Intégrer l’API directement dans l’interface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Getaround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pour un tarif dynamique en live)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76482" y="1132538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8</a:t>
            </a:fld>
            <a:endParaRPr lang="fr-FR" sz="1600" b="1" dirty="0"/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1EF11A3D-6A8A-4349-517B-5016433973CC}"/>
              </a:ext>
            </a:extLst>
          </p:cNvPr>
          <p:cNvSpPr/>
          <p:nvPr/>
        </p:nvSpPr>
        <p:spPr>
          <a:xfrm rot="21244006">
            <a:off x="566299" y="279691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9D269C6-98B8-334B-185B-62F6AB2BB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81" y="4706580"/>
            <a:ext cx="1699200" cy="4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32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3465</TotalTime>
  <Words>645</Words>
  <Application>Microsoft Office PowerPoint</Application>
  <PresentationFormat>Affichage à l'écran (16:9)</PresentationFormat>
  <Paragraphs>81</Paragraphs>
  <Slides>9</Slides>
  <Notes>9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Inter SemiBold</vt:lpstr>
      <vt:lpstr>Arial</vt:lpstr>
      <vt:lpstr>Inter Medium</vt:lpstr>
      <vt:lpstr>Inter</vt:lpstr>
      <vt:lpstr>Simple Light</vt:lpstr>
      <vt:lpstr>BLOC 5 – Industrialisation IA Getaround project</vt:lpstr>
      <vt:lpstr>Objectifs pédagogiques du projet </vt:lpstr>
      <vt:lpstr>Optimiser la location entre partioculiers</vt:lpstr>
      <vt:lpstr>Des retards aux prédictions : une approche data-driven</vt:lpstr>
      <vt:lpstr>Architecture technique (résumé)</vt:lpstr>
      <vt:lpstr>L’application Streamlit</vt:lpstr>
      <vt:lpstr>L’API de prédiction des prix</vt:lpstr>
      <vt:lpstr>Synthèse finale et recommandations stratégiques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11</cp:revision>
  <dcterms:modified xsi:type="dcterms:W3CDTF">2025-07-23T14:50:36Z</dcterms:modified>
</cp:coreProperties>
</file>