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8" r:id="rId3"/>
    <p:sldId id="303" r:id="rId4"/>
    <p:sldId id="299" r:id="rId5"/>
    <p:sldId id="295" r:id="rId6"/>
    <p:sldId id="301" r:id="rId7"/>
    <p:sldId id="300" r:id="rId8"/>
    <p:sldId id="304" r:id="rId9"/>
    <p:sldId id="305" r:id="rId10"/>
    <p:sldId id="263" r:id="rId11"/>
    <p:sldId id="297" r:id="rId12"/>
    <p:sldId id="286" r:id="rId13"/>
    <p:sldId id="298" r:id="rId14"/>
    <p:sldId id="294" r:id="rId15"/>
    <p:sldId id="262" r:id="rId16"/>
  </p:sldIdLst>
  <p:sldSz cx="9144000" cy="5143500" type="screen16x9"/>
  <p:notesSz cx="6858000" cy="9144000"/>
  <p:embeddedFontLst>
    <p:embeddedFont>
      <p:font typeface="Inter" panose="020B0604020202020204" charset="0"/>
      <p:regular r:id="rId18"/>
      <p:bold r:id="rId19"/>
      <p:italic r:id="rId20"/>
      <p:boldItalic r:id="rId21"/>
    </p:embeddedFont>
    <p:embeddedFont>
      <p:font typeface="Inter Medium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271" autoAdjust="0"/>
  </p:normalViewPr>
  <p:slideViewPr>
    <p:cSldViewPr snapToGrid="0">
      <p:cViewPr varScale="1">
        <p:scale>
          <a:sx n="106" d="100"/>
          <a:sy n="106" d="100"/>
        </p:scale>
        <p:origin x="1686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7af7a6a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7af7a6a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Derrière une simple tâche peut se cacher un cancer.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Derrière une simple tâche peut se cacher un cancer.</a:t>
            </a:r>
            <a:br>
              <a:rPr lang="fr-FR" dirty="0"/>
            </a:br>
            <a:r>
              <a:rPr lang="fr-FR" dirty="0"/>
              <a:t>Regardez ces deux images : à gauche un mélanome, à droite un simple grain de beauté. La différence est minime… et pourtant, le diagnostic change tout.</a:t>
            </a:r>
            <a:br>
              <a:rPr lang="fr-FR" dirty="0"/>
            </a:br>
            <a:r>
              <a:rPr lang="fr-FR" dirty="0"/>
              <a:t>Comme le rappelle le Dr Jones de l’American </a:t>
            </a:r>
            <a:r>
              <a:rPr lang="fr-FR" dirty="0" err="1"/>
              <a:t>Medical</a:t>
            </a:r>
            <a:r>
              <a:rPr lang="fr-FR" dirty="0"/>
              <a:t> Association : </a:t>
            </a:r>
            <a:r>
              <a:rPr lang="fr-FR" i="1" dirty="0"/>
              <a:t>“if </a:t>
            </a:r>
            <a:r>
              <a:rPr lang="fr-FR" i="1" dirty="0" err="1"/>
              <a:t>detected</a:t>
            </a:r>
            <a:r>
              <a:rPr lang="fr-FR" i="1" dirty="0"/>
              <a:t> </a:t>
            </a:r>
            <a:r>
              <a:rPr lang="fr-FR" i="1" dirty="0" err="1"/>
              <a:t>early</a:t>
            </a:r>
            <a:r>
              <a:rPr lang="fr-FR" i="1" dirty="0"/>
              <a:t>, the five-</a:t>
            </a:r>
            <a:r>
              <a:rPr lang="fr-FR" i="1" dirty="0" err="1"/>
              <a:t>year</a:t>
            </a:r>
            <a:r>
              <a:rPr lang="fr-FR" i="1" dirty="0"/>
              <a:t> </a:t>
            </a:r>
            <a:r>
              <a:rPr lang="fr-FR" i="1" dirty="0" err="1"/>
              <a:t>survival</a:t>
            </a:r>
            <a:r>
              <a:rPr lang="fr-FR" i="1" dirty="0"/>
              <a:t> rate for </a:t>
            </a:r>
            <a:r>
              <a:rPr lang="fr-FR" i="1" dirty="0" err="1"/>
              <a:t>melanoma</a:t>
            </a:r>
            <a:r>
              <a:rPr lang="fr-FR" i="1" dirty="0"/>
              <a:t> </a:t>
            </a:r>
            <a:r>
              <a:rPr lang="fr-FR" i="1" dirty="0" err="1"/>
              <a:t>is</a:t>
            </a:r>
            <a:r>
              <a:rPr lang="fr-FR" i="1" dirty="0"/>
              <a:t> 99 %.”</a:t>
            </a:r>
            <a:br>
              <a:rPr lang="fr-FR" dirty="0"/>
            </a:br>
            <a:r>
              <a:rPr lang="fr-FR" dirty="0"/>
              <a:t>C’est cette réalité qui a guidé la naissance à ce projet.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0793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dirty="0"/>
              <a:t>« Les chiffres parlent d’eux-mêmes :</a:t>
            </a:r>
            <a:br>
              <a:rPr lang="fr-FR" dirty="0"/>
            </a:br>
            <a:r>
              <a:rPr lang="fr-FR" dirty="0"/>
              <a:t>En </a:t>
            </a:r>
            <a:r>
              <a:rPr lang="fr-FR" b="1" dirty="0"/>
              <a:t>France</a:t>
            </a:r>
            <a:r>
              <a:rPr lang="fr-FR" dirty="0"/>
              <a:t>, on dénombre près de </a:t>
            </a:r>
            <a:r>
              <a:rPr lang="fr-FR" b="1" dirty="0"/>
              <a:t>80 000 nouveaux cas</a:t>
            </a:r>
            <a:r>
              <a:rPr lang="fr-FR" dirty="0"/>
              <a:t> de cancer de la peau chaque année.</a:t>
            </a:r>
            <a:br>
              <a:rPr lang="fr-FR" dirty="0"/>
            </a:br>
            <a:r>
              <a:rPr lang="fr-FR" dirty="0"/>
              <a:t>En </a:t>
            </a:r>
            <a:r>
              <a:rPr lang="fr-FR" b="1" dirty="0"/>
              <a:t>Europe</a:t>
            </a:r>
            <a:r>
              <a:rPr lang="fr-FR" dirty="0"/>
              <a:t>, c’est </a:t>
            </a:r>
            <a:r>
              <a:rPr lang="fr-FR" b="1" dirty="0"/>
              <a:t>1 cancer sur 3</a:t>
            </a:r>
            <a:r>
              <a:rPr lang="fr-FR" dirty="0"/>
              <a:t> qui touche la peau, avec une hausse attendue de </a:t>
            </a:r>
            <a:r>
              <a:rPr lang="fr-FR" b="1" dirty="0"/>
              <a:t>40 % des cas</a:t>
            </a:r>
            <a:r>
              <a:rPr lang="fr-FR" dirty="0"/>
              <a:t> et de </a:t>
            </a:r>
            <a:r>
              <a:rPr lang="fr-FR" b="1" dirty="0"/>
              <a:t>50 % des décès</a:t>
            </a:r>
            <a:r>
              <a:rPr lang="fr-FR" dirty="0"/>
              <a:t> dans les prochaines années.</a:t>
            </a:r>
            <a:br>
              <a:rPr lang="fr-FR" dirty="0"/>
            </a:br>
            <a:r>
              <a:rPr lang="fr-FR" dirty="0"/>
              <a:t>À l’échelle du </a:t>
            </a:r>
            <a:r>
              <a:rPr lang="fr-FR" b="1" dirty="0"/>
              <a:t>monde</a:t>
            </a:r>
            <a:r>
              <a:rPr lang="fr-FR" dirty="0"/>
              <a:t>, rien qu’en 2022, plus de </a:t>
            </a:r>
            <a:r>
              <a:rPr lang="fr-FR" b="1" dirty="0"/>
              <a:t>330 000 nouveaux cas de mélanome</a:t>
            </a:r>
            <a:r>
              <a:rPr lang="fr-FR" dirty="0"/>
              <a:t> ont été diagnostiqués et </a:t>
            </a:r>
            <a:r>
              <a:rPr lang="fr-FR" b="1" dirty="0"/>
              <a:t>60 000 personnes en sont mortes</a:t>
            </a:r>
            <a:r>
              <a:rPr lang="fr-FR" dirty="0"/>
              <a:t>.</a:t>
            </a:r>
          </a:p>
          <a:p>
            <a:pPr marL="158750" indent="0">
              <a:buNone/>
            </a:pPr>
            <a:endParaRPr lang="fr-FR" dirty="0"/>
          </a:p>
          <a:p>
            <a:pPr marL="158750" indent="0">
              <a:buNone/>
            </a:pPr>
            <a:r>
              <a:rPr lang="fr-FR" dirty="0"/>
              <a:t>Mais au-delà des chiffres, il y a une réalité : l’</a:t>
            </a:r>
            <a:r>
              <a:rPr lang="fr-FR" b="1" dirty="0"/>
              <a:t>accès aux soins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En France, un rendez-vous chez un dermatologue prend souvent </a:t>
            </a:r>
            <a:r>
              <a:rPr lang="fr-FR" b="1" dirty="0"/>
              <a:t>plusieurs mois</a:t>
            </a:r>
            <a:r>
              <a:rPr lang="fr-FR" dirty="0"/>
              <a:t>, et ce constat se répète en Europe… voire s’aggrave encore dans de nombreux pays.</a:t>
            </a:r>
            <a:br>
              <a:rPr lang="fr-FR" dirty="0"/>
            </a:br>
            <a:r>
              <a:rPr lang="fr-FR" dirty="0"/>
              <a:t>Résultat : le diagnostic précoce, pourtant clé pour sauver des vies, est trop souvent retardé.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44011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Notre mission est d’offrir un </a:t>
            </a:r>
            <a:r>
              <a:rPr lang="fr-FR" b="1" dirty="0"/>
              <a:t>outil en ligne simple et accessible</a:t>
            </a:r>
            <a:r>
              <a:rPr lang="fr-FR" dirty="0"/>
              <a:t>, qui permette d’évaluer de façon fiable la </a:t>
            </a:r>
            <a:r>
              <a:rPr lang="fr-FR" b="1" dirty="0"/>
              <a:t>criticité d’une lésion cutanée</a:t>
            </a:r>
            <a:r>
              <a:rPr lang="fr-FR" dirty="0"/>
              <a:t>, comme une tâche ou un grain de beauté.</a:t>
            </a:r>
            <a:br>
              <a:rPr lang="fr-FR" dirty="0"/>
            </a:br>
            <a:r>
              <a:rPr lang="fr-FR" dirty="0"/>
              <a:t>L’idée est de favoriser un </a:t>
            </a:r>
            <a:r>
              <a:rPr lang="fr-FR" b="1" dirty="0"/>
              <a:t>diagnostic plus précoce</a:t>
            </a:r>
            <a:r>
              <a:rPr lang="fr-FR" dirty="0"/>
              <a:t> et de mieux accompagner chacun dans la </a:t>
            </a:r>
            <a:r>
              <a:rPr lang="fr-FR" b="1" dirty="0"/>
              <a:t>prévention des cancers de la peau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C’est dans cette logique qu’est né le projet </a:t>
            </a:r>
            <a:r>
              <a:rPr lang="fr-FR" b="1" dirty="0" err="1"/>
              <a:t>SkinCare</a:t>
            </a:r>
            <a:r>
              <a:rPr lang="fr-FR" dirty="0"/>
              <a:t>, porté par notre groupe. 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645989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sz="1000" dirty="0"/>
              <a:t>« Notre projet </a:t>
            </a:r>
            <a:r>
              <a:rPr lang="fr-FR" sz="1000" dirty="0" err="1"/>
              <a:t>SkinCare</a:t>
            </a:r>
            <a:r>
              <a:rPr lang="fr-FR" sz="1000" dirty="0"/>
              <a:t> répond à un double besoin : d’abord médical, ensuite lié à l’évolution de la santé digitale. »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000" dirty="0"/>
              <a:t>Le diagnostic précoce est essentiel : détecter un mélanome tôt augmente fortement les chances de guérison.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00" dirty="0"/>
              <a:t>Aujourd’hui, on compte des milliers de nouveaux cas par an en France, avec une tendance à la hausse.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00" dirty="0"/>
              <a:t>Mais l’accès aux dermatologues est difficile, souvent plusieurs mois d’attente : d’où la nécessité d’un outil rapide et accessible.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000" dirty="0"/>
          </a:p>
          <a:p>
            <a:pPr>
              <a:buFont typeface="Arial" panose="020B0604020202020204" pitchFamily="34" charset="0"/>
              <a:buChar char="•"/>
            </a:pPr>
            <a:r>
              <a:rPr lang="fr-FR" sz="1000" dirty="0"/>
              <a:t>En parallèle, le marché de la santé digitale est en pleine croissance.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00" dirty="0"/>
              <a:t>L’intelligence artificielle devient un outil majeur de prévention et d’aide au diagnostic.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000" dirty="0"/>
              <a:t>Cela permet d’innover, de se différencier et de renforcer la confiance dans la prise en charge des patients,</a:t>
            </a:r>
            <a:br>
              <a:rPr lang="fr-FR" sz="1000" dirty="0"/>
            </a:br>
            <a:r>
              <a:rPr lang="fr-FR" sz="1000" dirty="0"/>
              <a:t>« C’est à l’intersection de ces deux dimensions — médicale et digitale — que s’inscrit notre projet </a:t>
            </a:r>
            <a:r>
              <a:rPr lang="fr-FR" sz="1000" dirty="0" err="1"/>
              <a:t>SkinCare</a:t>
            </a:r>
            <a:r>
              <a:rPr lang="fr-FR" sz="1000" dirty="0"/>
              <a:t>. 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76546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« Pour les </a:t>
            </a:r>
            <a:r>
              <a:rPr lang="fr-FR" b="1" dirty="0"/>
              <a:t>patients</a:t>
            </a:r>
            <a:r>
              <a:rPr lang="fr-FR" dirty="0"/>
              <a:t>, c’est plus de sérénité et un diagnostic plus précoce.</a:t>
            </a:r>
            <a:br>
              <a:rPr lang="fr-FR" dirty="0"/>
            </a:br>
            <a:r>
              <a:rPr lang="fr-FR" dirty="0"/>
              <a:t>Pour les </a:t>
            </a:r>
            <a:r>
              <a:rPr lang="fr-FR" b="1" dirty="0"/>
              <a:t>médecins</a:t>
            </a:r>
            <a:r>
              <a:rPr lang="fr-FR" dirty="0"/>
              <a:t> et les </a:t>
            </a:r>
            <a:r>
              <a:rPr lang="fr-FR" b="1" dirty="0"/>
              <a:t>assureurs</a:t>
            </a:r>
            <a:r>
              <a:rPr lang="fr-FR" dirty="0"/>
              <a:t>, c’est du temps gagné et des coûts évités.</a:t>
            </a:r>
            <a:br>
              <a:rPr lang="fr-FR" dirty="0"/>
            </a:br>
            <a:r>
              <a:rPr lang="fr-FR" dirty="0"/>
              <a:t>Et pour la </a:t>
            </a:r>
            <a:r>
              <a:rPr lang="fr-FR" b="1" dirty="0"/>
              <a:t>santé publique</a:t>
            </a:r>
            <a:r>
              <a:rPr lang="fr-FR" dirty="0"/>
              <a:t>, c’est un pas concret vers moins de cancers graves demain. 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84231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sz="1400" dirty="0"/>
              <a:t>« Voici un résumé de nos deux sources principales.</a:t>
            </a:r>
            <a:br>
              <a:rPr lang="fr-FR" sz="1400" dirty="0"/>
            </a:br>
            <a:r>
              <a:rPr lang="fr-FR" sz="1400" dirty="0"/>
              <a:t>Le premier </a:t>
            </a:r>
            <a:r>
              <a:rPr lang="fr-FR" sz="1400" dirty="0" err="1"/>
              <a:t>dataset</a:t>
            </a:r>
            <a:r>
              <a:rPr lang="fr-FR" sz="1400" dirty="0"/>
              <a:t>, </a:t>
            </a:r>
            <a:r>
              <a:rPr lang="fr-FR" sz="1400" i="1" dirty="0"/>
              <a:t>Skin </a:t>
            </a:r>
            <a:r>
              <a:rPr lang="fr-FR" sz="1400" i="1" dirty="0" err="1"/>
              <a:t>Disease</a:t>
            </a:r>
            <a:r>
              <a:rPr lang="fr-FR" sz="1400" i="1" dirty="0"/>
              <a:t> 3300</a:t>
            </a:r>
            <a:r>
              <a:rPr lang="fr-FR" sz="1400" dirty="0"/>
              <a:t>, contient environ 3 300 images, équilibrées entre bénin et malin : il est adapté pour travailler sur un diagnostic binaire.</a:t>
            </a:r>
            <a:br>
              <a:rPr lang="fr-FR" sz="1400" dirty="0"/>
            </a:br>
            <a:r>
              <a:rPr lang="fr-FR" sz="1400" dirty="0"/>
              <a:t>Le second, </a:t>
            </a:r>
            <a:r>
              <a:rPr lang="fr-FR" sz="1400" i="1" dirty="0"/>
              <a:t>HAM10000</a:t>
            </a:r>
            <a:r>
              <a:rPr lang="fr-FR" sz="1400" dirty="0"/>
              <a:t>, est beaucoup plus riche avec 10 000 images réparties en 7 classes, dont 3 malignes. C’est un </a:t>
            </a:r>
            <a:r>
              <a:rPr lang="fr-FR" sz="1400" dirty="0" err="1"/>
              <a:t>dataset</a:t>
            </a:r>
            <a:r>
              <a:rPr lang="fr-FR" sz="1400" dirty="0"/>
              <a:t> de référence en recherche, et il inclut aussi des métadonnées comme l’âge, le sexe et la localisation de la lésion. 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1585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fr-FR" sz="2400" dirty="0"/>
              <a:t>Nos données posent plusieurs défis majeurs.</a:t>
            </a:r>
            <a:br>
              <a:rPr lang="fr-FR" sz="2400" dirty="0"/>
            </a:br>
            <a:r>
              <a:rPr lang="fr-FR" sz="2400" dirty="0"/>
              <a:t>D’abord, un </a:t>
            </a:r>
            <a:r>
              <a:rPr lang="fr-FR" sz="2400" b="1" dirty="0"/>
              <a:t>déséquilibre de classes</a:t>
            </a:r>
            <a:r>
              <a:rPr lang="fr-FR" sz="2400" dirty="0"/>
              <a:t> : les lésions bénignes sont largement sur-représentées, ce qui peut biaiser l’apprentissage.</a:t>
            </a:r>
            <a:br>
              <a:rPr lang="fr-FR" sz="2400" dirty="0"/>
            </a:br>
            <a:r>
              <a:rPr lang="fr-FR" sz="2400" dirty="0"/>
              <a:t>Ensuite, une </a:t>
            </a:r>
            <a:r>
              <a:rPr lang="fr-FR" sz="2400" b="1" dirty="0"/>
              <a:t>diversité limitée</a:t>
            </a:r>
            <a:r>
              <a:rPr lang="fr-FR" sz="2400" dirty="0"/>
              <a:t> : la majorité des images concernent des peaux claires, ce qui rend le modèle </a:t>
            </a:r>
            <a:r>
              <a:rPr lang="fr-FR" sz="2400" b="1" dirty="0"/>
              <a:t>moins performant et parfois moins pertinent</a:t>
            </a:r>
            <a:r>
              <a:rPr lang="fr-FR" sz="2400" dirty="0"/>
              <a:t> pour d’autres phototypes.</a:t>
            </a:r>
            <a:br>
              <a:rPr lang="fr-FR" sz="2400" dirty="0"/>
            </a:br>
            <a:r>
              <a:rPr lang="fr-FR" sz="2400" dirty="0"/>
              <a:t>S’ajoute la </a:t>
            </a:r>
            <a:r>
              <a:rPr lang="fr-FR" sz="2400" b="1" dirty="0"/>
              <a:t>qualité hétérogène</a:t>
            </a:r>
            <a:r>
              <a:rPr lang="fr-FR" sz="2400" dirty="0"/>
              <a:t> des images, avec des variations d’angles, d’éclairage ou de résolution.</a:t>
            </a:r>
            <a:br>
              <a:rPr lang="fr-FR" sz="2400" dirty="0"/>
            </a:br>
            <a:r>
              <a:rPr lang="fr-FR" sz="2400" dirty="0"/>
              <a:t>Et enfin, le respect du </a:t>
            </a:r>
            <a:r>
              <a:rPr lang="fr-FR" sz="2400" b="1" dirty="0"/>
              <a:t>RGPD</a:t>
            </a:r>
            <a:r>
              <a:rPr lang="fr-FR" sz="2400" dirty="0"/>
              <a:t>, car les métadonnées utilisées — âge, sexe, localisation — sont sensibles et nécessitent anonymisation et sécurisation. »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99376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6175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8132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05257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0617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3b886e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3b886ea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2525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7ed9f117a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7ed9f117a_2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jp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3.jp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jp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22.jpg"/><Relationship Id="rId7" Type="http://schemas.openxmlformats.org/officeDocument/2006/relationships/hyperlink" Target="https://appgetaround-6amwbwuwjmuns5pyhlhwhc.streamlit.app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hyperlink" Target="https://ggwash.org/view/76511/after-getting-ratiod-brandon-todd-clarifies-hes-not-against-all-car-sharing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nc/3.0/" TargetMode="External"/><Relationship Id="rId3" Type="http://schemas.openxmlformats.org/officeDocument/2006/relationships/image" Target="../media/image22.jpg"/><Relationship Id="rId7" Type="http://schemas.openxmlformats.org/officeDocument/2006/relationships/hyperlink" Target="https://loicv17-fastapi-getaround.hf.space/doc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2.png"/><Relationship Id="rId4" Type="http://schemas.openxmlformats.org/officeDocument/2006/relationships/hyperlink" Target="https://ggwash.org/view/76511/after-getting-ratiod-brandon-todd-clarifies-hes-not-against-all-car-sharing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735474" y="2062825"/>
            <a:ext cx="8012525" cy="61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BLOC 6 – Gestion Projet DATA</a:t>
            </a:r>
            <a:br>
              <a:rPr lang="fr" sz="32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</a:br>
            <a:r>
              <a:rPr lang="fr" sz="3200" i="1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Skincare project</a:t>
            </a:r>
            <a:endParaRPr sz="3200" i="1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202664" y="4356125"/>
            <a:ext cx="5315100" cy="53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 dirty="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CDSD - Loic Valentini – Août 2025</a:t>
            </a:r>
            <a:endParaRPr sz="1800" dirty="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921B91B-F36A-9DD0-A880-2FD685970CF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</a:t>
            </a:fld>
            <a:endParaRPr lang="fr-FR"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67248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Objectifs pédagogiques du projet 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27187" y="993725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Traduire les enjeux métiers en problématiques data &amp; mathématiques adaptées.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Maîtriser les technologies récentes via veille et pratique pour proposer les meilleures solutions.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Piloter un projet data : cahier des charges, budget, rétroplanning, suivi &amp; bilan.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Garantir conformité &amp; impact : indicateurs, tableaux de bord, respect du RGPD.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Communiquer &amp; vulgariser les résultats pour orienter la stratégie et accompagner les métiers.</a:t>
            </a:r>
            <a:br>
              <a:rPr lang="fr-FR" sz="800" dirty="0"/>
            </a:br>
            <a:br>
              <a:rPr lang="fr-FR" sz="800" dirty="0"/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45031"/>
            <a:ext cx="9144000" cy="39839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72;p15">
            <a:extLst>
              <a:ext uri="{FF2B5EF4-FFF2-40B4-BE49-F238E27FC236}">
                <a16:creationId xmlns:a16="http://schemas.microsoft.com/office/drawing/2014/main" id="{9B66071D-AD28-9136-454D-9B33ECE99FA8}"/>
              </a:ext>
            </a:extLst>
          </p:cNvPr>
          <p:cNvSpPr/>
          <p:nvPr/>
        </p:nvSpPr>
        <p:spPr>
          <a:xfrm rot="21244006">
            <a:off x="557603" y="118693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2" y="2263971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2;p15">
            <a:extLst>
              <a:ext uri="{FF2B5EF4-FFF2-40B4-BE49-F238E27FC236}">
                <a16:creationId xmlns:a16="http://schemas.microsoft.com/office/drawing/2014/main" id="{B1894868-8F62-D5B9-ADF5-75C6F5190CCF}"/>
              </a:ext>
            </a:extLst>
          </p:cNvPr>
          <p:cNvSpPr/>
          <p:nvPr/>
        </p:nvSpPr>
        <p:spPr>
          <a:xfrm rot="21244006">
            <a:off x="557603" y="3103482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37854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2</a:t>
            </a:fld>
            <a:endParaRPr lang="fr-FR" sz="1600" b="1" dirty="0"/>
          </a:p>
        </p:txBody>
      </p:sp>
      <p:pic>
        <p:nvPicPr>
          <p:cNvPr id="6" name="Image 5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4089C729-03A6-E706-1BA8-03194511F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  <p:sp>
        <p:nvSpPr>
          <p:cNvPr id="7" name="Google Shape;72;p15">
            <a:extLst>
              <a:ext uri="{FF2B5EF4-FFF2-40B4-BE49-F238E27FC236}">
                <a16:creationId xmlns:a16="http://schemas.microsoft.com/office/drawing/2014/main" id="{87614205-3139-8425-A378-75E743DA7626}"/>
              </a:ext>
            </a:extLst>
          </p:cNvPr>
          <p:cNvSpPr/>
          <p:nvPr/>
        </p:nvSpPr>
        <p:spPr>
          <a:xfrm rot="21244006">
            <a:off x="557603" y="162472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C53DE26A-B3A8-0981-7F23-9E4A54C20E59}"/>
              </a:ext>
            </a:extLst>
          </p:cNvPr>
          <p:cNvSpPr/>
          <p:nvPr/>
        </p:nvSpPr>
        <p:spPr>
          <a:xfrm rot="21244006">
            <a:off x="566303" y="266725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>
            <a:extLst>
              <a:ext uri="{FF2B5EF4-FFF2-40B4-BE49-F238E27FC236}">
                <a16:creationId xmlns:a16="http://schemas.microsoft.com/office/drawing/2014/main" id="{3DE72ED5-C0DC-083A-6783-F1079B3783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388" y="-693406"/>
            <a:ext cx="11149434" cy="74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346" y="5246416"/>
            <a:ext cx="2239700" cy="1493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09454" y="1235681"/>
            <a:ext cx="8137354" cy="64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400" dirty="0">
                <a:latin typeface="Inter Medium" panose="020B0604020202020204" charset="0"/>
                <a:ea typeface="Inter Medium" panose="020B0604020202020204" charset="0"/>
              </a:rPr>
              <a:t>Derrière une simple tâche peut se cacher un cancer.</a:t>
            </a:r>
            <a:br>
              <a:rPr lang="fr-FR" sz="2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2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/>
            </a:br>
            <a:br>
              <a:rPr lang="en-US" sz="2400" b="1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en-US" sz="2400" b="1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en-US" sz="2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en-US" sz="2400" i="1" dirty="0">
                <a:latin typeface="Inter Medium" panose="020B0604020202020204" charset="0"/>
                <a:ea typeface="Inter Medium" panose="020B0604020202020204" charset="0"/>
              </a:rPr>
              <a:t>« If detected early, the five-year survival rate for melanoma is 99 %. »</a:t>
            </a:r>
            <a:r>
              <a:rPr lang="en-US" sz="2400" dirty="0">
                <a:latin typeface="Inter Medium" panose="020B0604020202020204" charset="0"/>
                <a:ea typeface="Inter Medium" panose="020B0604020202020204" charset="0"/>
              </a:rPr>
              <a:t> — Dr. Jones, AMA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3</a:t>
            </a:fld>
            <a:endParaRPr lang="fr-FR" sz="1600" b="1" dirty="0"/>
          </a:p>
        </p:txBody>
      </p:sp>
      <p:pic>
        <p:nvPicPr>
          <p:cNvPr id="5122" name="Picture 2" descr="Melanoma: Causes and Treatments | Skin Marceau Clinic | Paris">
            <a:extLst>
              <a:ext uri="{FF2B5EF4-FFF2-40B4-BE49-F238E27FC236}">
                <a16:creationId xmlns:a16="http://schemas.microsoft.com/office/drawing/2014/main" id="{D963800C-5B65-D19C-2A72-F9143C2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360" y="1934858"/>
            <a:ext cx="1391861" cy="11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Nevus - Dermatology - Medbullets Step 1">
            <a:extLst>
              <a:ext uri="{FF2B5EF4-FFF2-40B4-BE49-F238E27FC236}">
                <a16:creationId xmlns:a16="http://schemas.microsoft.com/office/drawing/2014/main" id="{9B0A4AD3-53D1-4038-64B5-F12603D6D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225" y="1934858"/>
            <a:ext cx="2011601" cy="11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2CA89CC9-CBD0-9E62-F527-774120B7D1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107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388" y="-693406"/>
            <a:ext cx="11149434" cy="74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26400" y="1116150"/>
            <a:ext cx="7846058" cy="64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dirty="0"/>
              <a:t>📊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Chiffres clés</a:t>
            </a:r>
            <a:r>
              <a:rPr lang="fr-FR" sz="1400" dirty="0"/>
              <a:t>📊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b="1" u="sng" dirty="0">
                <a:latin typeface="Inter Medium" panose="020B0604020202020204" charset="0"/>
                <a:ea typeface="Inter Medium" panose="020B0604020202020204" charset="0"/>
              </a:rPr>
              <a:t>France (2022)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: 80 000 nouveaux cas de cancer de la peau sur l’année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b="1" u="sng" dirty="0">
                <a:latin typeface="Inter Medium" panose="020B0604020202020204" charset="0"/>
                <a:ea typeface="Inter Medium" panose="020B0604020202020204" charset="0"/>
              </a:rPr>
              <a:t>Europe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: 1 cancer sur 3 est un cancer de la peau -&gt; +40% incidence (nouveaux cas) et +50% mortalité attendus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b="1" u="sng" dirty="0">
                <a:latin typeface="Inter Medium" panose="020B0604020202020204" charset="0"/>
                <a:ea typeface="Inter Medium" panose="020B0604020202020204" charset="0"/>
              </a:rPr>
              <a:t>Monde (2022) 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: 330 000 nouveaux cas de mélanome et 60 000 décès sur l’année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/>
              <a:t>🩺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Accès aux diagnostics </a:t>
            </a:r>
            <a:r>
              <a:rPr lang="fr-FR" sz="1400" dirty="0"/>
              <a:t>🩺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En France, les délais pour obtenir un rendez-vous chez un dermatologue se comptent souvent en plusieurs mois, retardant ainsi le diagnostic précoce.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Cette difficulté d’accès est également constatée à l’échelle européenne, et se révèle encore plus marquée dans de nombreux pays à travers le monde.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6943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Quelques clés de compréhension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4</a:t>
            </a:fld>
            <a:endParaRPr lang="fr-FR" sz="1600" b="1" dirty="0"/>
          </a:p>
        </p:txBody>
      </p:sp>
      <p:pic>
        <p:nvPicPr>
          <p:cNvPr id="2" name="Image 1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DA75DF02-C964-295B-6CC0-5BC3BC054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91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388" y="-693406"/>
            <a:ext cx="11149434" cy="74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26400" y="1116150"/>
            <a:ext cx="7846058" cy="64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✨ </a:t>
            </a: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Notre mission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✨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Offrir un outil en ligne simple et accessible, capable d’évaluer de manière fiable la criticité d’une lésion cutanée (tache, grain de beauté…), afin de favoriser un </a:t>
            </a:r>
            <a:r>
              <a:rPr lang="fr-FR" sz="1200" dirty="0" err="1">
                <a:latin typeface="Inter Medium" panose="020B0604020202020204" charset="0"/>
                <a:ea typeface="Inter Medium" panose="020B0604020202020204" charset="0"/>
              </a:rPr>
              <a:t>auto-diagnostic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précoce et d’accompagner chacun dans la prévention des cancers de la peau.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C’est dans cette perspective qu’est né le projet </a:t>
            </a:r>
            <a:r>
              <a:rPr lang="fr-FR" sz="1200" b="1" dirty="0" err="1">
                <a:latin typeface="Inter Medium" panose="020B0604020202020204" charset="0"/>
                <a:ea typeface="Inter Medium" panose="020B0604020202020204" charset="0"/>
              </a:rPr>
              <a:t>Skincare</a:t>
            </a: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.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6943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Groupe de travail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Skincare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5</a:t>
            </a:fld>
            <a:endParaRPr lang="fr-FR" sz="1600" b="1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0DFD706-87CD-845E-387F-047729E86BB7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1947025" y="1094039"/>
            <a:ext cx="5270400" cy="1620973"/>
          </a:xfrm>
          <a:prstGeom prst="rect">
            <a:avLst/>
          </a:prstGeom>
        </p:spPr>
      </p:pic>
      <p:pic>
        <p:nvPicPr>
          <p:cNvPr id="10" name="Image 9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FB8D0638-CA05-2722-9505-52DFC94CA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0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388" y="-693406"/>
            <a:ext cx="11149434" cy="74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26400" y="1116150"/>
            <a:ext cx="7846058" cy="64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600" dirty="0"/>
              <a:t>🩺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Besoin médical</a:t>
            </a:r>
            <a:r>
              <a:rPr lang="fr-FR" sz="1600" dirty="0"/>
              <a:t> 🩺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Diagnostic précoce des lésions cutanées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Réduction de la mortalité liée au mélanome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Faciliter l’accès aux soins malgré les délais dermatologiques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600" dirty="0"/>
              <a:t>🌐</a:t>
            </a:r>
            <a:r>
              <a:rPr lang="fr-FR" sz="1600" dirty="0">
                <a:latin typeface="Inter Medium" panose="020B0604020202020204" charset="0"/>
                <a:ea typeface="Inter Medium" panose="020B0604020202020204" charset="0"/>
              </a:rPr>
              <a:t> </a:t>
            </a:r>
            <a:r>
              <a:rPr lang="fr-FR" sz="1600" b="1" dirty="0">
                <a:latin typeface="Inter Medium" panose="020B0604020202020204" charset="0"/>
                <a:ea typeface="Inter Medium" panose="020B0604020202020204" charset="0"/>
              </a:rPr>
              <a:t>Enjeux business</a:t>
            </a:r>
            <a:r>
              <a:rPr lang="fr-FR" sz="1600" dirty="0"/>
              <a:t> 🌐 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/>
              <a:t>Croissance du marché des solutions digitales de santé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/>
              <a:t>Place clé de l’IA dans la prévention et l’aide au diagnostic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/>
              <a:t>Différenciation par l’innovation et la confiance utilisateur</a:t>
            </a: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6943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Besoin médical et opportunité e-santé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6</a:t>
            </a:fld>
            <a:endParaRPr lang="fr-FR" sz="1600" b="1" dirty="0"/>
          </a:p>
        </p:txBody>
      </p:sp>
      <p:pic>
        <p:nvPicPr>
          <p:cNvPr id="10" name="Image 9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FB8D0638-CA05-2722-9505-52DFC94CA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3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5215" y="3149858"/>
            <a:ext cx="3273135" cy="2182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970203" y="-30472"/>
            <a:ext cx="2059919" cy="1663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200" dirty="0">
                <a:latin typeface="Inter Medium" panose="020B0604020202020204" charset="0"/>
                <a:ea typeface="Inter Medium" panose="020B0604020202020204" charset="0"/>
              </a:rPr>
              <a:t>                  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6943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Les bénéfices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7</a:t>
            </a:fld>
            <a:endParaRPr lang="fr-FR" sz="1600" b="1" dirty="0"/>
          </a:p>
        </p:txBody>
      </p:sp>
      <p:pic>
        <p:nvPicPr>
          <p:cNvPr id="10" name="Image 9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FB8D0638-CA05-2722-9505-52DFC94CA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  <p:pic>
        <p:nvPicPr>
          <p:cNvPr id="3074" name="Picture 2" descr="Patient - Icônes soins de santé et médical gratuites">
            <a:extLst>
              <a:ext uri="{FF2B5EF4-FFF2-40B4-BE49-F238E27FC236}">
                <a16:creationId xmlns:a16="http://schemas.microsoft.com/office/drawing/2014/main" id="{D1B8EBB6-FF11-FDE3-0284-A1BB98084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15" y="1549189"/>
            <a:ext cx="1765240" cy="176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Médecin - Icônes utilisateur gratuites">
            <a:extLst>
              <a:ext uri="{FF2B5EF4-FFF2-40B4-BE49-F238E27FC236}">
                <a16:creationId xmlns:a16="http://schemas.microsoft.com/office/drawing/2014/main" id="{23949575-913B-3DD2-14DA-C03ACEDEF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2385" y="1549189"/>
            <a:ext cx="1765240" cy="176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assurance-maladie-logo-png - Science Accueil">
            <a:extLst>
              <a:ext uri="{FF2B5EF4-FFF2-40B4-BE49-F238E27FC236}">
                <a16:creationId xmlns:a16="http://schemas.microsoft.com/office/drawing/2014/main" id="{310FD8B2-2991-FCC3-CE15-ED4110008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5802" y="1845484"/>
            <a:ext cx="2684401" cy="122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>
            <a:extLst>
              <a:ext uri="{FF2B5EF4-FFF2-40B4-BE49-F238E27FC236}">
                <a16:creationId xmlns:a16="http://schemas.microsoft.com/office/drawing/2014/main" id="{62A9E3ED-1A5C-A0D3-3062-B2DDF1509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8364" y="2045787"/>
            <a:ext cx="1863595" cy="1051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2875E478-A34E-8248-B641-44C659C18C5E}"/>
              </a:ext>
            </a:extLst>
          </p:cNvPr>
          <p:cNvSpPr txBox="1"/>
          <p:nvPr/>
        </p:nvSpPr>
        <p:spPr>
          <a:xfrm>
            <a:off x="10225" y="3574309"/>
            <a:ext cx="91337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Pour les patients, les médecins, les assureurs, la santé publique…</a:t>
            </a:r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975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388" y="-693406"/>
            <a:ext cx="11149434" cy="74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26400" y="1116150"/>
            <a:ext cx="7846058" cy="64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6943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Présentation des jeux de données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8</a:t>
            </a:fld>
            <a:endParaRPr lang="fr-FR" sz="1600" b="1" dirty="0"/>
          </a:p>
        </p:txBody>
      </p:sp>
      <p:pic>
        <p:nvPicPr>
          <p:cNvPr id="10" name="Image 9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FB8D0638-CA05-2722-9505-52DFC94CA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E7646C9E-376A-9FD4-844A-2538BD04F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77518"/>
              </p:ext>
            </p:extLst>
          </p:nvPr>
        </p:nvGraphicFramePr>
        <p:xfrm>
          <a:off x="696900" y="1444194"/>
          <a:ext cx="8211710" cy="2752157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642342">
                  <a:extLst>
                    <a:ext uri="{9D8B030D-6E8A-4147-A177-3AD203B41FA5}">
                      <a16:colId xmlns:a16="http://schemas.microsoft.com/office/drawing/2014/main" val="2728707286"/>
                    </a:ext>
                  </a:extLst>
                </a:gridCol>
                <a:gridCol w="1159348">
                  <a:extLst>
                    <a:ext uri="{9D8B030D-6E8A-4147-A177-3AD203B41FA5}">
                      <a16:colId xmlns:a16="http://schemas.microsoft.com/office/drawing/2014/main" val="2271772352"/>
                    </a:ext>
                  </a:extLst>
                </a:gridCol>
                <a:gridCol w="1472441">
                  <a:extLst>
                    <a:ext uri="{9D8B030D-6E8A-4147-A177-3AD203B41FA5}">
                      <a16:colId xmlns:a16="http://schemas.microsoft.com/office/drawing/2014/main" val="852051412"/>
                    </a:ext>
                  </a:extLst>
                </a:gridCol>
                <a:gridCol w="2407543">
                  <a:extLst>
                    <a:ext uri="{9D8B030D-6E8A-4147-A177-3AD203B41FA5}">
                      <a16:colId xmlns:a16="http://schemas.microsoft.com/office/drawing/2014/main" val="2958294951"/>
                    </a:ext>
                  </a:extLst>
                </a:gridCol>
                <a:gridCol w="1530036">
                  <a:extLst>
                    <a:ext uri="{9D8B030D-6E8A-4147-A177-3AD203B41FA5}">
                      <a16:colId xmlns:a16="http://schemas.microsoft.com/office/drawing/2014/main" val="3365263221"/>
                    </a:ext>
                  </a:extLst>
                </a:gridCol>
              </a:tblGrid>
              <a:tr h="438927">
                <a:tc>
                  <a:txBody>
                    <a:bodyPr/>
                    <a:lstStyle/>
                    <a:p>
                      <a:pPr algn="ctr"/>
                      <a:r>
                        <a:rPr lang="fr-FR" sz="1800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Dataset</a:t>
                      </a:r>
                      <a:endParaRPr lang="fr-FR" sz="1800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Nb images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Classes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Particularités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800" dirty="0">
                          <a:latin typeface="Inter Medium" panose="020B0604020202020204" charset="0"/>
                          <a:ea typeface="Inter Medium" panose="020B0604020202020204" charset="0"/>
                        </a:rPr>
                        <a:t>Exemple visuel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333947"/>
                  </a:ext>
                </a:extLst>
              </a:tr>
              <a:tr h="1068309">
                <a:tc>
                  <a:txBody>
                    <a:bodyPr/>
                    <a:lstStyle/>
                    <a:p>
                      <a:pPr algn="ctr"/>
                      <a:r>
                        <a:rPr lang="fr-FR" b="1" u="sng" dirty="0">
                          <a:latin typeface="Inter Medium" panose="020B0604020202020204" charset="0"/>
                          <a:ea typeface="Inter Medium" panose="020B0604020202020204" charset="0"/>
                        </a:rPr>
                        <a:t>Skin </a:t>
                      </a:r>
                      <a:r>
                        <a:rPr lang="fr-FR" b="1" u="sng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Disease</a:t>
                      </a:r>
                      <a:endParaRPr lang="fr-FR" b="1" u="sng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~3 300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2</a:t>
                      </a:r>
                    </a:p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 (Bénin/Malin)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Dataset</a:t>
                      </a:r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 équilibré, utile pour entraînement binaire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05333"/>
                  </a:ext>
                </a:extLst>
              </a:tr>
              <a:tr h="1043768">
                <a:tc>
                  <a:txBody>
                    <a:bodyPr/>
                    <a:lstStyle/>
                    <a:p>
                      <a:pPr algn="ctr"/>
                      <a:r>
                        <a:rPr lang="fr-FR" b="1" u="sng" dirty="0">
                          <a:latin typeface="Inter Medium" panose="020B0604020202020204" charset="0"/>
                          <a:ea typeface="Inter Medium" panose="020B0604020202020204" charset="0"/>
                        </a:rPr>
                        <a:t>HAM10000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10 000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7 </a:t>
                      </a:r>
                    </a:p>
                    <a:p>
                      <a:pPr algn="ctr"/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(3 malignes, 4 bénignes)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>
                          <a:latin typeface="Inter Medium" panose="020B0604020202020204" charset="0"/>
                          <a:ea typeface="Inter Medium" panose="020B0604020202020204" charset="0"/>
                        </a:rPr>
                        <a:t>Dataset</a:t>
                      </a:r>
                      <a:r>
                        <a:rPr lang="fr-FR" dirty="0">
                          <a:latin typeface="Inter Medium" panose="020B0604020202020204" charset="0"/>
                          <a:ea typeface="Inter Medium" panose="020B0604020202020204" charset="0"/>
                        </a:rPr>
                        <a:t> de référence avec métadonnées (âge, sexe, localisation)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dirty="0"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2226961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A4C06B30-2850-530A-2DBA-F042DDBDA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2676" y="3212169"/>
            <a:ext cx="1144132" cy="858099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205DF12-F95F-52FA-EE6F-C39AA5C4FE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7702" y="2152007"/>
            <a:ext cx="934079" cy="93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7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72BE2073-896C-7C10-7036-B0879237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68388" y="-693406"/>
            <a:ext cx="11149434" cy="743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626400" y="1116150"/>
            <a:ext cx="7846058" cy="6425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2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6943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Défis liés aux données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9</a:t>
            </a:fld>
            <a:endParaRPr lang="fr-FR" sz="1600" b="1" dirty="0"/>
          </a:p>
        </p:txBody>
      </p:sp>
      <p:pic>
        <p:nvPicPr>
          <p:cNvPr id="10" name="Image 9" descr="Une image contenant clipart, Graphique, logo, texte&#10;&#10;Le contenu généré par l’IA peut être incorrect.">
            <a:extLst>
              <a:ext uri="{FF2B5EF4-FFF2-40B4-BE49-F238E27FC236}">
                <a16:creationId xmlns:a16="http://schemas.microsoft.com/office/drawing/2014/main" id="{FB8D0638-CA05-2722-9505-52DFC94CA3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05" y="4590895"/>
            <a:ext cx="548700" cy="540559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4E0055B7-74C0-226A-D966-501A7C29B163}"/>
              </a:ext>
            </a:extLst>
          </p:cNvPr>
          <p:cNvSpPr txBox="1"/>
          <p:nvPr/>
        </p:nvSpPr>
        <p:spPr>
          <a:xfrm>
            <a:off x="544795" y="1711280"/>
            <a:ext cx="79728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Déséquilibre de classes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→ classes bénignes sur-représentées, biais de prédiction.</a:t>
            </a:r>
          </a:p>
          <a:p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Diversité limitée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→ manque de phototypes foncés, enjeu d’équité et modèle moins performant et pertinent pour de nombreux patients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Qualité hétérogène des images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→ angles, résolutions, conditions de prise de vue.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Protection des données (RGPD)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→ gestion des métadonnées sensibles (âge, sexe, localisation), nécessité d’anonymisation et de sécurisation.</a:t>
            </a:r>
          </a:p>
        </p:txBody>
      </p:sp>
    </p:spTree>
    <p:extLst>
      <p:ext uri="{BB962C8B-B14F-4D97-AF65-F5344CB8AC3E}">
        <p14:creationId xmlns:p14="http://schemas.microsoft.com/office/powerpoint/2010/main" val="2993182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Graphique, graphisme, violette, Magenta&#10;&#10;Le contenu généré par l’IA peut être incorrect.">
            <a:extLst>
              <a:ext uri="{FF2B5EF4-FFF2-40B4-BE49-F238E27FC236}">
                <a16:creationId xmlns:a16="http://schemas.microsoft.com/office/drawing/2014/main" id="{D39B645F-206A-310E-AB53-E3CD03FD49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08000" y="-285750"/>
            <a:ext cx="16291505" cy="5430501"/>
          </a:xfrm>
          <a:prstGeom prst="rect">
            <a:avLst/>
          </a:prstGeom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retards aux prédictions : une approche data-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driven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897364" y="1202551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Objectifs business du projet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Réduire les retards de restitution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Optimiser les prix de location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Proposer un outil de visualisation et une API de prédiction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Approche technique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Analyse exploratoire (EDA)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Dashboard interactif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Modèle Machine Learning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	API déployée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66300" y="1399087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2;p15">
            <a:extLst>
              <a:ext uri="{FF2B5EF4-FFF2-40B4-BE49-F238E27FC236}">
                <a16:creationId xmlns:a16="http://schemas.microsoft.com/office/drawing/2014/main" id="{081DBEE9-5635-AACD-58A1-43551D1D74EC}"/>
              </a:ext>
            </a:extLst>
          </p:cNvPr>
          <p:cNvSpPr/>
          <p:nvPr/>
        </p:nvSpPr>
        <p:spPr>
          <a:xfrm rot="21244006">
            <a:off x="566302" y="268180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10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6720CED-5E56-44C9-70BA-EEA1AA87D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Getaround">
            <a:extLst>
              <a:ext uri="{FF2B5EF4-FFF2-40B4-BE49-F238E27FC236}">
                <a16:creationId xmlns:a16="http://schemas.microsoft.com/office/drawing/2014/main" id="{560CE0CB-89F3-FB6F-1343-6EFC2D903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1548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409395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Architecture technique (résumé)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11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6720CED-5E56-44C9-70BA-EEA1AA87D9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4" descr="Getaround">
            <a:extLst>
              <a:ext uri="{FF2B5EF4-FFF2-40B4-BE49-F238E27FC236}">
                <a16:creationId xmlns:a16="http://schemas.microsoft.com/office/drawing/2014/main" id="{560CE0CB-89F3-FB6F-1343-6EFC2D903D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4098" name="Picture 2" descr="Dataset Icons - Free SVG &amp; PNG Dataset Images - Noun Project">
            <a:extLst>
              <a:ext uri="{FF2B5EF4-FFF2-40B4-BE49-F238E27FC236}">
                <a16:creationId xmlns:a16="http://schemas.microsoft.com/office/drawing/2014/main" id="{5EDD2BE1-B463-0A9D-B96E-01655B1E3E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327" y="893067"/>
            <a:ext cx="1360539" cy="1360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cteur droit avec flèche 5">
            <a:extLst>
              <a:ext uri="{FF2B5EF4-FFF2-40B4-BE49-F238E27FC236}">
                <a16:creationId xmlns:a16="http://schemas.microsoft.com/office/drawing/2014/main" id="{3FCEB584-81A0-9339-4259-2D02FB4AEFFF}"/>
              </a:ext>
            </a:extLst>
          </p:cNvPr>
          <p:cNvCxnSpPr>
            <a:cxnSpLocks/>
          </p:cNvCxnSpPr>
          <p:nvPr/>
        </p:nvCxnSpPr>
        <p:spPr>
          <a:xfrm flipH="1">
            <a:off x="2259980" y="1573336"/>
            <a:ext cx="1573347" cy="10796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9F9A5A42-C9F6-2E4F-1E45-DC7F24D9318E}"/>
              </a:ext>
            </a:extLst>
          </p:cNvPr>
          <p:cNvCxnSpPr>
            <a:cxnSpLocks/>
            <a:stCxn id="4098" idx="3"/>
          </p:cNvCxnSpPr>
          <p:nvPr/>
        </p:nvCxnSpPr>
        <p:spPr>
          <a:xfrm>
            <a:off x="5193866" y="1573337"/>
            <a:ext cx="1573347" cy="1058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C81B4D31-C80C-D563-8712-0C22460F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170060"/>
              </p:ext>
            </p:extLst>
          </p:nvPr>
        </p:nvGraphicFramePr>
        <p:xfrm>
          <a:off x="0" y="2753040"/>
          <a:ext cx="9133776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66888">
                  <a:extLst>
                    <a:ext uri="{9D8B030D-6E8A-4147-A177-3AD203B41FA5}">
                      <a16:colId xmlns:a16="http://schemas.microsoft.com/office/drawing/2014/main" val="4161308037"/>
                    </a:ext>
                  </a:extLst>
                </a:gridCol>
                <a:gridCol w="4566888">
                  <a:extLst>
                    <a:ext uri="{9D8B030D-6E8A-4147-A177-3AD203B41FA5}">
                      <a16:colId xmlns:a16="http://schemas.microsoft.com/office/drawing/2014/main" val="375399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Analyse des données</a:t>
                      </a:r>
                      <a:endParaRPr lang="fr-FR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Modèle Machine Learning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954679"/>
                  </a:ext>
                </a:extLst>
              </a:tr>
            </a:tbl>
          </a:graphicData>
        </a:graphic>
      </p:graphicFrame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C09E7914-D220-9AE2-9824-E0BC2B23ACA7}"/>
              </a:ext>
            </a:extLst>
          </p:cNvPr>
          <p:cNvCxnSpPr/>
          <p:nvPr/>
        </p:nvCxnSpPr>
        <p:spPr>
          <a:xfrm>
            <a:off x="2259980" y="3171071"/>
            <a:ext cx="0" cy="466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au 22">
            <a:extLst>
              <a:ext uri="{FF2B5EF4-FFF2-40B4-BE49-F238E27FC236}">
                <a16:creationId xmlns:a16="http://schemas.microsoft.com/office/drawing/2014/main" id="{DAB0DF9B-287E-D132-4962-2D76DEEE7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072400"/>
              </p:ext>
            </p:extLst>
          </p:nvPr>
        </p:nvGraphicFramePr>
        <p:xfrm>
          <a:off x="0" y="3709161"/>
          <a:ext cx="9133776" cy="3708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66888">
                  <a:extLst>
                    <a:ext uri="{9D8B030D-6E8A-4147-A177-3AD203B41FA5}">
                      <a16:colId xmlns:a16="http://schemas.microsoft.com/office/drawing/2014/main" val="4161308037"/>
                    </a:ext>
                  </a:extLst>
                </a:gridCol>
                <a:gridCol w="4566888">
                  <a:extLst>
                    <a:ext uri="{9D8B030D-6E8A-4147-A177-3AD203B41FA5}">
                      <a16:colId xmlns:a16="http://schemas.microsoft.com/office/drawing/2014/main" val="3753990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Déploiement </a:t>
                      </a:r>
                      <a:r>
                        <a:rPr lang="fr-FR" i="0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Streamlit</a:t>
                      </a:r>
                      <a:endParaRPr lang="fr-FR" i="0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0" dirty="0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Déploiement </a:t>
                      </a:r>
                      <a:r>
                        <a:rPr lang="fr-FR" i="0" dirty="0" err="1">
                          <a:solidFill>
                            <a:schemeClr val="tx1"/>
                          </a:solidFill>
                          <a:latin typeface="Inter Medium" panose="020B0604020202020204" charset="0"/>
                          <a:ea typeface="Inter Medium" panose="020B0604020202020204" charset="0"/>
                        </a:rPr>
                        <a:t>FastAPI</a:t>
                      </a:r>
                      <a:endParaRPr lang="fr-FR" i="0" dirty="0">
                        <a:solidFill>
                          <a:schemeClr val="tx1"/>
                        </a:solidFill>
                        <a:latin typeface="Inter Medium" panose="020B0604020202020204" charset="0"/>
                        <a:ea typeface="Inter Medium" panose="020B0604020202020204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954679"/>
                  </a:ext>
                </a:extLst>
              </a:tr>
            </a:tbl>
          </a:graphicData>
        </a:graphic>
      </p:graphicFrame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1FC31ECC-36B6-FAB1-0374-1820B6A42128}"/>
              </a:ext>
            </a:extLst>
          </p:cNvPr>
          <p:cNvCxnSpPr/>
          <p:nvPr/>
        </p:nvCxnSpPr>
        <p:spPr>
          <a:xfrm>
            <a:off x="6778364" y="3188949"/>
            <a:ext cx="0" cy="4661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176F94BB-4635-BE8A-AB21-DF5E60864778}"/>
              </a:ext>
            </a:extLst>
          </p:cNvPr>
          <p:cNvSpPr txBox="1"/>
          <p:nvPr/>
        </p:nvSpPr>
        <p:spPr>
          <a:xfrm>
            <a:off x="3690514" y="2145506"/>
            <a:ext cx="19344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Base de données</a:t>
            </a:r>
          </a:p>
        </p:txBody>
      </p:sp>
      <p:pic>
        <p:nvPicPr>
          <p:cNvPr id="4112" name="Picture 16" descr="L'analyse des données - Icônes référencement et web gratuites">
            <a:extLst>
              <a:ext uri="{FF2B5EF4-FFF2-40B4-BE49-F238E27FC236}">
                <a16:creationId xmlns:a16="http://schemas.microsoft.com/office/drawing/2014/main" id="{8171ED72-2C4A-504A-BBEF-B90AC6798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319" y="2594168"/>
            <a:ext cx="706244" cy="706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>
            <a:extLst>
              <a:ext uri="{FF2B5EF4-FFF2-40B4-BE49-F238E27FC236}">
                <a16:creationId xmlns:a16="http://schemas.microsoft.com/office/drawing/2014/main" id="{46543B0F-4BD4-3A76-A0A3-FD2CF03302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299" y="4006587"/>
            <a:ext cx="989361" cy="578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8" name="Picture 22">
            <a:extLst>
              <a:ext uri="{FF2B5EF4-FFF2-40B4-BE49-F238E27FC236}">
                <a16:creationId xmlns:a16="http://schemas.microsoft.com/office/drawing/2014/main" id="{C30CC03A-0FE1-0F5B-FC75-852A78D3D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8653" y="4155565"/>
            <a:ext cx="1447144" cy="385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22" name="Picture 26" descr="FastAPI">
            <a:extLst>
              <a:ext uri="{FF2B5EF4-FFF2-40B4-BE49-F238E27FC236}">
                <a16:creationId xmlns:a16="http://schemas.microsoft.com/office/drawing/2014/main" id="{0C51A4A7-92A5-8999-FE38-F2A5364D8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792" y="4087697"/>
            <a:ext cx="1447144" cy="522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Image 27" descr="Une image contenant Graphique, graphisme, violette, Magenta&#10;&#10;Le contenu généré par l’IA peut être incorrect.">
            <a:extLst>
              <a:ext uri="{FF2B5EF4-FFF2-40B4-BE49-F238E27FC236}">
                <a16:creationId xmlns:a16="http://schemas.microsoft.com/office/drawing/2014/main" id="{D727E3D7-34E1-F744-9959-EF7C450BA04D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20000"/>
          </a:blip>
          <a:stretch>
            <a:fillRect/>
          </a:stretch>
        </p:blipFill>
        <p:spPr>
          <a:xfrm>
            <a:off x="-108000" y="-285750"/>
            <a:ext cx="16291505" cy="5430501"/>
          </a:xfrm>
          <a:prstGeom prst="rect">
            <a:avLst/>
          </a:prstGeom>
        </p:spPr>
      </p:pic>
      <p:pic>
        <p:nvPicPr>
          <p:cNvPr id="4124" name="Picture 28" descr="Machine learning - Icônes éducation gratuites">
            <a:extLst>
              <a:ext uri="{FF2B5EF4-FFF2-40B4-BE49-F238E27FC236}">
                <a16:creationId xmlns:a16="http://schemas.microsoft.com/office/drawing/2014/main" id="{83B4D7C2-7808-167A-B640-DA54E03B4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752" y="2604390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934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Véhicule terrestre, véhicule, supercar, Conception automobile&#10;&#10;Le contenu généré par l’IA peut être incorrect.">
            <a:extLst>
              <a:ext uri="{FF2B5EF4-FFF2-40B4-BE49-F238E27FC236}">
                <a16:creationId xmlns:a16="http://schemas.microsoft.com/office/drawing/2014/main" id="{C5F16C36-ABBF-1DD7-DFA4-5D28D374D7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94400" y="-1094191"/>
            <a:ext cx="9404400" cy="6265682"/>
          </a:xfrm>
          <a:prstGeom prst="rect">
            <a:avLst/>
          </a:prstGeom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L’application </a:t>
            </a:r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Streamlit</a:t>
            </a:r>
            <a:endParaRPr lang="fr-FR" sz="25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12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52A5A9-CF71-8DC2-8AF4-7BCD6D0B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D1F3C5-A803-8072-975D-8C2F0B98D809}"/>
              </a:ext>
            </a:extLst>
          </p:cNvPr>
          <p:cNvSpPr txBox="1"/>
          <p:nvPr/>
        </p:nvSpPr>
        <p:spPr>
          <a:xfrm>
            <a:off x="762000" y="1034102"/>
            <a:ext cx="8180400" cy="6624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 :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aider les équipes opérationnelles à ajuster les buffers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Fonctionnalités : 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Filtre par check-in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Choix d’un buffer de sécurité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Visualisation des taux : impact global, cas critiques évités, annulations concernées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u="sng" dirty="0">
              <a:solidFill>
                <a:srgbClr val="002060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fr-FR" sz="1400" b="1" u="sng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Outil en ligne : https://appgetaround-6amwbwuwjmuns5pyhlhwhc.streamlit.app/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1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1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Facilite la prise de décision pour les équipes métier pour mesurer les conséquences de l’instauration du « buffer » 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AB1802-1910-E50C-90FE-6C4CA53F971F}"/>
              </a:ext>
            </a:extLst>
          </p:cNvPr>
          <p:cNvSpPr txBox="1"/>
          <p:nvPr/>
        </p:nvSpPr>
        <p:spPr>
          <a:xfrm>
            <a:off x="762000" y="5110162"/>
            <a:ext cx="762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4" tooltip="https://ggwash.org/view/76511/after-getting-ratiod-brandon-todd-clarifies-hes-not-against-all-car-sharing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/3.0/"/>
              </a:rPr>
              <a:t>CC BY-NC</a:t>
            </a:r>
            <a:endParaRPr lang="fr-FR" sz="900"/>
          </a:p>
        </p:txBody>
      </p:sp>
      <p:sp>
        <p:nvSpPr>
          <p:cNvPr id="14" name="Google Shape;72;p15">
            <a:extLst>
              <a:ext uri="{FF2B5EF4-FFF2-40B4-BE49-F238E27FC236}">
                <a16:creationId xmlns:a16="http://schemas.microsoft.com/office/drawing/2014/main" id="{ABC2B65F-F1CF-8826-2F61-39A4EDA0517F}"/>
              </a:ext>
            </a:extLst>
          </p:cNvPr>
          <p:cNvSpPr/>
          <p:nvPr/>
        </p:nvSpPr>
        <p:spPr>
          <a:xfrm rot="21244006">
            <a:off x="499084" y="118308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0B1542B0-7685-54D3-BDF0-813C867A5E9E}"/>
              </a:ext>
            </a:extLst>
          </p:cNvPr>
          <p:cNvSpPr/>
          <p:nvPr/>
        </p:nvSpPr>
        <p:spPr>
          <a:xfrm rot="21244006">
            <a:off x="499084" y="18081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303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Véhicule terrestre, véhicule, supercar, Conception automobile&#10;&#10;Le contenu généré par l’IA peut être incorrect.">
            <a:extLst>
              <a:ext uri="{FF2B5EF4-FFF2-40B4-BE49-F238E27FC236}">
                <a16:creationId xmlns:a16="http://schemas.microsoft.com/office/drawing/2014/main" id="{C5F16C36-ABBF-1DD7-DFA4-5D28D374D7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-194400" y="-1094191"/>
            <a:ext cx="9404400" cy="6265682"/>
          </a:xfrm>
          <a:prstGeom prst="rect">
            <a:avLst/>
          </a:prstGeom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L’API de prédiction des prix</a:t>
            </a: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13</a:t>
            </a:fld>
            <a:endParaRPr lang="fr-FR" sz="1600" b="1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652A5A9-CF71-8DC2-8AF4-7BCD6D0B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9D1F3C5-A803-8072-975D-8C2F0B98D809}"/>
              </a:ext>
            </a:extLst>
          </p:cNvPr>
          <p:cNvSpPr txBox="1"/>
          <p:nvPr/>
        </p:nvSpPr>
        <p:spPr>
          <a:xfrm>
            <a:off x="762000" y="1034102"/>
            <a:ext cx="8180400" cy="6840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Objectif : 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permettre une prédiction automatisée du prix de location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b="1" dirty="0">
                <a:latin typeface="Inter Medium" panose="020B0604020202020204" charset="0"/>
                <a:ea typeface="Inter Medium" panose="020B0604020202020204" charset="0"/>
              </a:rPr>
              <a:t>Fonctionnalités : 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Formulaire d’entrée avec les caractéristiques du véhicule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Prédiction du prix de location via modèle 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XGBoost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(modèles tracé sur 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MLFlow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)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API REST avec document interactive (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Swagger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 UI)</a:t>
            </a:r>
          </a:p>
          <a:p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	Interface accessible via navigateur ou script Python (</a:t>
            </a:r>
            <a:r>
              <a:rPr lang="fr-FR" dirty="0" err="1">
                <a:latin typeface="Inter Medium" panose="020B0604020202020204" charset="0"/>
                <a:ea typeface="Inter Medium" panose="020B0604020202020204" charset="0"/>
              </a:rPr>
              <a:t>requests</a:t>
            </a:r>
            <a:r>
              <a:rPr lang="fr-FR" dirty="0">
                <a:latin typeface="Inter Medium" panose="020B0604020202020204" charset="0"/>
                <a:ea typeface="Inter Medium" panose="020B0604020202020204" charset="0"/>
              </a:rPr>
              <a:t>)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b="1" u="sng" dirty="0">
              <a:solidFill>
                <a:srgbClr val="0097A7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fr-FR" sz="1400" b="1" u="sng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Outil en ligne : </a:t>
            </a:r>
            <a:r>
              <a:rPr lang="fr-FR" b="1" u="sng" dirty="0">
                <a:solidFill>
                  <a:srgbClr val="002060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https://loicv17-fastapi-getaround.hf.space</a:t>
            </a: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05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1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1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sz="1400" dirty="0">
              <a:latin typeface="Inter Medium" panose="020B0604020202020204" charset="0"/>
              <a:ea typeface="Inter Medium" panose="020B0604020202020204" charset="0"/>
            </a:endParaRPr>
          </a:p>
          <a:p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Facilite la prise de décision pour les équipes métier pour mesurer les conséquences de l’instauration du « buffer » </a:t>
            </a:r>
          </a:p>
          <a:p>
            <a:endParaRPr lang="fr-FR" dirty="0">
              <a:latin typeface="Inter Medium" panose="020B0604020202020204" charset="0"/>
              <a:ea typeface="Inter Medium" panose="020B0604020202020204" charset="0"/>
            </a:endParaRPr>
          </a:p>
          <a:p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AB1802-1910-E50C-90FE-6C4CA53F971F}"/>
              </a:ext>
            </a:extLst>
          </p:cNvPr>
          <p:cNvSpPr txBox="1"/>
          <p:nvPr/>
        </p:nvSpPr>
        <p:spPr>
          <a:xfrm>
            <a:off x="762000" y="5110162"/>
            <a:ext cx="762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hlinkClick r:id="rId4" tooltip="https://ggwash.org/view/76511/after-getting-ratiod-brandon-todd-clarifies-hes-not-against-all-car-sharing"/>
              </a:rPr>
              <a:t>Cette photo</a:t>
            </a:r>
            <a:r>
              <a:rPr lang="fr-FR" sz="900"/>
              <a:t> par Auteur inconnu est soumise à la licence </a:t>
            </a:r>
            <a:r>
              <a:rPr lang="fr-FR" sz="900">
                <a:hlinkClick r:id="rId8" tooltip="https://creativecommons.org/licenses/by-nc/3.0/"/>
              </a:rPr>
              <a:t>CC BY-NC</a:t>
            </a:r>
            <a:endParaRPr lang="fr-FR" sz="900"/>
          </a:p>
        </p:txBody>
      </p:sp>
      <p:sp>
        <p:nvSpPr>
          <p:cNvPr id="14" name="Google Shape;72;p15">
            <a:extLst>
              <a:ext uri="{FF2B5EF4-FFF2-40B4-BE49-F238E27FC236}">
                <a16:creationId xmlns:a16="http://schemas.microsoft.com/office/drawing/2014/main" id="{ABC2B65F-F1CF-8826-2F61-39A4EDA0517F}"/>
              </a:ext>
            </a:extLst>
          </p:cNvPr>
          <p:cNvSpPr/>
          <p:nvPr/>
        </p:nvSpPr>
        <p:spPr>
          <a:xfrm rot="21244006">
            <a:off x="499084" y="1183086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72;p15">
            <a:extLst>
              <a:ext uri="{FF2B5EF4-FFF2-40B4-BE49-F238E27FC236}">
                <a16:creationId xmlns:a16="http://schemas.microsoft.com/office/drawing/2014/main" id="{0B1542B0-7685-54D3-BDF0-813C867A5E9E}"/>
              </a:ext>
            </a:extLst>
          </p:cNvPr>
          <p:cNvSpPr/>
          <p:nvPr/>
        </p:nvSpPr>
        <p:spPr>
          <a:xfrm rot="21244006">
            <a:off x="499084" y="1808129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9885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ighlights from Getaround's debut on the New York Stock Exchange">
            <a:extLst>
              <a:ext uri="{FF2B5EF4-FFF2-40B4-BE49-F238E27FC236}">
                <a16:creationId xmlns:a16="http://schemas.microsoft.com/office/drawing/2014/main" id="{2AC6A6CE-0B5B-85C3-4717-6A9C5511C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76224" y="-932141"/>
            <a:ext cx="9544050" cy="6361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8" name="Google Shape;68;p15"/>
          <p:cNvSpPr txBox="1">
            <a:spLocks noGrp="1"/>
          </p:cNvSpPr>
          <p:nvPr>
            <p:ph type="ctrTitle" idx="4294967295"/>
          </p:nvPr>
        </p:nvSpPr>
        <p:spPr>
          <a:xfrm>
            <a:off x="1063063" y="213002"/>
            <a:ext cx="7879337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Synthèse finale et recommandations stratégiques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ctrTitle" idx="4294967295"/>
          </p:nvPr>
        </p:nvSpPr>
        <p:spPr>
          <a:xfrm>
            <a:off x="985351" y="926109"/>
            <a:ext cx="7944236" cy="5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Résultats :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Diminution potentielle des retards grâce au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dashboard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interactif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Modèle ML performant pour la prédiction des prix, intégré à une API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Décision data-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driven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: meilleure compréhension des causes de retard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Solution réutilisable (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Streamlit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FastAPI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,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MLFlow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) facilement intégrable dans les processus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  <a:t>Recommandations :</a:t>
            </a:r>
            <a:b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b="1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Mettre en place un réentraînement régulier du modèle avec des données à jour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Ajouter des données contextuelles (météo, jour/heure, évènements locaux…)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Envisager un déploiement cloud pour industrialiser l’API (GCP, AWS…)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Intégrer l’API directement dans l’interface </a:t>
            </a:r>
            <a:r>
              <a:rPr lang="fr-FR" sz="1400" dirty="0" err="1">
                <a:latin typeface="Inter Medium" panose="020B0604020202020204" charset="0"/>
                <a:ea typeface="Inter Medium" panose="020B0604020202020204" charset="0"/>
              </a:rPr>
              <a:t>Getaround</a:t>
            </a:r>
            <a:r>
              <a:rPr lang="fr-FR" sz="1400" dirty="0">
                <a:latin typeface="Inter Medium" panose="020B0604020202020204" charset="0"/>
                <a:ea typeface="Inter Medium" panose="020B0604020202020204" charset="0"/>
              </a:rPr>
              <a:t> pour un tarif dynamique en live)</a:t>
            </a: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400" dirty="0">
                <a:latin typeface="Inter Medium" panose="020B0604020202020204" charset="0"/>
                <a:ea typeface="Inter Medium" panose="020B0604020202020204" charset="0"/>
              </a:rPr>
            </a:br>
            <a:br>
              <a:rPr lang="fr-FR" sz="1600" dirty="0">
                <a:latin typeface="Inter Medium" panose="020B0604020202020204" charset="0"/>
                <a:ea typeface="Inter Medium" panose="020B0604020202020204" charset="0"/>
              </a:rPr>
            </a:br>
            <a:endParaRPr lang="fr-FR" sz="1600" dirty="0">
              <a:latin typeface="Inter Medium" panose="020B0604020202020204" charset="0"/>
              <a:ea typeface="Inter Medium" panose="020B0604020202020204" charset="0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451" y="2866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>
            <a:off x="10225" y="4757521"/>
            <a:ext cx="9144000" cy="385904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2;p15">
            <a:extLst>
              <a:ext uri="{FF2B5EF4-FFF2-40B4-BE49-F238E27FC236}">
                <a16:creationId xmlns:a16="http://schemas.microsoft.com/office/drawing/2014/main" id="{0A92A33E-5C0D-9471-660D-EEF056D7FEEB}"/>
              </a:ext>
            </a:extLst>
          </p:cNvPr>
          <p:cNvSpPr/>
          <p:nvPr/>
        </p:nvSpPr>
        <p:spPr>
          <a:xfrm rot="21244006">
            <a:off x="576482" y="1132538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B88E95F2-A825-9FD5-45E5-DFEEB6C5DC8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472458" y="4749825"/>
            <a:ext cx="548700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1600" b="1" smtClean="0"/>
              <a:t>14</a:t>
            </a:fld>
            <a:endParaRPr lang="fr-FR" sz="1600" b="1" dirty="0"/>
          </a:p>
        </p:txBody>
      </p:sp>
      <p:sp>
        <p:nvSpPr>
          <p:cNvPr id="6" name="Google Shape;72;p15">
            <a:extLst>
              <a:ext uri="{FF2B5EF4-FFF2-40B4-BE49-F238E27FC236}">
                <a16:creationId xmlns:a16="http://schemas.microsoft.com/office/drawing/2014/main" id="{1EF11A3D-6A8A-4349-517B-5016433973CC}"/>
              </a:ext>
            </a:extLst>
          </p:cNvPr>
          <p:cNvSpPr/>
          <p:nvPr/>
        </p:nvSpPr>
        <p:spPr>
          <a:xfrm rot="21244006">
            <a:off x="566299" y="2796915"/>
            <a:ext cx="261199" cy="46747"/>
          </a:xfrm>
          <a:prstGeom prst="roundRect">
            <a:avLst>
              <a:gd name="adj" fmla="val 50000"/>
            </a:avLst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9D269C6-98B8-334B-185B-62F6AB2BB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081" y="4706580"/>
            <a:ext cx="1699200" cy="463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322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ctrTitle" idx="4294967295"/>
          </p:nvPr>
        </p:nvSpPr>
        <p:spPr>
          <a:xfrm>
            <a:off x="1235600" y="1742168"/>
            <a:ext cx="5315100" cy="6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5600" b="1" dirty="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Merci !</a:t>
            </a:r>
            <a:endParaRPr sz="5600" b="1" dirty="0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3E3B375-4397-CD72-E602-C59A61DC4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15</a:t>
            </a:fld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3593</TotalTime>
  <Words>1757</Words>
  <Application>Microsoft Office PowerPoint</Application>
  <PresentationFormat>Affichage à l'écran (16:9)</PresentationFormat>
  <Paragraphs>138</Paragraphs>
  <Slides>15</Slides>
  <Notes>15</Notes>
  <HiddenSlides>1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Inter Medium</vt:lpstr>
      <vt:lpstr>Inter SemiBold</vt:lpstr>
      <vt:lpstr>Arial</vt:lpstr>
      <vt:lpstr>Inter</vt:lpstr>
      <vt:lpstr>Simple Light</vt:lpstr>
      <vt:lpstr>BLOC 6 – Gestion Projet DATA Skincare project</vt:lpstr>
      <vt:lpstr>Objectifs pédagogiques du projet </vt:lpstr>
      <vt:lpstr>Derrière une simple tâche peut se cacher un cancer.      « If detected early, the five-year survival rate for melanoma is 99 %. » — Dr. Jones, AMA       </vt:lpstr>
      <vt:lpstr>📊 Chiffres clés📊  France (2022) : 80 000 nouveaux cas de cancer de la peau sur l’année  Europe : 1 cancer sur 3 est un cancer de la peau -&gt; +40% incidence (nouveaux cas) et +50% mortalité attendus  Monde (2022) : 330 000 nouveaux cas de mélanome et 60 000 décès sur l’année   🩺 Accès aux diagnostics 🩺   En France, les délais pour obtenir un rendez-vous chez un dermatologue se comptent souvent en plusieurs mois, retardant ainsi le diagnostic précoce.  Cette difficulté d’accès est également constatée à l’échelle européenne, et se révèle encore plus marquée dans de nombreux pays à travers le monde.     </vt:lpstr>
      <vt:lpstr>Groupe de travail Skincare</vt:lpstr>
      <vt:lpstr>🩺 Besoin médical 🩺  Diagnostic précoce des lésions cutanées Réduction de la mortalité liée au mélanome Faciliter l’accès aux soins malgré les délais dermatologiques   🌐 Enjeux business 🌐   Croissance du marché des solutions digitales de santé Place clé de l’IA dans la prévention et l’aide au diagnostic Différenciation par l’innovation et la confiance utilisateur       </vt:lpstr>
      <vt:lpstr>                                  </vt:lpstr>
      <vt:lpstr>       </vt:lpstr>
      <vt:lpstr>       </vt:lpstr>
      <vt:lpstr>Des retards aux prédictions : une approche data-driven</vt:lpstr>
      <vt:lpstr>Architecture technique (résumé)</vt:lpstr>
      <vt:lpstr>L’application Streamlit</vt:lpstr>
      <vt:lpstr>L’API de prédiction des prix</vt:lpstr>
      <vt:lpstr>Synthèse finale et recommandations stratégiques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Loic Valentini</dc:creator>
  <cp:lastModifiedBy>Loic Valentini</cp:lastModifiedBy>
  <cp:revision>12</cp:revision>
  <dcterms:modified xsi:type="dcterms:W3CDTF">2025-08-21T15:23:25Z</dcterms:modified>
</cp:coreProperties>
</file>