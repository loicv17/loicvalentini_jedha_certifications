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8" r:id="rId3"/>
    <p:sldId id="303" r:id="rId4"/>
    <p:sldId id="299" r:id="rId5"/>
    <p:sldId id="295" r:id="rId6"/>
    <p:sldId id="300" r:id="rId7"/>
    <p:sldId id="305" r:id="rId8"/>
    <p:sldId id="309" r:id="rId9"/>
    <p:sldId id="304" r:id="rId10"/>
    <p:sldId id="306" r:id="rId11"/>
    <p:sldId id="307" r:id="rId12"/>
    <p:sldId id="311" r:id="rId13"/>
    <p:sldId id="310" r:id="rId14"/>
    <p:sldId id="262" r:id="rId15"/>
  </p:sldIdLst>
  <p:sldSz cx="9144000" cy="5143500" type="screen16x9"/>
  <p:notesSz cx="6858000" cy="9144000"/>
  <p:embeddedFontLst>
    <p:embeddedFont>
      <p:font typeface="Inter" panose="020B0604020202020204" charset="0"/>
      <p:regular r:id="rId17"/>
      <p:bold r:id="rId18"/>
      <p:italic r:id="rId19"/>
      <p:boldItalic r:id="rId20"/>
    </p:embeddedFont>
    <p:embeddedFont>
      <p:font typeface="Inter Medium" panose="020B0604020202020204" charset="0"/>
      <p:regular r:id="rId21"/>
      <p:bold r:id="rId22"/>
      <p:italic r:id="rId23"/>
      <p:boldItalic r:id="rId24"/>
    </p:embeddedFont>
    <p:embeddedFont>
      <p:font typeface="Inter SemiBold" panose="020B0604020202020204" charset="0"/>
      <p:regular r:id="rId25"/>
      <p:bold r:id="rId26"/>
      <p:italic r:id="rId27"/>
      <p:boldItalic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4C1A8A3-306A-4EB7-A6B1-4F7E0EB9C5D6}" styleName="Style moyen 3 - Accentuation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Style moyen 2 - Accentuation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Style moyen 3 - Accentuation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616DA210-FB5B-4158-B5E0-FEB733F419BA}" styleName="Style clair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8A107856-5554-42FB-B03E-39F5DBC370BA}" styleName="Style moyen 4 - Accentuation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6271" autoAdjust="0"/>
  </p:normalViewPr>
  <p:slideViewPr>
    <p:cSldViewPr snapToGrid="0">
      <p:cViewPr varScale="1">
        <p:scale>
          <a:sx n="70" d="100"/>
          <a:sy n="70" d="100"/>
        </p:scale>
        <p:origin x="1108" y="60"/>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font" Target="fonts/font12.fntdata"/><Relationship Id="rId10" Type="http://schemas.openxmlformats.org/officeDocument/2006/relationships/slide" Target="slides/slide9.xml"/><Relationship Id="rId19" Type="http://schemas.openxmlformats.org/officeDocument/2006/relationships/font" Target="fonts/font3.fntdata"/><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77af7a6af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377af7a6af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Derrière une simple tâche peut se cacher un cancer.</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Derrière une simple tâche peut se cacher un cancer.</a:t>
            </a:r>
            <a:br>
              <a:rPr lang="fr-FR" dirty="0"/>
            </a:br>
            <a:r>
              <a:rPr lang="fr-FR" dirty="0"/>
              <a:t>Regardez ces deux images : à gauche un mélanome, à droite un simple grain de beauté. La différence est minime… et pourtant, le diagnostic change tout.</a:t>
            </a:r>
            <a:br>
              <a:rPr lang="fr-FR" dirty="0"/>
            </a:br>
            <a:r>
              <a:rPr lang="fr-FR" dirty="0"/>
              <a:t>Comme le rappelle le Dr Jones de l’American </a:t>
            </a:r>
            <a:r>
              <a:rPr lang="fr-FR" dirty="0" err="1"/>
              <a:t>Medical</a:t>
            </a:r>
            <a:r>
              <a:rPr lang="fr-FR" dirty="0"/>
              <a:t> Association : </a:t>
            </a:r>
            <a:r>
              <a:rPr lang="fr-FR" i="1" dirty="0"/>
              <a:t>“if </a:t>
            </a:r>
            <a:r>
              <a:rPr lang="fr-FR" i="1" dirty="0" err="1"/>
              <a:t>detected</a:t>
            </a:r>
            <a:r>
              <a:rPr lang="fr-FR" i="1" dirty="0"/>
              <a:t> </a:t>
            </a:r>
            <a:r>
              <a:rPr lang="fr-FR" i="1" dirty="0" err="1"/>
              <a:t>early</a:t>
            </a:r>
            <a:r>
              <a:rPr lang="fr-FR" i="1" dirty="0"/>
              <a:t>, the five-</a:t>
            </a:r>
            <a:r>
              <a:rPr lang="fr-FR" i="1" dirty="0" err="1"/>
              <a:t>year</a:t>
            </a:r>
            <a:r>
              <a:rPr lang="fr-FR" i="1" dirty="0"/>
              <a:t> </a:t>
            </a:r>
            <a:r>
              <a:rPr lang="fr-FR" i="1" dirty="0" err="1"/>
              <a:t>survival</a:t>
            </a:r>
            <a:r>
              <a:rPr lang="fr-FR" i="1" dirty="0"/>
              <a:t> rate for </a:t>
            </a:r>
            <a:r>
              <a:rPr lang="fr-FR" i="1" dirty="0" err="1"/>
              <a:t>melanoma</a:t>
            </a:r>
            <a:r>
              <a:rPr lang="fr-FR" i="1" dirty="0"/>
              <a:t> </a:t>
            </a:r>
            <a:r>
              <a:rPr lang="fr-FR" i="1" dirty="0" err="1"/>
              <a:t>is</a:t>
            </a:r>
            <a:r>
              <a:rPr lang="fr-FR" i="1" dirty="0"/>
              <a:t> 99 %.”</a:t>
            </a:r>
            <a:br>
              <a:rPr lang="fr-FR" dirty="0"/>
            </a:br>
            <a:r>
              <a:rPr lang="fr-FR" dirty="0"/>
              <a:t>C’est cette réalité qui a guidé la naissance à ce projet.</a:t>
            </a:r>
            <a:endParaRPr dirty="0"/>
          </a:p>
        </p:txBody>
      </p:sp>
    </p:spTree>
    <p:extLst>
      <p:ext uri="{BB962C8B-B14F-4D97-AF65-F5344CB8AC3E}">
        <p14:creationId xmlns:p14="http://schemas.microsoft.com/office/powerpoint/2010/main" val="39407935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fr-FR" dirty="0"/>
              <a:t>« Les chiffres parlent d’eux-mêmes :</a:t>
            </a:r>
            <a:br>
              <a:rPr lang="fr-FR" dirty="0"/>
            </a:br>
            <a:r>
              <a:rPr lang="fr-FR" dirty="0"/>
              <a:t>En </a:t>
            </a:r>
            <a:r>
              <a:rPr lang="fr-FR" b="1" dirty="0"/>
              <a:t>France</a:t>
            </a:r>
            <a:r>
              <a:rPr lang="fr-FR" dirty="0"/>
              <a:t>, on dénombre près de </a:t>
            </a:r>
            <a:r>
              <a:rPr lang="fr-FR" b="1" dirty="0"/>
              <a:t>80 000 nouveaux cas</a:t>
            </a:r>
            <a:r>
              <a:rPr lang="fr-FR" dirty="0"/>
              <a:t> de cancer de la peau chaque année.</a:t>
            </a:r>
            <a:br>
              <a:rPr lang="fr-FR" dirty="0"/>
            </a:br>
            <a:r>
              <a:rPr lang="fr-FR" dirty="0"/>
              <a:t>En </a:t>
            </a:r>
            <a:r>
              <a:rPr lang="fr-FR" b="1" dirty="0"/>
              <a:t>Europe</a:t>
            </a:r>
            <a:r>
              <a:rPr lang="fr-FR" dirty="0"/>
              <a:t>, c’est </a:t>
            </a:r>
            <a:r>
              <a:rPr lang="fr-FR" b="1" dirty="0"/>
              <a:t>1 cancer sur 3</a:t>
            </a:r>
            <a:r>
              <a:rPr lang="fr-FR" dirty="0"/>
              <a:t> qui touche la peau, avec une hausse attendue de </a:t>
            </a:r>
            <a:r>
              <a:rPr lang="fr-FR" b="1" dirty="0"/>
              <a:t>40 % des cas</a:t>
            </a:r>
            <a:r>
              <a:rPr lang="fr-FR" dirty="0"/>
              <a:t> et de </a:t>
            </a:r>
            <a:r>
              <a:rPr lang="fr-FR" b="1" dirty="0"/>
              <a:t>50 % des décès</a:t>
            </a:r>
            <a:r>
              <a:rPr lang="fr-FR" dirty="0"/>
              <a:t> dans les prochaines années.</a:t>
            </a:r>
            <a:br>
              <a:rPr lang="fr-FR" dirty="0"/>
            </a:br>
            <a:r>
              <a:rPr lang="fr-FR" dirty="0"/>
              <a:t>À l’échelle du </a:t>
            </a:r>
            <a:r>
              <a:rPr lang="fr-FR" b="1" dirty="0"/>
              <a:t>monde</a:t>
            </a:r>
            <a:r>
              <a:rPr lang="fr-FR" dirty="0"/>
              <a:t>, rien qu’en 2022, plus de </a:t>
            </a:r>
            <a:r>
              <a:rPr lang="fr-FR" b="1" dirty="0"/>
              <a:t>330 000 nouveaux cas de mélanome</a:t>
            </a:r>
            <a:r>
              <a:rPr lang="fr-FR" dirty="0"/>
              <a:t> ont été diagnostiqués et </a:t>
            </a:r>
            <a:r>
              <a:rPr lang="fr-FR" b="1" dirty="0"/>
              <a:t>60 000 personnes en sont mortes</a:t>
            </a:r>
            <a:r>
              <a:rPr lang="fr-FR" dirty="0"/>
              <a:t>.</a:t>
            </a:r>
          </a:p>
          <a:p>
            <a:pPr marL="158750" indent="0">
              <a:buNone/>
            </a:pPr>
            <a:endParaRPr lang="fr-FR" dirty="0"/>
          </a:p>
          <a:p>
            <a:pPr marL="158750" indent="0">
              <a:buNone/>
            </a:pPr>
            <a:r>
              <a:rPr lang="fr-FR" dirty="0"/>
              <a:t>Mais au-delà des chiffres, il y a une réalité : l’</a:t>
            </a:r>
            <a:r>
              <a:rPr lang="fr-FR" b="1" dirty="0"/>
              <a:t>accès aux soins</a:t>
            </a:r>
            <a:r>
              <a:rPr lang="fr-FR" dirty="0"/>
              <a:t>.</a:t>
            </a:r>
            <a:br>
              <a:rPr lang="fr-FR" dirty="0"/>
            </a:br>
            <a:r>
              <a:rPr lang="fr-FR" dirty="0"/>
              <a:t>En France, un rendez-vous chez un dermatologue prend souvent </a:t>
            </a:r>
            <a:r>
              <a:rPr lang="fr-FR" b="1" dirty="0"/>
              <a:t>plusieurs mois</a:t>
            </a:r>
            <a:r>
              <a:rPr lang="fr-FR" dirty="0"/>
              <a:t>, et ce constat se répète en Europe… voire s’aggrave encore dans de nombreux pays.</a:t>
            </a:r>
            <a:br>
              <a:rPr lang="fr-FR" dirty="0"/>
            </a:br>
            <a:r>
              <a:rPr lang="fr-FR" dirty="0"/>
              <a:t>Résultat : le diagnostic précoce, pourtant clé pour sauver des vies, est trop souvent retardé.</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6744011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fr-FR" dirty="0"/>
              <a:t>« Notre mission avec </a:t>
            </a:r>
            <a:r>
              <a:rPr lang="fr-FR" dirty="0" err="1"/>
              <a:t>SkinCare</a:t>
            </a:r>
            <a:r>
              <a:rPr lang="fr-FR" dirty="0"/>
              <a:t> est d’offrir un outil en ligne simple et accessible, capable d’évaluer de manière fiable la criticité d’une lésion cutanée comme une tâche ou un grain de beauté.</a:t>
            </a:r>
            <a:br>
              <a:rPr lang="fr-FR" dirty="0"/>
            </a:br>
            <a:r>
              <a:rPr lang="fr-FR" dirty="0"/>
              <a:t>L’objectif est clair : favoriser un diagnostic plus précoce et accompagner chacun dans la prévention des cancers de la peau.</a:t>
            </a:r>
            <a:br>
              <a:rPr lang="fr-FR" dirty="0"/>
            </a:br>
            <a:r>
              <a:rPr lang="fr-FR" dirty="0"/>
              <a:t>Ce besoin est d’autant plus fort que le diagnostic précoce augmente considérablement les chances de guérison, alors qu’en France les délais pour obtenir un rendez-vous chez un dermatologue se comptent souvent en mois, ce qui retarde la prise en charge.</a:t>
            </a:r>
            <a:br>
              <a:rPr lang="fr-FR" dirty="0"/>
            </a:br>
            <a:r>
              <a:rPr lang="fr-FR" dirty="0"/>
              <a:t>En parallèle, la santé digitale connaît une croissance rapide : l’intelligence artificielle devient un outil clé de prévention et d’aide au diagnostic, ouvrant la voie à des solutions innovantes et à une meilleure confiance des patients.</a:t>
            </a:r>
            <a:br>
              <a:rPr lang="fr-FR" dirty="0"/>
            </a:br>
            <a:r>
              <a:rPr lang="fr-FR" dirty="0"/>
              <a:t>C’est précisément à l’intersection de ces deux dimensions — médicale et digitale — qu’est né le projet </a:t>
            </a:r>
            <a:r>
              <a:rPr lang="fr-FR" dirty="0" err="1"/>
              <a:t>SkinCare</a:t>
            </a:r>
            <a:r>
              <a:rPr lang="fr-FR" dirty="0"/>
              <a:t>. »</a:t>
            </a:r>
          </a:p>
        </p:txBody>
      </p:sp>
    </p:spTree>
    <p:extLst>
      <p:ext uri="{BB962C8B-B14F-4D97-AF65-F5344CB8AC3E}">
        <p14:creationId xmlns:p14="http://schemas.microsoft.com/office/powerpoint/2010/main" val="39645989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 Pour les </a:t>
            </a:r>
            <a:r>
              <a:rPr lang="fr-FR" b="1" dirty="0"/>
              <a:t>patients</a:t>
            </a:r>
            <a:r>
              <a:rPr lang="fr-FR" dirty="0"/>
              <a:t>, c’est plus de sérénité et un diagnostic plus précoce.</a:t>
            </a:r>
            <a:br>
              <a:rPr lang="fr-FR" dirty="0"/>
            </a:br>
            <a:r>
              <a:rPr lang="fr-FR" dirty="0"/>
              <a:t>Pour les </a:t>
            </a:r>
            <a:r>
              <a:rPr lang="fr-FR" b="1" dirty="0"/>
              <a:t>médecins</a:t>
            </a:r>
            <a:r>
              <a:rPr lang="fr-FR" dirty="0"/>
              <a:t> et les </a:t>
            </a:r>
            <a:r>
              <a:rPr lang="fr-FR" b="1" dirty="0"/>
              <a:t>assureurs</a:t>
            </a:r>
            <a:r>
              <a:rPr lang="fr-FR" dirty="0"/>
              <a:t>, c’est du temps gagné et des coûts évités.</a:t>
            </a:r>
            <a:br>
              <a:rPr lang="fr-FR" dirty="0"/>
            </a:br>
            <a:r>
              <a:rPr lang="fr-FR" dirty="0"/>
              <a:t>Et pour la </a:t>
            </a:r>
            <a:r>
              <a:rPr lang="fr-FR" b="1" dirty="0"/>
              <a:t>santé publique</a:t>
            </a:r>
            <a:r>
              <a:rPr lang="fr-FR" dirty="0"/>
              <a:t>, c’est un pas concret vers moins de cancers graves demain. »</a:t>
            </a:r>
            <a:endParaRPr dirty="0"/>
          </a:p>
        </p:txBody>
      </p:sp>
    </p:spTree>
    <p:extLst>
      <p:ext uri="{BB962C8B-B14F-4D97-AF65-F5344CB8AC3E}">
        <p14:creationId xmlns:p14="http://schemas.microsoft.com/office/powerpoint/2010/main" val="3684231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739235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fr-FR" dirty="0"/>
          </a:p>
        </p:txBody>
      </p:sp>
    </p:spTree>
    <p:extLst>
      <p:ext uri="{BB962C8B-B14F-4D97-AF65-F5344CB8AC3E}">
        <p14:creationId xmlns:p14="http://schemas.microsoft.com/office/powerpoint/2010/main" val="36734752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fr-FR" sz="2400" dirty="0"/>
              <a:t>« Nous avons utilisé deux bases principales : </a:t>
            </a:r>
            <a:r>
              <a:rPr lang="fr-FR" sz="2400" i="1" dirty="0"/>
              <a:t>Skin </a:t>
            </a:r>
            <a:r>
              <a:rPr lang="fr-FR" sz="2400" i="1" dirty="0" err="1"/>
              <a:t>Disease</a:t>
            </a:r>
            <a:r>
              <a:rPr lang="fr-FR" sz="2400" i="1" dirty="0"/>
              <a:t> 3300</a:t>
            </a:r>
            <a:r>
              <a:rPr lang="fr-FR" sz="2400" dirty="0"/>
              <a:t>, un petit </a:t>
            </a:r>
            <a:r>
              <a:rPr lang="fr-FR" sz="2400" dirty="0" err="1"/>
              <a:t>dataset</a:t>
            </a:r>
            <a:r>
              <a:rPr lang="fr-FR" sz="2400" dirty="0"/>
              <a:t> équilibré pour travailler sur le diagnostic binaire bénin/malin, et </a:t>
            </a:r>
            <a:r>
              <a:rPr lang="fr-FR" sz="2400" i="1" dirty="0"/>
              <a:t>HAM10000</a:t>
            </a:r>
            <a:r>
              <a:rPr lang="fr-FR" sz="2400" dirty="0"/>
              <a:t>, un </a:t>
            </a:r>
            <a:r>
              <a:rPr lang="fr-FR" sz="2400" dirty="0" err="1"/>
              <a:t>dataset</a:t>
            </a:r>
            <a:r>
              <a:rPr lang="fr-FR" sz="2400" dirty="0"/>
              <a:t> de référence beaucoup plus riche avec 10 000 images réparties en 7 classes et accompagné de métadonnées comme l’âge, le sexe et la localisation.</a:t>
            </a:r>
            <a:br>
              <a:rPr lang="fr-FR" sz="2400" dirty="0"/>
            </a:br>
            <a:r>
              <a:rPr lang="fr-FR" sz="2400" dirty="0"/>
              <a:t>Ces données posent cependant plusieurs défis : un fort déséquilibre de classes, une diversité limitée des phototypes qui réduit la pertinence du modèle, une qualité hétérogène des images, et enfin des enjeux de respect du RGPD liés aux métadonnées sensibles. »</a:t>
            </a:r>
            <a:endParaRPr dirty="0"/>
          </a:p>
        </p:txBody>
      </p:sp>
    </p:spTree>
    <p:extLst>
      <p:ext uri="{BB962C8B-B14F-4D97-AF65-F5344CB8AC3E}">
        <p14:creationId xmlns:p14="http://schemas.microsoft.com/office/powerpoint/2010/main" val="21015854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fr-FR" sz="2400" dirty="0"/>
              <a:t>« Nous avons utilisé deux bases principales : </a:t>
            </a:r>
            <a:r>
              <a:rPr lang="fr-FR" sz="2400" i="1" dirty="0"/>
              <a:t>Skin </a:t>
            </a:r>
            <a:r>
              <a:rPr lang="fr-FR" sz="2400" i="1" dirty="0" err="1"/>
              <a:t>Disease</a:t>
            </a:r>
            <a:r>
              <a:rPr lang="fr-FR" sz="2400" i="1" dirty="0"/>
              <a:t> 3300</a:t>
            </a:r>
            <a:r>
              <a:rPr lang="fr-FR" sz="2400" dirty="0"/>
              <a:t>, un petit </a:t>
            </a:r>
            <a:r>
              <a:rPr lang="fr-FR" sz="2400" dirty="0" err="1"/>
              <a:t>dataset</a:t>
            </a:r>
            <a:r>
              <a:rPr lang="fr-FR" sz="2400" dirty="0"/>
              <a:t> équilibré pour travailler sur le diagnostic binaire bénin/malin, et </a:t>
            </a:r>
            <a:r>
              <a:rPr lang="fr-FR" sz="2400" i="1" dirty="0"/>
              <a:t>HAM10000</a:t>
            </a:r>
            <a:r>
              <a:rPr lang="fr-FR" sz="2400" dirty="0"/>
              <a:t>, un </a:t>
            </a:r>
            <a:r>
              <a:rPr lang="fr-FR" sz="2400" dirty="0" err="1"/>
              <a:t>dataset</a:t>
            </a:r>
            <a:r>
              <a:rPr lang="fr-FR" sz="2400" dirty="0"/>
              <a:t> de référence beaucoup plus riche avec 10 000 images réparties en 7 classes et accompagné de métadonnées comme l’âge, le sexe et la localisation.</a:t>
            </a:r>
            <a:br>
              <a:rPr lang="fr-FR" sz="2400" dirty="0"/>
            </a:br>
            <a:r>
              <a:rPr lang="fr-FR" sz="2400" dirty="0"/>
              <a:t>Ces données posent cependant plusieurs défis : un fort déséquilibre de classes, une diversité limitée des phototypes qui réduit la pertinence du modèle, une qualité hétérogène des images, et enfin des enjeux de respect du RGPD liés aux métadonnées sensibles. »</a:t>
            </a:r>
            <a:endParaRPr dirty="0"/>
          </a:p>
        </p:txBody>
      </p:sp>
    </p:spTree>
    <p:extLst>
      <p:ext uri="{BB962C8B-B14F-4D97-AF65-F5344CB8AC3E}">
        <p14:creationId xmlns:p14="http://schemas.microsoft.com/office/powerpoint/2010/main" val="293284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fr-FR" b="1" dirty="0"/>
              <a:t>1. </a:t>
            </a:r>
            <a:r>
              <a:rPr lang="fr-FR" b="1" dirty="0" err="1"/>
              <a:t>Préprocessing</a:t>
            </a:r>
            <a:endParaRPr lang="fr-FR" b="1" dirty="0"/>
          </a:p>
          <a:p>
            <a:pPr>
              <a:buFont typeface="Arial" panose="020B0604020202020204" pitchFamily="34" charset="0"/>
              <a:buChar char="•"/>
            </a:pPr>
            <a:r>
              <a:rPr lang="fr-FR" b="1" dirty="0"/>
              <a:t>Modèle 1 (EfficientNetB0)</a:t>
            </a:r>
            <a:r>
              <a:rPr lang="fr-FR" dirty="0"/>
              <a:t> : j’ai utilisé la fonction </a:t>
            </a:r>
            <a:r>
              <a:rPr lang="fr-FR" dirty="0" err="1"/>
              <a:t>efficientnet.preprocess_input</a:t>
            </a:r>
            <a:r>
              <a:rPr lang="fr-FR" dirty="0"/>
              <a:t> qui normalise les images conformément aux poids </a:t>
            </a:r>
            <a:r>
              <a:rPr lang="fr-FR" dirty="0" err="1"/>
              <a:t>ImageNet</a:t>
            </a:r>
            <a:r>
              <a:rPr lang="fr-FR" dirty="0"/>
              <a:t>.</a:t>
            </a:r>
          </a:p>
          <a:p>
            <a:pPr>
              <a:buFont typeface="Arial" panose="020B0604020202020204" pitchFamily="34" charset="0"/>
              <a:buChar char="•"/>
            </a:pPr>
            <a:r>
              <a:rPr lang="fr-FR" b="1" dirty="0"/>
              <a:t>Modèle 2 (ResNet50)</a:t>
            </a:r>
            <a:r>
              <a:rPr lang="fr-FR" dirty="0"/>
              <a:t> : idem, mais avec resnet50.preprocess_input.</a:t>
            </a:r>
          </a:p>
          <a:p>
            <a:pPr>
              <a:buFont typeface="Arial" panose="020B0604020202020204" pitchFamily="34" charset="0"/>
              <a:buChar char="•"/>
            </a:pPr>
            <a:r>
              <a:rPr lang="fr-FR" b="1" dirty="0"/>
              <a:t>Modèle 3 (</a:t>
            </a:r>
            <a:r>
              <a:rPr lang="fr-FR" b="1" dirty="0" err="1"/>
              <a:t>Stacking</a:t>
            </a:r>
            <a:r>
              <a:rPr lang="fr-FR" b="1" dirty="0"/>
              <a:t> RF)</a:t>
            </a:r>
            <a:r>
              <a:rPr lang="fr-FR" dirty="0"/>
              <a:t> : ici, les </a:t>
            </a:r>
            <a:r>
              <a:rPr lang="fr-FR" dirty="0" err="1"/>
              <a:t>features</a:t>
            </a:r>
            <a:r>
              <a:rPr lang="fr-FR" dirty="0"/>
              <a:t> ne sont pas des images brutes, mais des probabilités issues du CNN (ResNet50) combinées aux métadonnées.</a:t>
            </a:r>
          </a:p>
          <a:p>
            <a:pPr marL="742950" lvl="1" indent="-285750">
              <a:buFont typeface="Arial" panose="020B0604020202020204" pitchFamily="34" charset="0"/>
              <a:buChar char="•"/>
            </a:pPr>
            <a:r>
              <a:rPr lang="fr-FR" i="1" dirty="0"/>
              <a:t>Âge</a:t>
            </a:r>
            <a:r>
              <a:rPr lang="fr-FR" dirty="0"/>
              <a:t> : imputé par la moyenne puis standardisé (</a:t>
            </a:r>
            <a:r>
              <a:rPr lang="fr-FR" dirty="0" err="1"/>
              <a:t>StandardScaler</a:t>
            </a:r>
            <a:r>
              <a:rPr lang="fr-FR" dirty="0"/>
              <a:t>).</a:t>
            </a:r>
          </a:p>
          <a:p>
            <a:pPr marL="742950" lvl="1" indent="-285750">
              <a:buFont typeface="Arial" panose="020B0604020202020204" pitchFamily="34" charset="0"/>
              <a:buChar char="•"/>
            </a:pPr>
            <a:r>
              <a:rPr lang="fr-FR" i="1" dirty="0"/>
              <a:t>Sexe</a:t>
            </a:r>
            <a:r>
              <a:rPr lang="fr-FR" dirty="0"/>
              <a:t> et </a:t>
            </a:r>
            <a:r>
              <a:rPr lang="fr-FR" i="1" dirty="0"/>
              <a:t>localisation</a:t>
            </a:r>
            <a:r>
              <a:rPr lang="fr-FR" dirty="0"/>
              <a:t> : encodage </a:t>
            </a:r>
            <a:r>
              <a:rPr lang="fr-FR" dirty="0" err="1"/>
              <a:t>OneHot</a:t>
            </a:r>
            <a:r>
              <a:rPr lang="fr-FR" dirty="0"/>
              <a:t>.</a:t>
            </a:r>
          </a:p>
          <a:p>
            <a:r>
              <a:rPr lang="fr-FR" dirty="0"/>
              <a:t>👉 </a:t>
            </a:r>
            <a:r>
              <a:rPr lang="fr-FR" b="1" dirty="0"/>
              <a:t>Question probable : Pourquoi pas la même normalisation pour tous les modèles ?</a:t>
            </a:r>
            <a:br>
              <a:rPr lang="fr-FR" dirty="0"/>
            </a:br>
            <a:r>
              <a:rPr lang="fr-FR" dirty="0"/>
              <a:t>Réponse : Chaque backbone (</a:t>
            </a:r>
            <a:r>
              <a:rPr lang="fr-FR" dirty="0" err="1"/>
              <a:t>EfficientNet</a:t>
            </a:r>
            <a:r>
              <a:rPr lang="fr-FR" dirty="0"/>
              <a:t>, </a:t>
            </a:r>
            <a:r>
              <a:rPr lang="fr-FR" dirty="0" err="1"/>
              <a:t>ResNet</a:t>
            </a:r>
            <a:r>
              <a:rPr lang="fr-FR" dirty="0"/>
              <a:t>) attend un prétraitement spécifique calibré sur ses poids </a:t>
            </a:r>
            <a:r>
              <a:rPr lang="fr-FR" dirty="0" err="1"/>
              <a:t>ImageNet</a:t>
            </a:r>
            <a:r>
              <a:rPr lang="fr-FR" dirty="0"/>
              <a:t>. Si on applique le mauvais, les performances chutent.</a:t>
            </a:r>
          </a:p>
          <a:p>
            <a:r>
              <a:rPr lang="fr-FR" b="1" dirty="0"/>
              <a:t>2. Data Augmentation</a:t>
            </a:r>
          </a:p>
          <a:p>
            <a:pPr>
              <a:buFont typeface="Arial" panose="020B0604020202020204" pitchFamily="34" charset="0"/>
              <a:buChar char="•"/>
            </a:pPr>
            <a:r>
              <a:rPr lang="fr-FR" b="1" dirty="0"/>
              <a:t>Modèle 1</a:t>
            </a:r>
            <a:r>
              <a:rPr lang="fr-FR" dirty="0"/>
              <a:t> : </a:t>
            </a:r>
            <a:r>
              <a:rPr lang="fr-FR" dirty="0" err="1"/>
              <a:t>Random</a:t>
            </a:r>
            <a:r>
              <a:rPr lang="fr-FR" dirty="0"/>
              <a:t> Flip (horizontal), </a:t>
            </a:r>
            <a:r>
              <a:rPr lang="fr-FR" dirty="0" err="1"/>
              <a:t>Random</a:t>
            </a:r>
            <a:r>
              <a:rPr lang="fr-FR" dirty="0"/>
              <a:t> Rotation (±0.1), Zoom (0.1), </a:t>
            </a:r>
            <a:r>
              <a:rPr lang="fr-FR" dirty="0" err="1"/>
              <a:t>Contrast</a:t>
            </a:r>
            <a:r>
              <a:rPr lang="fr-FR" dirty="0"/>
              <a:t> (0.1). → pour enrichir la variabilité et réduire l’</a:t>
            </a:r>
            <a:r>
              <a:rPr lang="fr-FR" dirty="0" err="1"/>
              <a:t>overfitting</a:t>
            </a:r>
            <a:r>
              <a:rPr lang="fr-FR" dirty="0"/>
              <a:t> sur un </a:t>
            </a:r>
            <a:r>
              <a:rPr lang="fr-FR" dirty="0" err="1"/>
              <a:t>dataset</a:t>
            </a:r>
            <a:r>
              <a:rPr lang="fr-FR" dirty="0"/>
              <a:t> relativement petit.</a:t>
            </a:r>
          </a:p>
          <a:p>
            <a:pPr>
              <a:buFont typeface="Arial" panose="020B0604020202020204" pitchFamily="34" charset="0"/>
              <a:buChar char="•"/>
            </a:pPr>
            <a:r>
              <a:rPr lang="fr-FR" b="1" dirty="0"/>
              <a:t>Modèle 2</a:t>
            </a:r>
            <a:r>
              <a:rPr lang="fr-FR" dirty="0"/>
              <a:t> : pas d’augmentation, seulement </a:t>
            </a:r>
            <a:r>
              <a:rPr lang="fr-FR" dirty="0" err="1"/>
              <a:t>ImageDataGenerator</a:t>
            </a:r>
            <a:r>
              <a:rPr lang="fr-FR" dirty="0"/>
              <a:t> avec le </a:t>
            </a:r>
            <a:r>
              <a:rPr lang="fr-FR" dirty="0" err="1"/>
              <a:t>préprocessing</a:t>
            </a:r>
            <a:r>
              <a:rPr lang="fr-FR" dirty="0"/>
              <a:t> ResNet50.</a:t>
            </a:r>
          </a:p>
          <a:p>
            <a:pPr>
              <a:buFont typeface="Arial" panose="020B0604020202020204" pitchFamily="34" charset="0"/>
              <a:buChar char="•"/>
            </a:pPr>
            <a:r>
              <a:rPr lang="fr-FR" b="1" dirty="0"/>
              <a:t>Modèle 3</a:t>
            </a:r>
            <a:r>
              <a:rPr lang="fr-FR" dirty="0"/>
              <a:t> : pas d’augmentation → on ne travaille pas directement sur les images, mais sur les </a:t>
            </a:r>
            <a:r>
              <a:rPr lang="fr-FR" dirty="0" err="1"/>
              <a:t>features</a:t>
            </a:r>
            <a:r>
              <a:rPr lang="fr-FR" dirty="0"/>
              <a:t> CNN + métadonnées.</a:t>
            </a:r>
          </a:p>
          <a:p>
            <a:r>
              <a:rPr lang="fr-FR" dirty="0"/>
              <a:t>👉 </a:t>
            </a:r>
            <a:r>
              <a:rPr lang="fr-FR" b="1" dirty="0"/>
              <a:t>Question probable : Pourquoi ne pas faire de data augmentation sur le modèle 2 ?</a:t>
            </a:r>
            <a:br>
              <a:rPr lang="fr-FR" dirty="0"/>
            </a:br>
            <a:r>
              <a:rPr lang="fr-FR" dirty="0"/>
              <a:t>Réponse : C’est un choix de temps de calcul et de complexité. ResNet50 a déjà une forte capacité de généralisation. On pourrait ajouter une augmentation, mais on a compensé par l’usage de </a:t>
            </a:r>
            <a:r>
              <a:rPr lang="fr-FR" i="1" dirty="0"/>
              <a:t>class </a:t>
            </a:r>
            <a:r>
              <a:rPr lang="fr-FR" i="1" dirty="0" err="1"/>
              <a:t>weights</a:t>
            </a:r>
            <a:r>
              <a:rPr lang="fr-FR" dirty="0"/>
              <a:t> et un fine-tuning plus profond.</a:t>
            </a:r>
          </a:p>
          <a:p>
            <a:r>
              <a:rPr lang="fr-FR" b="1" dirty="0"/>
              <a:t>3. Pondération des classes</a:t>
            </a:r>
          </a:p>
          <a:p>
            <a:pPr>
              <a:buFont typeface="Arial" panose="020B0604020202020204" pitchFamily="34" charset="0"/>
              <a:buChar char="•"/>
            </a:pPr>
            <a:r>
              <a:rPr lang="fr-FR" b="1" dirty="0"/>
              <a:t>Modèle 1</a:t>
            </a:r>
            <a:r>
              <a:rPr lang="fr-FR" dirty="0"/>
              <a:t> : pas de pondération, car </a:t>
            </a:r>
            <a:r>
              <a:rPr lang="fr-FR" dirty="0" err="1"/>
              <a:t>dataset</a:t>
            </a:r>
            <a:r>
              <a:rPr lang="fr-FR" dirty="0"/>
              <a:t> équilibré (bénin vs malin).</a:t>
            </a:r>
          </a:p>
          <a:p>
            <a:pPr>
              <a:buFont typeface="Arial" panose="020B0604020202020204" pitchFamily="34" charset="0"/>
              <a:buChar char="•"/>
            </a:pPr>
            <a:r>
              <a:rPr lang="fr-FR" b="1" dirty="0"/>
              <a:t>Modèle 2</a:t>
            </a:r>
            <a:r>
              <a:rPr lang="fr-FR" dirty="0"/>
              <a:t> : pondération par </a:t>
            </a:r>
            <a:r>
              <a:rPr lang="fr-FR" dirty="0" err="1"/>
              <a:t>compute_class_weight</a:t>
            </a:r>
            <a:r>
              <a:rPr lang="fr-FR" dirty="0"/>
              <a:t> pour corriger le fort déséquilibre du </a:t>
            </a:r>
            <a:r>
              <a:rPr lang="fr-FR" dirty="0" err="1"/>
              <a:t>dataset</a:t>
            </a:r>
            <a:r>
              <a:rPr lang="fr-FR" dirty="0"/>
              <a:t> HAM10000.</a:t>
            </a:r>
          </a:p>
          <a:p>
            <a:pPr>
              <a:buFont typeface="Arial" panose="020B0604020202020204" pitchFamily="34" charset="0"/>
              <a:buChar char="•"/>
            </a:pPr>
            <a:r>
              <a:rPr lang="fr-FR" b="1" dirty="0"/>
              <a:t>Modèle 3</a:t>
            </a:r>
            <a:r>
              <a:rPr lang="fr-FR" dirty="0"/>
              <a:t> : </a:t>
            </a:r>
            <a:r>
              <a:rPr lang="fr-FR" dirty="0" err="1"/>
              <a:t>RandomForest</a:t>
            </a:r>
            <a:r>
              <a:rPr lang="fr-FR" dirty="0"/>
              <a:t> avec </a:t>
            </a:r>
            <a:r>
              <a:rPr lang="fr-FR" dirty="0" err="1"/>
              <a:t>class_weight</a:t>
            </a:r>
            <a:r>
              <a:rPr lang="fr-FR" dirty="0"/>
              <a:t>="</a:t>
            </a:r>
            <a:r>
              <a:rPr lang="fr-FR" dirty="0" err="1"/>
              <a:t>balanced</a:t>
            </a:r>
            <a:r>
              <a:rPr lang="fr-FR" dirty="0"/>
              <a:t>" pour donner plus de poids aux classes rares.</a:t>
            </a:r>
          </a:p>
          <a:p>
            <a:r>
              <a:rPr lang="fr-FR" dirty="0"/>
              <a:t>👉 </a:t>
            </a:r>
            <a:r>
              <a:rPr lang="fr-FR" b="1" dirty="0"/>
              <a:t>Question probable : Quelle différence entre </a:t>
            </a:r>
            <a:r>
              <a:rPr lang="fr-FR" b="1" dirty="0" err="1"/>
              <a:t>oversampling</a:t>
            </a:r>
            <a:r>
              <a:rPr lang="fr-FR" b="1" dirty="0"/>
              <a:t> et </a:t>
            </a:r>
            <a:r>
              <a:rPr lang="fr-FR" b="1" dirty="0" err="1"/>
              <a:t>class_weight</a:t>
            </a:r>
            <a:r>
              <a:rPr lang="fr-FR" b="1" dirty="0"/>
              <a:t> ?</a:t>
            </a:r>
            <a:br>
              <a:rPr lang="fr-FR" dirty="0"/>
            </a:br>
            <a:r>
              <a:rPr lang="fr-FR" dirty="0"/>
              <a:t>Réponse :</a:t>
            </a:r>
          </a:p>
          <a:p>
            <a:pPr>
              <a:buFont typeface="Arial" panose="020B0604020202020204" pitchFamily="34" charset="0"/>
              <a:buChar char="•"/>
            </a:pPr>
            <a:r>
              <a:rPr lang="fr-FR" dirty="0" err="1"/>
              <a:t>Oversampling</a:t>
            </a:r>
            <a:r>
              <a:rPr lang="fr-FR" dirty="0"/>
              <a:t> → modifie les données (ajout d’exemples, duplication, SMOTE).</a:t>
            </a:r>
          </a:p>
          <a:p>
            <a:pPr>
              <a:buFont typeface="Arial" panose="020B0604020202020204" pitchFamily="34" charset="0"/>
              <a:buChar char="•"/>
            </a:pPr>
            <a:r>
              <a:rPr lang="fr-FR" dirty="0" err="1"/>
              <a:t>Class_weight</a:t>
            </a:r>
            <a:r>
              <a:rPr lang="fr-FR" dirty="0"/>
              <a:t> → modifie directement la fonction de coût (donne plus de pénalité aux erreurs sur les classes rares).</a:t>
            </a:r>
            <a:br>
              <a:rPr lang="fr-FR" dirty="0"/>
            </a:br>
            <a:r>
              <a:rPr lang="fr-FR" dirty="0"/>
              <a:t>Ici, nous avons privilégié </a:t>
            </a:r>
            <a:r>
              <a:rPr lang="fr-FR" i="1" dirty="0" err="1"/>
              <a:t>class_weight</a:t>
            </a:r>
            <a:r>
              <a:rPr lang="fr-FR" dirty="0"/>
              <a:t> pour éviter le surapprentissage et l’augmentation artificielle du </a:t>
            </a:r>
            <a:r>
              <a:rPr lang="fr-FR" dirty="0" err="1"/>
              <a:t>dataset</a:t>
            </a:r>
            <a:r>
              <a:rPr lang="fr-FR" dirty="0"/>
              <a:t>.</a:t>
            </a:r>
          </a:p>
          <a:p>
            <a:r>
              <a:rPr lang="fr-FR" b="1" dirty="0"/>
              <a:t>4. Entraînement</a:t>
            </a:r>
          </a:p>
          <a:p>
            <a:pPr>
              <a:buFont typeface="Arial" panose="020B0604020202020204" pitchFamily="34" charset="0"/>
              <a:buChar char="•"/>
            </a:pPr>
            <a:r>
              <a:rPr lang="fr-FR" b="1" dirty="0"/>
              <a:t>Modèle 1</a:t>
            </a:r>
            <a:r>
              <a:rPr lang="fr-FR" dirty="0"/>
              <a:t> : 40 </a:t>
            </a:r>
            <a:r>
              <a:rPr lang="fr-FR" dirty="0" err="1"/>
              <a:t>epochs</a:t>
            </a:r>
            <a:r>
              <a:rPr lang="fr-FR" dirty="0"/>
              <a:t> max, batch 32 (paramétrables en CLI).</a:t>
            </a:r>
          </a:p>
          <a:p>
            <a:pPr>
              <a:buFont typeface="Arial" panose="020B0604020202020204" pitchFamily="34" charset="0"/>
              <a:buChar char="•"/>
            </a:pPr>
            <a:r>
              <a:rPr lang="fr-FR" b="1" dirty="0"/>
              <a:t>Modèle 2</a:t>
            </a:r>
            <a:r>
              <a:rPr lang="fr-FR" dirty="0"/>
              <a:t> : 30 </a:t>
            </a:r>
            <a:r>
              <a:rPr lang="fr-FR" dirty="0" err="1"/>
              <a:t>epochs</a:t>
            </a:r>
            <a:r>
              <a:rPr lang="fr-FR" dirty="0"/>
              <a:t> max, batch 32.</a:t>
            </a:r>
          </a:p>
          <a:p>
            <a:pPr>
              <a:buFont typeface="Arial" panose="020B0604020202020204" pitchFamily="34" charset="0"/>
              <a:buChar char="•"/>
            </a:pPr>
            <a:r>
              <a:rPr lang="fr-FR" b="1" dirty="0"/>
              <a:t>Modèle 3</a:t>
            </a:r>
            <a:r>
              <a:rPr lang="fr-FR" dirty="0"/>
              <a:t> : </a:t>
            </a:r>
            <a:r>
              <a:rPr lang="fr-FR" dirty="0" err="1"/>
              <a:t>RandomForest</a:t>
            </a:r>
            <a:r>
              <a:rPr lang="fr-FR" dirty="0"/>
              <a:t> avec 400 arbres, </a:t>
            </a:r>
            <a:r>
              <a:rPr lang="fr-FR" dirty="0" err="1"/>
              <a:t>min_samples_leaf</a:t>
            </a:r>
            <a:r>
              <a:rPr lang="fr-FR" dirty="0"/>
              <a:t>=10, </a:t>
            </a:r>
            <a:r>
              <a:rPr lang="fr-FR" dirty="0" err="1"/>
              <a:t>max_features</a:t>
            </a:r>
            <a:r>
              <a:rPr lang="fr-FR" dirty="0"/>
              <a:t>=√(</a:t>
            </a:r>
            <a:r>
              <a:rPr lang="fr-FR" dirty="0" err="1"/>
              <a:t>features</a:t>
            </a:r>
            <a:r>
              <a:rPr lang="fr-FR" dirty="0"/>
              <a:t>).</a:t>
            </a:r>
          </a:p>
          <a:p>
            <a:r>
              <a:rPr lang="fr-FR" dirty="0"/>
              <a:t>👉 </a:t>
            </a:r>
            <a:r>
              <a:rPr lang="fr-FR" b="1" dirty="0"/>
              <a:t>Question probable : Pourquoi ces valeurs (</a:t>
            </a:r>
            <a:r>
              <a:rPr lang="fr-FR" b="1" dirty="0" err="1"/>
              <a:t>epochs</a:t>
            </a:r>
            <a:r>
              <a:rPr lang="fr-FR" b="1" dirty="0"/>
              <a:t>, batch, </a:t>
            </a:r>
            <a:r>
              <a:rPr lang="fr-FR" b="1" dirty="0" err="1"/>
              <a:t>n_estimators</a:t>
            </a:r>
            <a:r>
              <a:rPr lang="fr-FR" b="1" dirty="0"/>
              <a:t>) ?</a:t>
            </a:r>
            <a:br>
              <a:rPr lang="fr-FR" dirty="0"/>
            </a:br>
            <a:r>
              <a:rPr lang="fr-FR" dirty="0"/>
              <a:t>Réponse :</a:t>
            </a:r>
          </a:p>
          <a:p>
            <a:pPr>
              <a:buFont typeface="Arial" panose="020B0604020202020204" pitchFamily="34" charset="0"/>
              <a:buChar char="•"/>
            </a:pPr>
            <a:r>
              <a:rPr lang="fr-FR" dirty="0" err="1"/>
              <a:t>Epochs</a:t>
            </a:r>
            <a:r>
              <a:rPr lang="fr-FR" dirty="0"/>
              <a:t> → valeurs initiales choisies (40 et 30) avec </a:t>
            </a:r>
            <a:r>
              <a:rPr lang="fr-FR" dirty="0" err="1"/>
              <a:t>EarlyStopping</a:t>
            </a:r>
            <a:r>
              <a:rPr lang="fr-FR" dirty="0"/>
              <a:t> pour éviter l’</a:t>
            </a:r>
            <a:r>
              <a:rPr lang="fr-FR" dirty="0" err="1"/>
              <a:t>overfitting</a:t>
            </a:r>
            <a:r>
              <a:rPr lang="fr-FR" dirty="0"/>
              <a:t>.</a:t>
            </a:r>
          </a:p>
          <a:p>
            <a:pPr>
              <a:buFont typeface="Arial" panose="020B0604020202020204" pitchFamily="34" charset="0"/>
              <a:buChar char="•"/>
            </a:pPr>
            <a:r>
              <a:rPr lang="fr-FR" dirty="0"/>
              <a:t>Batch 32 → compromis entre stabilité du gradient et temps de calcul.</a:t>
            </a:r>
          </a:p>
          <a:p>
            <a:pPr>
              <a:buFont typeface="Arial" panose="020B0604020202020204" pitchFamily="34" charset="0"/>
              <a:buChar char="•"/>
            </a:pPr>
            <a:r>
              <a:rPr lang="fr-FR" dirty="0"/>
              <a:t>400 arbres RF → trouvé comme un bon équilibre entre performance et temps d’inférence.</a:t>
            </a:r>
          </a:p>
          <a:p>
            <a:pPr>
              <a:buFont typeface="Arial" panose="020B0604020202020204" pitchFamily="34" charset="0"/>
              <a:buChar char="•"/>
            </a:pPr>
            <a:r>
              <a:rPr lang="fr-FR" dirty="0" err="1"/>
              <a:t>min_samples_leaf</a:t>
            </a:r>
            <a:r>
              <a:rPr lang="fr-FR" dirty="0"/>
              <a:t>=10 → pour éviter que chaque feuille ne capture du bruit.</a:t>
            </a:r>
          </a:p>
          <a:p>
            <a:pPr>
              <a:buFont typeface="Arial" panose="020B0604020202020204" pitchFamily="34" charset="0"/>
              <a:buChar char="•"/>
            </a:pPr>
            <a:r>
              <a:rPr lang="fr-FR" dirty="0" err="1"/>
              <a:t>max_features</a:t>
            </a:r>
            <a:r>
              <a:rPr lang="fr-FR" dirty="0"/>
              <a:t>=√ → valeur classique qui améliore la diversité entre arbres.</a:t>
            </a:r>
          </a:p>
          <a:p>
            <a:r>
              <a:rPr lang="fr-FR" b="1" dirty="0"/>
              <a:t>5. Fine-tuning</a:t>
            </a:r>
          </a:p>
          <a:p>
            <a:pPr>
              <a:buFont typeface="Arial" panose="020B0604020202020204" pitchFamily="34" charset="0"/>
              <a:buChar char="•"/>
            </a:pPr>
            <a:r>
              <a:rPr lang="fr-FR" b="1" dirty="0"/>
              <a:t>Modèle 1 (EfficientNetB0)</a:t>
            </a:r>
            <a:r>
              <a:rPr lang="fr-FR" dirty="0"/>
              <a:t> : gel initial, puis dégel des 20 dernières couches pour adapter aux données médicales.</a:t>
            </a:r>
          </a:p>
          <a:p>
            <a:pPr>
              <a:buFont typeface="Arial" panose="020B0604020202020204" pitchFamily="34" charset="0"/>
              <a:buChar char="•"/>
            </a:pPr>
            <a:r>
              <a:rPr lang="fr-FR" b="1" dirty="0"/>
              <a:t>Modèle 2 (ResNet50)</a:t>
            </a:r>
            <a:r>
              <a:rPr lang="fr-FR" dirty="0"/>
              <a:t> : dégel d’environ 30 couches → davantage de flexibilité car </a:t>
            </a:r>
            <a:r>
              <a:rPr lang="fr-FR" dirty="0" err="1"/>
              <a:t>dataset</a:t>
            </a:r>
            <a:r>
              <a:rPr lang="fr-FR" dirty="0"/>
              <a:t> plus riche (7 classes).</a:t>
            </a:r>
          </a:p>
          <a:p>
            <a:pPr>
              <a:buFont typeface="Arial" panose="020B0604020202020204" pitchFamily="34" charset="0"/>
              <a:buChar char="•"/>
            </a:pPr>
            <a:r>
              <a:rPr lang="fr-FR" b="1" dirty="0"/>
              <a:t>Modèle 3 (</a:t>
            </a:r>
            <a:r>
              <a:rPr lang="fr-FR" b="1" dirty="0" err="1"/>
              <a:t>Stacking</a:t>
            </a:r>
            <a:r>
              <a:rPr lang="fr-FR" b="1" dirty="0"/>
              <a:t>)</a:t>
            </a:r>
            <a:r>
              <a:rPr lang="fr-FR" dirty="0"/>
              <a:t> : CNN figé → seules les probas CNN sont utilisées comme </a:t>
            </a:r>
            <a:r>
              <a:rPr lang="fr-FR" dirty="0" err="1"/>
              <a:t>features</a:t>
            </a:r>
            <a:r>
              <a:rPr lang="fr-FR" dirty="0"/>
              <a:t> dans le </a:t>
            </a:r>
            <a:r>
              <a:rPr lang="fr-FR" dirty="0" err="1"/>
              <a:t>RandomForest</a:t>
            </a:r>
            <a:r>
              <a:rPr lang="fr-FR" dirty="0"/>
              <a:t>.</a:t>
            </a:r>
          </a:p>
          <a:p>
            <a:r>
              <a:rPr lang="fr-FR" dirty="0"/>
              <a:t>👉 </a:t>
            </a:r>
            <a:r>
              <a:rPr lang="fr-FR" b="1" dirty="0"/>
              <a:t>Question probable : Pourquoi ne pas tout dégelé (full fine-tuning) ?</a:t>
            </a:r>
            <a:br>
              <a:rPr lang="fr-FR" dirty="0"/>
            </a:br>
            <a:r>
              <a:rPr lang="fr-FR" dirty="0"/>
              <a:t>Réponse :</a:t>
            </a:r>
          </a:p>
          <a:p>
            <a:pPr>
              <a:buFont typeface="Arial" panose="020B0604020202020204" pitchFamily="34" charset="0"/>
              <a:buChar char="•"/>
            </a:pPr>
            <a:r>
              <a:rPr lang="fr-FR" dirty="0"/>
              <a:t>Tout dégelé = très coûteux en calcul et risque d’</a:t>
            </a:r>
            <a:r>
              <a:rPr lang="fr-FR" dirty="0" err="1"/>
              <a:t>overfitting</a:t>
            </a:r>
            <a:r>
              <a:rPr lang="fr-FR" dirty="0"/>
              <a:t> surtout avec des </a:t>
            </a:r>
            <a:r>
              <a:rPr lang="fr-FR" dirty="0" err="1"/>
              <a:t>datasets</a:t>
            </a:r>
            <a:r>
              <a:rPr lang="fr-FR" dirty="0"/>
              <a:t> limités.</a:t>
            </a:r>
          </a:p>
          <a:p>
            <a:pPr>
              <a:buFont typeface="Arial" panose="020B0604020202020204" pitchFamily="34" charset="0"/>
              <a:buChar char="•"/>
            </a:pPr>
            <a:r>
              <a:rPr lang="fr-FR" dirty="0"/>
              <a:t>Stratégie retenue = “progressive fine-tuning” → on garde l’essentiel des </a:t>
            </a:r>
            <a:r>
              <a:rPr lang="fr-FR" dirty="0" err="1"/>
              <a:t>features</a:t>
            </a:r>
            <a:r>
              <a:rPr lang="fr-FR" dirty="0"/>
              <a:t> </a:t>
            </a:r>
            <a:r>
              <a:rPr lang="fr-FR" dirty="0" err="1"/>
              <a:t>ImageNet</a:t>
            </a:r>
            <a:r>
              <a:rPr lang="fr-FR" dirty="0"/>
              <a:t>, et on ajuste les couches hautes (spécialisation).</a:t>
            </a:r>
          </a:p>
          <a:p>
            <a:r>
              <a:rPr lang="fr-FR" dirty="0"/>
              <a:t>👉 </a:t>
            </a:r>
            <a:r>
              <a:rPr lang="fr-FR" b="1" dirty="0"/>
              <a:t>Question probable : Pourquoi figer le CNN dans le modèle 3 ?</a:t>
            </a:r>
            <a:br>
              <a:rPr lang="fr-FR" dirty="0"/>
            </a:br>
            <a:r>
              <a:rPr lang="fr-FR" dirty="0"/>
              <a:t>Réponse :</a:t>
            </a:r>
          </a:p>
          <a:p>
            <a:pPr>
              <a:buFont typeface="Arial" panose="020B0604020202020204" pitchFamily="34" charset="0"/>
              <a:buChar char="•"/>
            </a:pPr>
            <a:r>
              <a:rPr lang="fr-FR" dirty="0"/>
              <a:t>But = tester l’apport des métadonnées + </a:t>
            </a:r>
            <a:r>
              <a:rPr lang="fr-FR" dirty="0" err="1"/>
              <a:t>stacking</a:t>
            </a:r>
            <a:r>
              <a:rPr lang="fr-FR" dirty="0"/>
              <a:t>.</a:t>
            </a:r>
          </a:p>
          <a:p>
            <a:pPr>
              <a:buFont typeface="Arial" panose="020B0604020202020204" pitchFamily="34" charset="0"/>
              <a:buChar char="•"/>
            </a:pPr>
            <a:r>
              <a:rPr lang="fr-FR" dirty="0"/>
              <a:t>Figer le CNN → stabilité des </a:t>
            </a:r>
            <a:r>
              <a:rPr lang="fr-FR" dirty="0" err="1"/>
              <a:t>features</a:t>
            </a:r>
            <a:r>
              <a:rPr lang="fr-FR" dirty="0"/>
              <a:t>, gain de temps d’entraînement.</a:t>
            </a:r>
          </a:p>
          <a:p>
            <a:pPr>
              <a:buFont typeface="Arial" panose="020B0604020202020204" pitchFamily="34" charset="0"/>
              <a:buChar char="•"/>
            </a:pPr>
            <a:r>
              <a:rPr lang="fr-FR" dirty="0"/>
              <a:t>Cela permet de se concentrer sur la combinaison CNN + tabulaire.</a:t>
            </a:r>
          </a:p>
          <a:p>
            <a:r>
              <a:rPr lang="fr-FR" b="1" dirty="0"/>
              <a:t>6. Questions transverses probables</a:t>
            </a:r>
          </a:p>
          <a:p>
            <a:pPr>
              <a:buFont typeface="Arial" panose="020B0604020202020204" pitchFamily="34" charset="0"/>
              <a:buChar char="•"/>
            </a:pPr>
            <a:r>
              <a:rPr lang="fr-FR" b="1" dirty="0"/>
              <a:t>Pourquoi </a:t>
            </a:r>
            <a:r>
              <a:rPr lang="fr-FR" b="1" dirty="0" err="1"/>
              <a:t>EfficientNet</a:t>
            </a:r>
            <a:r>
              <a:rPr lang="fr-FR" b="1" dirty="0"/>
              <a:t> vs </a:t>
            </a:r>
            <a:r>
              <a:rPr lang="fr-FR" b="1" dirty="0" err="1"/>
              <a:t>ResNet</a:t>
            </a:r>
            <a:r>
              <a:rPr lang="fr-FR" b="1" dirty="0"/>
              <a:t> ?</a:t>
            </a:r>
            <a:br>
              <a:rPr lang="fr-FR" dirty="0"/>
            </a:br>
            <a:r>
              <a:rPr lang="fr-FR" dirty="0"/>
              <a:t>→ </a:t>
            </a:r>
            <a:r>
              <a:rPr lang="fr-FR" dirty="0" err="1"/>
              <a:t>EfficientNet</a:t>
            </a:r>
            <a:r>
              <a:rPr lang="fr-FR" dirty="0"/>
              <a:t> : efficace, léger, adapté petit </a:t>
            </a:r>
            <a:r>
              <a:rPr lang="fr-FR" dirty="0" err="1"/>
              <a:t>dataset</a:t>
            </a:r>
            <a:r>
              <a:rPr lang="fr-FR" dirty="0"/>
              <a:t> binaire.</a:t>
            </a:r>
            <a:br>
              <a:rPr lang="fr-FR" dirty="0"/>
            </a:br>
            <a:r>
              <a:rPr lang="fr-FR" dirty="0"/>
              <a:t>→ ResNet50 : robuste, largement utilisé, adapté </a:t>
            </a:r>
            <a:r>
              <a:rPr lang="fr-FR" dirty="0" err="1"/>
              <a:t>dataset</a:t>
            </a:r>
            <a:r>
              <a:rPr lang="fr-FR" dirty="0"/>
              <a:t> plus riche.</a:t>
            </a:r>
          </a:p>
          <a:p>
            <a:pPr>
              <a:buFont typeface="Arial" panose="020B0604020202020204" pitchFamily="34" charset="0"/>
              <a:buChar char="•"/>
            </a:pPr>
            <a:r>
              <a:rPr lang="fr-FR" b="1" dirty="0"/>
              <a:t>Pourquoi </a:t>
            </a:r>
            <a:r>
              <a:rPr lang="fr-FR" b="1" dirty="0" err="1"/>
              <a:t>RandomForest</a:t>
            </a:r>
            <a:r>
              <a:rPr lang="fr-FR" b="1" dirty="0"/>
              <a:t> pour le </a:t>
            </a:r>
            <a:r>
              <a:rPr lang="fr-FR" b="1" dirty="0" err="1"/>
              <a:t>stacking</a:t>
            </a:r>
            <a:r>
              <a:rPr lang="fr-FR" b="1" dirty="0"/>
              <a:t> ?</a:t>
            </a:r>
            <a:br>
              <a:rPr lang="fr-FR" dirty="0"/>
            </a:br>
            <a:r>
              <a:rPr lang="fr-FR" dirty="0"/>
              <a:t>→ Interprétable, robuste aux </a:t>
            </a:r>
            <a:r>
              <a:rPr lang="fr-FR" dirty="0" err="1"/>
              <a:t>features</a:t>
            </a:r>
            <a:r>
              <a:rPr lang="fr-FR" dirty="0"/>
              <a:t> hétérogènes (probas + tabulaires), pas besoin de normalisation poussée.</a:t>
            </a:r>
          </a:p>
          <a:p>
            <a:pPr>
              <a:buFont typeface="Arial" panose="020B0604020202020204" pitchFamily="34" charset="0"/>
              <a:buChar char="•"/>
            </a:pPr>
            <a:r>
              <a:rPr lang="fr-FR" b="1" dirty="0"/>
              <a:t>Pourquoi pas </a:t>
            </a:r>
            <a:r>
              <a:rPr lang="fr-FR" b="1" dirty="0" err="1"/>
              <a:t>XGBoost</a:t>
            </a:r>
            <a:r>
              <a:rPr lang="fr-FR" b="1" dirty="0"/>
              <a:t>/</a:t>
            </a:r>
            <a:r>
              <a:rPr lang="fr-FR" b="1" dirty="0" err="1"/>
              <a:t>LightGBM</a:t>
            </a:r>
            <a:r>
              <a:rPr lang="fr-FR" b="1" dirty="0"/>
              <a:t> ?</a:t>
            </a:r>
            <a:br>
              <a:rPr lang="fr-FR" dirty="0"/>
            </a:br>
            <a:r>
              <a:rPr lang="fr-FR" dirty="0"/>
              <a:t>→ Possible, mais </a:t>
            </a:r>
            <a:r>
              <a:rPr lang="fr-FR" dirty="0" err="1"/>
              <a:t>RandomForest</a:t>
            </a:r>
            <a:r>
              <a:rPr lang="fr-FR" dirty="0"/>
              <a:t> est plus stable, moins sensible au tuning, et bien adapté en preuve de concept.</a:t>
            </a:r>
          </a:p>
          <a:p>
            <a:pPr>
              <a:buFont typeface="Arial" panose="020B0604020202020204" pitchFamily="34" charset="0"/>
              <a:buChar char="•"/>
            </a:pPr>
            <a:r>
              <a:rPr lang="fr-FR" b="1" dirty="0"/>
              <a:t>Quel risque principal ?</a:t>
            </a:r>
            <a:br>
              <a:rPr lang="fr-FR" dirty="0"/>
            </a:br>
            <a:r>
              <a:rPr lang="fr-FR" dirty="0"/>
              <a:t>→ Biais lié au déséquilibre et à la représentativité des peaux → modèle moins pertinent pour certains patients.</a:t>
            </a:r>
          </a:p>
        </p:txBody>
      </p:sp>
    </p:spTree>
    <p:extLst>
      <p:ext uri="{BB962C8B-B14F-4D97-AF65-F5344CB8AC3E}">
        <p14:creationId xmlns:p14="http://schemas.microsoft.com/office/powerpoint/2010/main" val="19441300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fr-FR" dirty="0"/>
          </a:p>
        </p:txBody>
      </p:sp>
    </p:spTree>
    <p:extLst>
      <p:ext uri="{BB962C8B-B14F-4D97-AF65-F5344CB8AC3E}">
        <p14:creationId xmlns:p14="http://schemas.microsoft.com/office/powerpoint/2010/main" val="32500787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fr-FR" dirty="0"/>
              <a:t>Les prochaines étapes concernent d’abord l’optimisation technique de nos modèles : hyperparamètres, data augmentation et meilleure gestion des classes rares. En parallèle, nous devons enrichir les données avec plus de diversité de peaux, améliorer l’accessibilité via une app mobile et intégrer le retour des dermatologues pour un apprentissage continu. En conclusion, </a:t>
            </a:r>
            <a:r>
              <a:rPr lang="fr-FR" dirty="0" err="1"/>
              <a:t>SkinCare</a:t>
            </a:r>
            <a:r>
              <a:rPr lang="fr-FR" dirty="0"/>
              <a:t> illustre la faisabilité d’une IA au service de la dermatologie et constitue une brique importante pour la prévention des cancers de la peau.</a:t>
            </a:r>
          </a:p>
        </p:txBody>
      </p:sp>
    </p:spTree>
    <p:extLst>
      <p:ext uri="{BB962C8B-B14F-4D97-AF65-F5344CB8AC3E}">
        <p14:creationId xmlns:p14="http://schemas.microsoft.com/office/powerpoint/2010/main" val="39384000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77ed9f117a_2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 name="Google Shape;108;g77ed9f117a_2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fr"/>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6.jpeg"/><Relationship Id="rId5" Type="http://schemas.openxmlformats.org/officeDocument/2006/relationships/image" Target="../media/image5.jpe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3.jp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3.jpg"/><Relationship Id="rId5" Type="http://schemas.openxmlformats.org/officeDocument/2006/relationships/image" Target="../media/image7.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image" Target="../media/image3.jpg"/><Relationship Id="rId4" Type="http://schemas.openxmlformats.org/officeDocument/2006/relationships/image" Target="../media/image2.pn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huggingface.co/spaces/LoicV17/Skincare-app-certification" TargetMode="External"/></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3.jp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6.jp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5.jpg"/><Relationship Id="rId5" Type="http://schemas.openxmlformats.org/officeDocument/2006/relationships/image" Target="../media/image3.jp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3.jp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image" Target="../media/image3.jp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17.png"/><Relationship Id="rId5" Type="http://schemas.openxmlformats.org/officeDocument/2006/relationships/image" Target="../media/image3.jp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image" Target="../media/image3.jp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735474" y="2062825"/>
            <a:ext cx="8012525" cy="61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fr" sz="3200" dirty="0">
                <a:solidFill>
                  <a:srgbClr val="0E3449"/>
                </a:solidFill>
                <a:latin typeface="Inter SemiBold"/>
                <a:ea typeface="Inter SemiBold"/>
                <a:cs typeface="Inter SemiBold"/>
                <a:sym typeface="Inter SemiBold"/>
              </a:rPr>
              <a:t>BLOC 6 – Gestion Projet DATA</a:t>
            </a:r>
            <a:br>
              <a:rPr lang="fr" sz="3200" dirty="0">
                <a:solidFill>
                  <a:srgbClr val="0E3449"/>
                </a:solidFill>
                <a:latin typeface="Inter SemiBold"/>
                <a:ea typeface="Inter SemiBold"/>
                <a:cs typeface="Inter SemiBold"/>
                <a:sym typeface="Inter SemiBold"/>
              </a:rPr>
            </a:br>
            <a:r>
              <a:rPr lang="fr" sz="3200" i="1" dirty="0">
                <a:solidFill>
                  <a:srgbClr val="0E3449"/>
                </a:solidFill>
                <a:latin typeface="Inter SemiBold"/>
                <a:ea typeface="Inter SemiBold"/>
                <a:cs typeface="Inter SemiBold"/>
                <a:sym typeface="Inter SemiBold"/>
              </a:rPr>
              <a:t>Skincare project</a:t>
            </a:r>
            <a:endParaRPr sz="3200" i="1" dirty="0">
              <a:solidFill>
                <a:srgbClr val="0E3449"/>
              </a:solidFill>
              <a:latin typeface="Inter SemiBold"/>
              <a:ea typeface="Inter SemiBold"/>
              <a:cs typeface="Inter SemiBold"/>
              <a:sym typeface="Inter SemiBold"/>
            </a:endParaRPr>
          </a:p>
        </p:txBody>
      </p:sp>
      <p:pic>
        <p:nvPicPr>
          <p:cNvPr id="55" name="Google Shape;55;p13"/>
          <p:cNvPicPr preferRelativeResize="0"/>
          <p:nvPr/>
        </p:nvPicPr>
        <p:blipFill>
          <a:blip r:embed="rId3">
            <a:alphaModFix/>
          </a:blip>
          <a:stretch>
            <a:fillRect/>
          </a:stretch>
        </p:blipFill>
        <p:spPr>
          <a:xfrm>
            <a:off x="4685550" y="2595750"/>
            <a:ext cx="3818450" cy="2547749"/>
          </a:xfrm>
          <a:prstGeom prst="rect">
            <a:avLst/>
          </a:prstGeom>
          <a:noFill/>
          <a:ln>
            <a:noFill/>
          </a:ln>
        </p:spPr>
      </p:pic>
      <p:pic>
        <p:nvPicPr>
          <p:cNvPr id="56" name="Google Shape;56;p13"/>
          <p:cNvPicPr preferRelativeResize="0"/>
          <p:nvPr/>
        </p:nvPicPr>
        <p:blipFill>
          <a:blip r:embed="rId4">
            <a:alphaModFix/>
          </a:blip>
          <a:stretch>
            <a:fillRect/>
          </a:stretch>
        </p:blipFill>
        <p:spPr>
          <a:xfrm>
            <a:off x="840550" y="787375"/>
            <a:ext cx="973275" cy="651050"/>
          </a:xfrm>
          <a:prstGeom prst="rect">
            <a:avLst/>
          </a:prstGeom>
          <a:noFill/>
          <a:ln>
            <a:noFill/>
          </a:ln>
        </p:spPr>
      </p:pic>
      <p:sp>
        <p:nvSpPr>
          <p:cNvPr id="57" name="Google Shape;57;p13"/>
          <p:cNvSpPr txBox="1">
            <a:spLocks noGrp="1"/>
          </p:cNvSpPr>
          <p:nvPr>
            <p:ph type="ctrTitle"/>
          </p:nvPr>
        </p:nvSpPr>
        <p:spPr>
          <a:xfrm>
            <a:off x="202664" y="4356125"/>
            <a:ext cx="5315100" cy="533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fr" sz="1800" dirty="0">
                <a:solidFill>
                  <a:schemeClr val="lt1"/>
                </a:solidFill>
                <a:latin typeface="Inter Medium"/>
                <a:ea typeface="Inter Medium"/>
                <a:cs typeface="Inter Medium"/>
                <a:sym typeface="Inter Medium"/>
              </a:rPr>
              <a:t>CDSD - Loic Valentini – Août 2025</a:t>
            </a:r>
            <a:endParaRPr sz="1800" dirty="0">
              <a:solidFill>
                <a:schemeClr val="lt1"/>
              </a:solidFill>
              <a:latin typeface="Inter Medium"/>
              <a:ea typeface="Inter Medium"/>
              <a:cs typeface="Inter Medium"/>
              <a:sym typeface="Inter Medium"/>
            </a:endParaRPr>
          </a:p>
        </p:txBody>
      </p:sp>
      <p:sp>
        <p:nvSpPr>
          <p:cNvPr id="2" name="Espace réservé du numéro de diapositive 1">
            <a:extLst>
              <a:ext uri="{FF2B5EF4-FFF2-40B4-BE49-F238E27FC236}">
                <a16:creationId xmlns:a16="http://schemas.microsoft.com/office/drawing/2014/main" id="{7921B91B-F36A-9DD0-A880-2FD685970C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fr-FR" sz="1600" b="1" smtClean="0"/>
              <a:t>1</a:t>
            </a:fld>
            <a:endParaRPr lang="fr-FR" sz="1600"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Shape 67"/>
        <p:cNvGrpSpPr/>
        <p:nvPr/>
      </p:nvGrpSpPr>
      <p:grpSpPr>
        <a:xfrm>
          <a:off x="0" y="0"/>
          <a:ext cx="0" cy="0"/>
          <a:chOff x="0" y="0"/>
          <a:chExt cx="0" cy="0"/>
        </a:xfrm>
      </p:grpSpPr>
      <p:sp>
        <p:nvSpPr>
          <p:cNvPr id="68" name="Google Shape;68;p15"/>
          <p:cNvSpPr txBox="1">
            <a:spLocks noGrp="1"/>
          </p:cNvSpPr>
          <p:nvPr>
            <p:ph type="ctrTitle" idx="4294967295"/>
          </p:nvPr>
        </p:nvSpPr>
        <p:spPr>
          <a:xfrm>
            <a:off x="1063063" y="213002"/>
            <a:ext cx="7672485"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 sz="2500" dirty="0">
                <a:solidFill>
                  <a:srgbClr val="0E3449"/>
                </a:solidFill>
                <a:latin typeface="Inter SemiBold"/>
                <a:ea typeface="Inter SemiBold"/>
                <a:cs typeface="Inter SemiBold"/>
                <a:sym typeface="Inter SemiBold"/>
              </a:rPr>
              <a:t>Objectifs pédagogiques du projet </a:t>
            </a:r>
            <a:endParaRPr sz="2500" dirty="0">
              <a:solidFill>
                <a:srgbClr val="0E3449"/>
              </a:solidFill>
              <a:latin typeface="Inter SemiBold"/>
              <a:ea typeface="Inter SemiBold"/>
              <a:cs typeface="Inter SemiBold"/>
              <a:sym typeface="Inter SemiBold"/>
            </a:endParaRPr>
          </a:p>
        </p:txBody>
      </p:sp>
      <p:sp>
        <p:nvSpPr>
          <p:cNvPr id="69" name="Google Shape;69;p15"/>
          <p:cNvSpPr txBox="1">
            <a:spLocks noGrp="1"/>
          </p:cNvSpPr>
          <p:nvPr>
            <p:ph type="ctrTitle" idx="4294967295"/>
          </p:nvPr>
        </p:nvSpPr>
        <p:spPr>
          <a:xfrm>
            <a:off x="927187" y="993725"/>
            <a:ext cx="7944236" cy="533100"/>
          </a:xfrm>
          <a:prstGeom prst="rect">
            <a:avLst/>
          </a:prstGeom>
        </p:spPr>
        <p:txBody>
          <a:bodyPr spcFirstLastPara="1" wrap="square" lIns="91425" tIns="91425" rIns="91425" bIns="91425" anchor="t" anchorCtr="0">
            <a:noAutofit/>
          </a:bodyPr>
          <a:lstStyle/>
          <a:p>
            <a:r>
              <a:rPr lang="fr-FR" sz="1400" dirty="0">
                <a:latin typeface="Inter Medium" panose="020B0604020202020204" charset="0"/>
                <a:ea typeface="Inter Medium" panose="020B0604020202020204" charset="0"/>
              </a:rPr>
              <a:t>Traduire les enjeux métiers en problématiques data &amp; mathématiques adaptées.</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Maîtriser les technologies récentes via veille et pratique pour proposer les meilleures solutions.</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Piloter un projet data : cahier des charges, budget, rétroplanning, suivi &amp; bilan.</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Garantir conformité &amp; impact : indicateurs, tableaux de bord, respect du RGPD.</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Communiquer &amp; vulgariser les résultats pour orienter la stratégie et accompagner les métiers.</a:t>
            </a:r>
            <a:br>
              <a:rPr lang="fr-FR" sz="800" dirty="0"/>
            </a:br>
            <a:br>
              <a:rPr lang="fr-FR" sz="800" dirty="0"/>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endParaRPr lang="fr-FR" sz="1400" dirty="0">
              <a:latin typeface="Inter Medium" panose="020B0604020202020204" charset="0"/>
              <a:ea typeface="Inter Medium" panose="020B0604020202020204" charset="0"/>
            </a:endParaRPr>
          </a:p>
        </p:txBody>
      </p:sp>
      <p:pic>
        <p:nvPicPr>
          <p:cNvPr id="75" name="Google Shape;75;p15"/>
          <p:cNvPicPr preferRelativeResize="0"/>
          <p:nvPr/>
        </p:nvPicPr>
        <p:blipFill>
          <a:blip r:embed="rId3">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45031"/>
            <a:ext cx="9144000" cy="39839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72;p15">
            <a:extLst>
              <a:ext uri="{FF2B5EF4-FFF2-40B4-BE49-F238E27FC236}">
                <a16:creationId xmlns:a16="http://schemas.microsoft.com/office/drawing/2014/main" id="{9B66071D-AD28-9136-454D-9B33ECE99FA8}"/>
              </a:ext>
            </a:extLst>
          </p:cNvPr>
          <p:cNvSpPr/>
          <p:nvPr/>
        </p:nvSpPr>
        <p:spPr>
          <a:xfrm rot="21244006">
            <a:off x="557603" y="1186931"/>
            <a:ext cx="261199" cy="46747"/>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72;p15">
            <a:extLst>
              <a:ext uri="{FF2B5EF4-FFF2-40B4-BE49-F238E27FC236}">
                <a16:creationId xmlns:a16="http://schemas.microsoft.com/office/drawing/2014/main" id="{0A92A33E-5C0D-9471-660D-EEF056D7FEEB}"/>
              </a:ext>
            </a:extLst>
          </p:cNvPr>
          <p:cNvSpPr/>
          <p:nvPr/>
        </p:nvSpPr>
        <p:spPr>
          <a:xfrm rot="21244006">
            <a:off x="566302" y="2263971"/>
            <a:ext cx="261199" cy="46747"/>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72;p15">
            <a:extLst>
              <a:ext uri="{FF2B5EF4-FFF2-40B4-BE49-F238E27FC236}">
                <a16:creationId xmlns:a16="http://schemas.microsoft.com/office/drawing/2014/main" id="{B1894868-8F62-D5B9-ADF5-75C6F5190CCF}"/>
              </a:ext>
            </a:extLst>
          </p:cNvPr>
          <p:cNvSpPr/>
          <p:nvPr/>
        </p:nvSpPr>
        <p:spPr>
          <a:xfrm rot="21244006">
            <a:off x="557603" y="3103482"/>
            <a:ext cx="261199" cy="46747"/>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37854"/>
            <a:ext cx="548700" cy="393600"/>
          </a:xfrm>
        </p:spPr>
        <p:txBody>
          <a:bodyPr/>
          <a:lstStyle/>
          <a:p>
            <a:pPr marL="0" lvl="0" indent="0" algn="r" rtl="0">
              <a:spcBef>
                <a:spcPts val="0"/>
              </a:spcBef>
              <a:spcAft>
                <a:spcPts val="0"/>
              </a:spcAft>
              <a:buNone/>
            </a:pPr>
            <a:fld id="{00000000-1234-1234-1234-123412341234}" type="slidenum">
              <a:rPr lang="fr-FR" sz="1600" b="1" smtClean="0"/>
              <a:t>2</a:t>
            </a:fld>
            <a:endParaRPr lang="fr-FR" sz="1600" b="1" dirty="0"/>
          </a:p>
        </p:txBody>
      </p:sp>
      <p:pic>
        <p:nvPicPr>
          <p:cNvPr id="6" name="Image 5" descr="Une image contenant clipart, Graphique, logo, texte&#10;&#10;Le contenu généré par l’IA peut être incorrect.">
            <a:extLst>
              <a:ext uri="{FF2B5EF4-FFF2-40B4-BE49-F238E27FC236}">
                <a16:creationId xmlns:a16="http://schemas.microsoft.com/office/drawing/2014/main" id="{4089C729-03A6-E706-1BA8-03194511F453}"/>
              </a:ext>
            </a:extLst>
          </p:cNvPr>
          <p:cNvPicPr>
            <a:picLocks noChangeAspect="1"/>
          </p:cNvPicPr>
          <p:nvPr/>
        </p:nvPicPr>
        <p:blipFill>
          <a:blip r:embed="rId4"/>
          <a:stretch>
            <a:fillRect/>
          </a:stretch>
        </p:blipFill>
        <p:spPr>
          <a:xfrm>
            <a:off x="-3905" y="4590895"/>
            <a:ext cx="548700" cy="540559"/>
          </a:xfrm>
          <a:prstGeom prst="rect">
            <a:avLst/>
          </a:prstGeom>
        </p:spPr>
      </p:pic>
      <p:sp>
        <p:nvSpPr>
          <p:cNvPr id="7" name="Google Shape;72;p15">
            <a:extLst>
              <a:ext uri="{FF2B5EF4-FFF2-40B4-BE49-F238E27FC236}">
                <a16:creationId xmlns:a16="http://schemas.microsoft.com/office/drawing/2014/main" id="{87614205-3139-8425-A378-75E743DA7626}"/>
              </a:ext>
            </a:extLst>
          </p:cNvPr>
          <p:cNvSpPr/>
          <p:nvPr/>
        </p:nvSpPr>
        <p:spPr>
          <a:xfrm rot="21244006">
            <a:off x="557603" y="1624728"/>
            <a:ext cx="261199" cy="46747"/>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72;p15">
            <a:extLst>
              <a:ext uri="{FF2B5EF4-FFF2-40B4-BE49-F238E27FC236}">
                <a16:creationId xmlns:a16="http://schemas.microsoft.com/office/drawing/2014/main" id="{C53DE26A-B3A8-0981-7F23-9E4A54C20E59}"/>
              </a:ext>
            </a:extLst>
          </p:cNvPr>
          <p:cNvSpPr/>
          <p:nvPr/>
        </p:nvSpPr>
        <p:spPr>
          <a:xfrm rot="21244006">
            <a:off x="566303" y="2667258"/>
            <a:ext cx="261199" cy="46747"/>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3" name="Picture 4">
            <a:extLst>
              <a:ext uri="{FF2B5EF4-FFF2-40B4-BE49-F238E27FC236}">
                <a16:creationId xmlns:a16="http://schemas.microsoft.com/office/drawing/2014/main" id="{3DE72ED5-C0DC-083A-6783-F1079B378357}"/>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7841346" y="5246416"/>
            <a:ext cx="2239700" cy="1493133"/>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09454" y="1235681"/>
            <a:ext cx="8137354" cy="642503"/>
          </a:xfrm>
          <a:prstGeom prst="rect">
            <a:avLst/>
          </a:prstGeom>
        </p:spPr>
        <p:txBody>
          <a:bodyPr spcFirstLastPara="1" wrap="square" lIns="91425" tIns="91425" rIns="91425" bIns="91425" anchor="t" anchorCtr="0">
            <a:noAutofit/>
          </a:bodyPr>
          <a:lstStyle/>
          <a:p>
            <a:r>
              <a:rPr lang="fr-FR" sz="2400" dirty="0">
                <a:latin typeface="Inter Medium" panose="020B0604020202020204" charset="0"/>
                <a:ea typeface="Inter Medium" panose="020B0604020202020204" charset="0"/>
              </a:rPr>
              <a:t>Derrière une simple tâche peut se cacher un cancer.</a:t>
            </a:r>
            <a:br>
              <a:rPr lang="fr-FR" sz="2400" dirty="0">
                <a:latin typeface="Inter Medium" panose="020B0604020202020204" charset="0"/>
                <a:ea typeface="Inter Medium" panose="020B0604020202020204" charset="0"/>
              </a:rPr>
            </a:br>
            <a:br>
              <a:rPr lang="fr-FR" sz="2400" dirty="0">
                <a:latin typeface="Inter Medium" panose="020B0604020202020204" charset="0"/>
                <a:ea typeface="Inter Medium" panose="020B0604020202020204" charset="0"/>
              </a:rPr>
            </a:br>
            <a:br>
              <a:rPr lang="fr-FR" sz="1050" dirty="0"/>
            </a:br>
            <a:br>
              <a:rPr lang="en-US" sz="2400" b="1" dirty="0">
                <a:latin typeface="Inter Medium" panose="020B0604020202020204" charset="0"/>
                <a:ea typeface="Inter Medium" panose="020B0604020202020204" charset="0"/>
              </a:rPr>
            </a:br>
            <a:br>
              <a:rPr lang="en-US" sz="2400" b="1" dirty="0">
                <a:latin typeface="Inter Medium" panose="020B0604020202020204" charset="0"/>
                <a:ea typeface="Inter Medium" panose="020B0604020202020204" charset="0"/>
              </a:rPr>
            </a:br>
            <a:br>
              <a:rPr lang="en-US" sz="2400" dirty="0">
                <a:latin typeface="Inter Medium" panose="020B0604020202020204" charset="0"/>
                <a:ea typeface="Inter Medium" panose="020B0604020202020204" charset="0"/>
              </a:rPr>
            </a:br>
            <a:r>
              <a:rPr lang="en-US" sz="2400" i="1" dirty="0">
                <a:latin typeface="Inter Medium" panose="020B0604020202020204" charset="0"/>
                <a:ea typeface="Inter Medium" panose="020B0604020202020204" charset="0"/>
              </a:rPr>
              <a:t>« If detected early, the five-year survival rate for melanoma is 99 %. »</a:t>
            </a:r>
            <a:r>
              <a:rPr lang="en-US" sz="2400" dirty="0">
                <a:latin typeface="Inter Medium" panose="020B0604020202020204" charset="0"/>
                <a:ea typeface="Inter Medium" panose="020B0604020202020204" charset="0"/>
              </a:rPr>
              <a:t> — Dr. Jones, AMA</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3</a:t>
            </a:fld>
            <a:endParaRPr lang="fr-FR" sz="1600" b="1" dirty="0"/>
          </a:p>
        </p:txBody>
      </p:sp>
      <p:pic>
        <p:nvPicPr>
          <p:cNvPr id="5122" name="Picture 2" descr="Melanoma: Causes and Treatments | Skin Marceau Clinic | Paris">
            <a:extLst>
              <a:ext uri="{FF2B5EF4-FFF2-40B4-BE49-F238E27FC236}">
                <a16:creationId xmlns:a16="http://schemas.microsoft.com/office/drawing/2014/main" id="{D963800C-5B65-D19C-2A72-F9143C22A14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770360" y="1934858"/>
            <a:ext cx="1391861" cy="1181150"/>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descr="Nevus - Dermatology - Medbullets Step 1">
            <a:extLst>
              <a:ext uri="{FF2B5EF4-FFF2-40B4-BE49-F238E27FC236}">
                <a16:creationId xmlns:a16="http://schemas.microsoft.com/office/drawing/2014/main" id="{9B0A4AD3-53D1-4038-64B5-F12603D6D69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82225" y="1934858"/>
            <a:ext cx="2011601" cy="1181150"/>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 3" descr="Une image contenant clipart, Graphique, logo, texte&#10;&#10;Le contenu généré par l’IA peut être incorrect.">
            <a:extLst>
              <a:ext uri="{FF2B5EF4-FFF2-40B4-BE49-F238E27FC236}">
                <a16:creationId xmlns:a16="http://schemas.microsoft.com/office/drawing/2014/main" id="{2CA89CC9-CBD0-9E62-F527-774120B7D178}"/>
              </a:ext>
            </a:extLst>
          </p:cNvPr>
          <p:cNvPicPr>
            <a:picLocks noChangeAspect="1"/>
          </p:cNvPicPr>
          <p:nvPr/>
        </p:nvPicPr>
        <p:blipFill>
          <a:blip r:embed="rId7"/>
          <a:stretch>
            <a:fillRect/>
          </a:stretch>
        </p:blipFill>
        <p:spPr>
          <a:xfrm>
            <a:off x="-3905" y="4590895"/>
            <a:ext cx="548700" cy="540559"/>
          </a:xfrm>
          <a:prstGeom prst="rect">
            <a:avLst/>
          </a:prstGeom>
        </p:spPr>
      </p:pic>
    </p:spTree>
    <p:extLst>
      <p:ext uri="{BB962C8B-B14F-4D97-AF65-F5344CB8AC3E}">
        <p14:creationId xmlns:p14="http://schemas.microsoft.com/office/powerpoint/2010/main" val="37411077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r>
              <a:rPr lang="fr-FR" sz="1400" dirty="0"/>
              <a:t>📊</a:t>
            </a:r>
            <a:r>
              <a:rPr lang="fr-FR" sz="1400" dirty="0">
                <a:latin typeface="Inter Medium" panose="020B0604020202020204" charset="0"/>
                <a:ea typeface="Inter Medium" panose="020B0604020202020204" charset="0"/>
              </a:rPr>
              <a:t> </a:t>
            </a:r>
            <a:r>
              <a:rPr lang="fr-FR" sz="1400" b="1" dirty="0">
                <a:latin typeface="Inter Medium" panose="020B0604020202020204" charset="0"/>
                <a:ea typeface="Inter Medium" panose="020B0604020202020204" charset="0"/>
              </a:rPr>
              <a:t>Chiffres clés</a:t>
            </a:r>
            <a:r>
              <a:rPr lang="fr-FR" sz="1400" dirty="0"/>
              <a:t>📊</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b="1" u="sng" dirty="0">
                <a:latin typeface="Inter Medium" panose="020B0604020202020204" charset="0"/>
                <a:ea typeface="Inter Medium" panose="020B0604020202020204" charset="0"/>
              </a:rPr>
              <a:t>France (2022) </a:t>
            </a:r>
            <a:r>
              <a:rPr lang="fr-FR" sz="1200" dirty="0">
                <a:latin typeface="Inter Medium" panose="020B0604020202020204" charset="0"/>
                <a:ea typeface="Inter Medium" panose="020B0604020202020204" charset="0"/>
              </a:rPr>
              <a:t>: 80 000 nouveaux cas de cancer de la peau sur l’année</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b="1" u="sng" dirty="0">
                <a:latin typeface="Inter Medium" panose="020B0604020202020204" charset="0"/>
                <a:ea typeface="Inter Medium" panose="020B0604020202020204" charset="0"/>
              </a:rPr>
              <a:t>Europe </a:t>
            </a:r>
            <a:r>
              <a:rPr lang="fr-FR" sz="1200" dirty="0">
                <a:latin typeface="Inter Medium" panose="020B0604020202020204" charset="0"/>
                <a:ea typeface="Inter Medium" panose="020B0604020202020204" charset="0"/>
              </a:rPr>
              <a:t>: 1 cancer sur 3 est un cancer de la peau -&gt; +40% incidence (nouveaux cas) et +50% mortalité attendus</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b="1" u="sng" dirty="0">
                <a:latin typeface="Inter Medium" panose="020B0604020202020204" charset="0"/>
                <a:ea typeface="Inter Medium" panose="020B0604020202020204" charset="0"/>
              </a:rPr>
              <a:t>Monde (2022) </a:t>
            </a:r>
            <a:r>
              <a:rPr lang="fr-FR" sz="1200" dirty="0">
                <a:latin typeface="Inter Medium" panose="020B0604020202020204" charset="0"/>
                <a:ea typeface="Inter Medium" panose="020B0604020202020204" charset="0"/>
              </a:rPr>
              <a:t>: 330 000 nouveaux cas de mélanome et 60 000 décès sur l’année</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400" dirty="0"/>
              <a:t>🩺 </a:t>
            </a:r>
            <a:r>
              <a:rPr lang="fr-FR" sz="1400" b="1" dirty="0">
                <a:latin typeface="Inter Medium" panose="020B0604020202020204" charset="0"/>
                <a:ea typeface="Inter Medium" panose="020B0604020202020204" charset="0"/>
              </a:rPr>
              <a:t>Accès aux diagnostics </a:t>
            </a:r>
            <a:r>
              <a:rPr lang="fr-FR" sz="1400" dirty="0"/>
              <a:t>🩺</a:t>
            </a:r>
            <a:r>
              <a:rPr lang="fr-FR" sz="1400" dirty="0">
                <a:latin typeface="Inter Medium" panose="020B0604020202020204" charset="0"/>
                <a:ea typeface="Inter Medium" panose="020B0604020202020204" charset="0"/>
              </a:rPr>
              <a:t> </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dirty="0">
                <a:latin typeface="Inter Medium" panose="020B0604020202020204" charset="0"/>
                <a:ea typeface="Inter Medium" panose="020B0604020202020204" charset="0"/>
              </a:rPr>
              <a:t>En France, les délais pour obtenir un rendez-vous chez un dermatologue se comptent souvent en plusieurs mois, retardant ainsi le diagnostic précoce.</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dirty="0">
                <a:latin typeface="Inter Medium" panose="020B0604020202020204" charset="0"/>
                <a:ea typeface="Inter Medium" panose="020B0604020202020204" charset="0"/>
              </a:rPr>
              <a:t>Cette difficulté d’accès est également constatée à l’échelle européenne, et se révèle encore plus marquée dans de nombreux pays à travers le monde.</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1063063" y="213002"/>
            <a:ext cx="6943337"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Quelques clés de compréhension</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4</a:t>
            </a:fld>
            <a:endParaRPr lang="fr-FR" sz="1600" b="1" dirty="0"/>
          </a:p>
        </p:txBody>
      </p:sp>
      <p:pic>
        <p:nvPicPr>
          <p:cNvPr id="2" name="Image 1" descr="Une image contenant clipart, Graphique, logo, texte&#10;&#10;Le contenu généré par l’IA peut être incorrect.">
            <a:extLst>
              <a:ext uri="{FF2B5EF4-FFF2-40B4-BE49-F238E27FC236}">
                <a16:creationId xmlns:a16="http://schemas.microsoft.com/office/drawing/2014/main" id="{DA75DF02-C964-295B-6CC0-5BC3BC054724}"/>
              </a:ext>
            </a:extLst>
          </p:cNvPr>
          <p:cNvPicPr>
            <a:picLocks noChangeAspect="1"/>
          </p:cNvPicPr>
          <p:nvPr/>
        </p:nvPicPr>
        <p:blipFill>
          <a:blip r:embed="rId5"/>
          <a:stretch>
            <a:fillRect/>
          </a:stretch>
        </p:blipFill>
        <p:spPr>
          <a:xfrm>
            <a:off x="-3905" y="4590895"/>
            <a:ext cx="548700" cy="540559"/>
          </a:xfrm>
          <a:prstGeom prst="rect">
            <a:avLst/>
          </a:prstGeom>
        </p:spPr>
      </p:pic>
    </p:spTree>
    <p:extLst>
      <p:ext uri="{BB962C8B-B14F-4D97-AF65-F5344CB8AC3E}">
        <p14:creationId xmlns:p14="http://schemas.microsoft.com/office/powerpoint/2010/main" val="11861912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r>
              <a:rPr lang="fr-FR" sz="1600" dirty="0">
                <a:latin typeface="Inter Medium" panose="020B0604020202020204" charset="0"/>
                <a:ea typeface="Inter Medium" panose="020B0604020202020204" charset="0"/>
              </a:rPr>
              <a:t>✨ </a:t>
            </a:r>
            <a:r>
              <a:rPr lang="fr-FR" sz="1600" b="1" dirty="0">
                <a:latin typeface="Inter Medium" panose="020B0604020202020204" charset="0"/>
                <a:ea typeface="Inter Medium" panose="020B0604020202020204" charset="0"/>
              </a:rPr>
              <a:t>Notre mission</a:t>
            </a:r>
            <a:r>
              <a:rPr lang="fr-FR" sz="1600" dirty="0">
                <a:latin typeface="Inter Medium" panose="020B0604020202020204" charset="0"/>
                <a:ea typeface="Inter Medium" panose="020B0604020202020204" charset="0"/>
              </a:rPr>
              <a:t> ✨</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Offrir un outil en ligne simple et accessible, capable d’évaluer de manière fiable la criticité d’une lésion cutanée (tache, grain de beauté…), afin de favoriser un </a:t>
            </a:r>
            <a:r>
              <a:rPr lang="fr-FR" sz="1400" dirty="0" err="1">
                <a:latin typeface="Inter Medium" panose="020B0604020202020204" charset="0"/>
                <a:ea typeface="Inter Medium" panose="020B0604020202020204" charset="0"/>
              </a:rPr>
              <a:t>auto-diagnostic</a:t>
            </a:r>
            <a:r>
              <a:rPr lang="fr-FR" sz="1400" dirty="0">
                <a:latin typeface="Inter Medium" panose="020B0604020202020204" charset="0"/>
                <a:ea typeface="Inter Medium" panose="020B0604020202020204" charset="0"/>
              </a:rPr>
              <a:t> précoce et d’accompagner chacun dans la prévention des cancers de la peau.</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C’est dans cette perspective qu’est né le projet </a:t>
            </a:r>
            <a:r>
              <a:rPr lang="fr-FR" sz="1400" b="1" dirty="0" err="1">
                <a:latin typeface="Inter Medium" panose="020B0604020202020204" charset="0"/>
                <a:ea typeface="Inter Medium" panose="020B0604020202020204" charset="0"/>
              </a:rPr>
              <a:t>Skincare</a:t>
            </a:r>
            <a:r>
              <a:rPr lang="fr-FR" sz="1400" dirty="0">
                <a:latin typeface="Inter Medium" panose="020B0604020202020204" charset="0"/>
                <a:ea typeface="Inter Medium" panose="020B0604020202020204" charset="0"/>
              </a:rPr>
              <a:t>.</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1063063" y="213002"/>
            <a:ext cx="6943337" cy="533100"/>
          </a:xfrm>
          <a:prstGeom prst="rect">
            <a:avLst/>
          </a:prstGeom>
        </p:spPr>
        <p:txBody>
          <a:bodyPr spcFirstLastPara="1" wrap="square" lIns="91425" tIns="91425" rIns="91425" bIns="91425" anchor="t" anchorCtr="0">
            <a:noAutofit/>
          </a:bodyPr>
          <a:lstStyle/>
          <a:p>
            <a:pPr algn="ctr"/>
            <a:r>
              <a:rPr lang="fr-FR" sz="2500" dirty="0">
                <a:solidFill>
                  <a:srgbClr val="0E3449"/>
                </a:solidFill>
                <a:latin typeface="Inter SemiBold"/>
                <a:ea typeface="Inter SemiBold"/>
                <a:cs typeface="Inter SemiBold"/>
                <a:sym typeface="Inter SemiBold"/>
              </a:rPr>
              <a:t>Groupe de travail </a:t>
            </a:r>
            <a:r>
              <a:rPr lang="fr-FR" sz="2500" dirty="0" err="1">
                <a:solidFill>
                  <a:srgbClr val="0E3449"/>
                </a:solidFill>
                <a:latin typeface="Inter SemiBold"/>
                <a:ea typeface="Inter SemiBold"/>
                <a:cs typeface="Inter SemiBold"/>
                <a:sym typeface="Inter SemiBold"/>
              </a:rPr>
              <a:t>Skincare</a:t>
            </a:r>
            <a:r>
              <a:rPr lang="fr-FR" sz="2500" dirty="0">
                <a:solidFill>
                  <a:srgbClr val="0E3449"/>
                </a:solidFill>
                <a:latin typeface="Inter SemiBold"/>
                <a:ea typeface="Inter SemiBold"/>
                <a:cs typeface="Inter SemiBold"/>
                <a:sym typeface="Inter SemiBold"/>
              </a:rPr>
              <a:t> : </a:t>
            </a:r>
            <a:br>
              <a:rPr lang="fr-FR" sz="2500" dirty="0">
                <a:solidFill>
                  <a:srgbClr val="0E3449"/>
                </a:solidFill>
                <a:latin typeface="Inter SemiBold"/>
                <a:ea typeface="Inter SemiBold"/>
                <a:cs typeface="Inter SemiBold"/>
                <a:sym typeface="Inter SemiBold"/>
              </a:rPr>
            </a:br>
            <a:r>
              <a:rPr lang="fr-FR" sz="2500" dirty="0">
                <a:solidFill>
                  <a:srgbClr val="0E3449"/>
                </a:solidFill>
                <a:latin typeface="Inter SemiBold"/>
                <a:ea typeface="Inter SemiBold"/>
                <a:cs typeface="Inter SemiBold"/>
                <a:sym typeface="Inter SemiBold"/>
              </a:rPr>
              <a:t>Besoin médical et opportunité e-santé</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5</a:t>
            </a:fld>
            <a:endParaRPr lang="fr-FR" sz="1600" b="1" dirty="0"/>
          </a:p>
        </p:txBody>
      </p:sp>
      <p:pic>
        <p:nvPicPr>
          <p:cNvPr id="7" name="Image 6">
            <a:extLst>
              <a:ext uri="{FF2B5EF4-FFF2-40B4-BE49-F238E27FC236}">
                <a16:creationId xmlns:a16="http://schemas.microsoft.com/office/drawing/2014/main" id="{C0DFD706-87CD-845E-387F-047729E86BB7}"/>
              </a:ext>
            </a:extLst>
          </p:cNvPr>
          <p:cNvPicPr>
            <a:picLocks noChangeAspect="1"/>
          </p:cNvPicPr>
          <p:nvPr/>
        </p:nvPicPr>
        <p:blipFill>
          <a:blip r:embed="rId5">
            <a:alphaModFix amt="85000"/>
          </a:blip>
          <a:stretch>
            <a:fillRect/>
          </a:stretch>
        </p:blipFill>
        <p:spPr>
          <a:xfrm>
            <a:off x="6125798" y="2303306"/>
            <a:ext cx="2346660" cy="721742"/>
          </a:xfrm>
          <a:prstGeom prst="rect">
            <a:avLst/>
          </a:prstGeom>
        </p:spPr>
      </p:pic>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6"/>
          <a:stretch>
            <a:fillRect/>
          </a:stretch>
        </p:blipFill>
        <p:spPr>
          <a:xfrm>
            <a:off x="-3905" y="4590895"/>
            <a:ext cx="548700" cy="540559"/>
          </a:xfrm>
          <a:prstGeom prst="rect">
            <a:avLst/>
          </a:prstGeom>
        </p:spPr>
      </p:pic>
      <p:graphicFrame>
        <p:nvGraphicFramePr>
          <p:cNvPr id="2" name="Tableau 1">
            <a:extLst>
              <a:ext uri="{FF2B5EF4-FFF2-40B4-BE49-F238E27FC236}">
                <a16:creationId xmlns:a16="http://schemas.microsoft.com/office/drawing/2014/main" id="{07FD4BEA-014A-4613-1575-646ED3C5CE7A}"/>
              </a:ext>
            </a:extLst>
          </p:cNvPr>
          <p:cNvGraphicFramePr>
            <a:graphicFrameLocks noGrp="1"/>
          </p:cNvGraphicFramePr>
          <p:nvPr>
            <p:extLst>
              <p:ext uri="{D42A27DB-BD31-4B8C-83A1-F6EECF244321}">
                <p14:modId xmlns:p14="http://schemas.microsoft.com/office/powerpoint/2010/main" val="1363314608"/>
              </p:ext>
            </p:extLst>
          </p:nvPr>
        </p:nvGraphicFramePr>
        <p:xfrm>
          <a:off x="544795" y="3235161"/>
          <a:ext cx="8466860" cy="1315720"/>
        </p:xfrm>
        <a:graphic>
          <a:graphicData uri="http://schemas.openxmlformats.org/drawingml/2006/table">
            <a:tbl>
              <a:tblPr firstRow="1" bandRow="1">
                <a:tableStyleId>{8A107856-5554-42FB-B03E-39F5DBC370BA}</a:tableStyleId>
              </a:tblPr>
              <a:tblGrid>
                <a:gridCol w="3733068">
                  <a:extLst>
                    <a:ext uri="{9D8B030D-6E8A-4147-A177-3AD203B41FA5}">
                      <a16:colId xmlns:a16="http://schemas.microsoft.com/office/drawing/2014/main" val="612989088"/>
                    </a:ext>
                  </a:extLst>
                </a:gridCol>
                <a:gridCol w="4733792">
                  <a:extLst>
                    <a:ext uri="{9D8B030D-6E8A-4147-A177-3AD203B41FA5}">
                      <a16:colId xmlns:a16="http://schemas.microsoft.com/office/drawing/2014/main" val="1441196495"/>
                    </a:ext>
                  </a:extLst>
                </a:gridCol>
              </a:tblGrid>
              <a:tr h="370840">
                <a:tc>
                  <a:txBody>
                    <a:bodyPr/>
                    <a:lstStyle/>
                    <a:p>
                      <a:pPr algn="ctr"/>
                      <a:r>
                        <a:rPr lang="fr-FR" sz="1400" dirty="0"/>
                        <a:t>🩺 </a:t>
                      </a:r>
                      <a:r>
                        <a:rPr lang="fr-FR" sz="1400" b="1" dirty="0"/>
                        <a:t>Besoins médicaux</a:t>
                      </a:r>
                      <a:r>
                        <a:rPr lang="fr-FR" sz="1400" dirty="0"/>
                        <a:t> 🩺</a:t>
                      </a:r>
                      <a:endParaRPr lang="fr-FR" dirty="0"/>
                    </a:p>
                  </a:txBody>
                  <a:tcPr anchor="ctr">
                    <a:noFill/>
                  </a:tcPr>
                </a:tc>
                <a:tc>
                  <a:txBody>
                    <a:bodyPr/>
                    <a:lstStyle/>
                    <a:p>
                      <a:pPr algn="ctr"/>
                      <a:r>
                        <a:rPr lang="fr-FR" sz="1400" dirty="0"/>
                        <a:t>🌐 </a:t>
                      </a:r>
                      <a:r>
                        <a:rPr lang="fr-FR" sz="1400" b="1" dirty="0"/>
                        <a:t>Enjeux business</a:t>
                      </a:r>
                      <a:r>
                        <a:rPr lang="fr-FR" sz="1400" dirty="0"/>
                        <a:t> 🌐 </a:t>
                      </a:r>
                      <a:endParaRPr lang="fr-FR" dirty="0"/>
                    </a:p>
                  </a:txBody>
                  <a:tcPr anchor="ctr">
                    <a:noFill/>
                  </a:tcPr>
                </a:tc>
                <a:extLst>
                  <a:ext uri="{0D108BD9-81ED-4DB2-BD59-A6C34878D82A}">
                    <a16:rowId xmlns:a16="http://schemas.microsoft.com/office/drawing/2014/main" val="2524571216"/>
                  </a:ext>
                </a:extLst>
              </a:tr>
              <a:tr h="370840">
                <a:tc>
                  <a:txBody>
                    <a:bodyPr/>
                    <a:lstStyle/>
                    <a:p>
                      <a:r>
                        <a:rPr lang="fr-FR" sz="1400" i="1" dirty="0"/>
                        <a:t>- Diagnostic précoce des lésions cutanées</a:t>
                      </a:r>
                      <a:br>
                        <a:rPr lang="fr-FR" sz="1400" i="1" dirty="0"/>
                      </a:br>
                      <a:r>
                        <a:rPr lang="fr-FR" sz="1400" i="1" dirty="0"/>
                        <a:t>- Réduction de la mortalité liée au mélanome</a:t>
                      </a:r>
                      <a:br>
                        <a:rPr lang="fr-FR" sz="1400" i="1" dirty="0"/>
                      </a:br>
                      <a:r>
                        <a:rPr lang="fr-FR" sz="1400" i="1" dirty="0"/>
                        <a:t>- Faciliter l’accès aux soins malgré les délais dermatologiques</a:t>
                      </a:r>
                      <a:endParaRPr lang="fr-FR" i="1" dirty="0"/>
                    </a:p>
                  </a:txBody>
                  <a:tcPr>
                    <a:noFill/>
                  </a:tcPr>
                </a:tc>
                <a:tc>
                  <a:txBody>
                    <a:bodyPr/>
                    <a:lstStyle/>
                    <a:p>
                      <a:r>
                        <a:rPr lang="fr-FR" sz="1400" i="1" dirty="0"/>
                        <a:t>- Croissance du marché des solutions digitales de santé</a:t>
                      </a:r>
                      <a:br>
                        <a:rPr lang="fr-FR" sz="1400" i="1" dirty="0"/>
                      </a:br>
                      <a:r>
                        <a:rPr lang="fr-FR" sz="1400" i="1" dirty="0"/>
                        <a:t>- Place clé de l’IA dans la prévention et l’aide au diagnostic</a:t>
                      </a:r>
                      <a:br>
                        <a:rPr lang="fr-FR" sz="1400" i="1" dirty="0"/>
                      </a:br>
                      <a:r>
                        <a:rPr lang="fr-FR" sz="1400" i="1" dirty="0"/>
                        <a:t>- Différenciation par l’innovation et la confiance utilisateur</a:t>
                      </a:r>
                      <a:endParaRPr lang="fr-FR" i="1" dirty="0"/>
                    </a:p>
                  </a:txBody>
                  <a:tcPr>
                    <a:noFill/>
                  </a:tcPr>
                </a:tc>
                <a:extLst>
                  <a:ext uri="{0D108BD9-81ED-4DB2-BD59-A6C34878D82A}">
                    <a16:rowId xmlns:a16="http://schemas.microsoft.com/office/drawing/2014/main" val="4222181130"/>
                  </a:ext>
                </a:extLst>
              </a:tr>
            </a:tbl>
          </a:graphicData>
        </a:graphic>
      </p:graphicFrame>
    </p:spTree>
    <p:extLst>
      <p:ext uri="{BB962C8B-B14F-4D97-AF65-F5344CB8AC3E}">
        <p14:creationId xmlns:p14="http://schemas.microsoft.com/office/powerpoint/2010/main" val="841409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5000"/>
            <a:extLst>
              <a:ext uri="{28A0092B-C50C-407E-A947-70E740481C1C}">
                <a14:useLocalDpi xmlns:a14="http://schemas.microsoft.com/office/drawing/2010/main" val="0"/>
              </a:ext>
            </a:extLst>
          </a:blip>
          <a:srcRect/>
          <a:stretch>
            <a:fillRect/>
          </a:stretch>
        </p:blipFill>
        <p:spPr bwMode="auto">
          <a:xfrm>
            <a:off x="5805215" y="3149858"/>
            <a:ext cx="3273135" cy="2182090"/>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970203" y="-30472"/>
            <a:ext cx="2059919" cy="166386"/>
          </a:xfrm>
          <a:prstGeom prst="rect">
            <a:avLst/>
          </a:prstGeom>
        </p:spPr>
        <p:txBody>
          <a:bodyPr spcFirstLastPara="1" wrap="square" lIns="91425" tIns="91425" rIns="91425" bIns="91425" anchor="t" anchorCtr="0">
            <a:noAutofit/>
          </a:bodyPr>
          <a:lstStyle/>
          <a:p>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dirty="0">
                <a:latin typeface="Inter Medium" panose="020B0604020202020204" charset="0"/>
                <a:ea typeface="Inter Medium" panose="020B0604020202020204" charset="0"/>
              </a:rPr>
              <a:t>                  </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1063063" y="213002"/>
            <a:ext cx="6943337"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Les bénéfices</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6</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pic>
        <p:nvPicPr>
          <p:cNvPr id="3074" name="Picture 2" descr="Patient - Icônes soins de santé et médical gratuites">
            <a:extLst>
              <a:ext uri="{FF2B5EF4-FFF2-40B4-BE49-F238E27FC236}">
                <a16:creationId xmlns:a16="http://schemas.microsoft.com/office/drawing/2014/main" id="{D1B8EBB6-FF11-FDE3-0284-A1BB9808434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59815" y="1549189"/>
            <a:ext cx="1765240" cy="1765240"/>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Médecin - Icônes utilisateur gratuites">
            <a:extLst>
              <a:ext uri="{FF2B5EF4-FFF2-40B4-BE49-F238E27FC236}">
                <a16:creationId xmlns:a16="http://schemas.microsoft.com/office/drawing/2014/main" id="{23949575-913B-3DD2-14DA-C03ACEDEFE5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92385" y="1549189"/>
            <a:ext cx="1765240" cy="1765240"/>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descr="assurance-maladie-logo-png - Science Accueil">
            <a:extLst>
              <a:ext uri="{FF2B5EF4-FFF2-40B4-BE49-F238E27FC236}">
                <a16:creationId xmlns:a16="http://schemas.microsoft.com/office/drawing/2014/main" id="{310FD8B2-2991-FCC3-CE15-ED41100086DE}"/>
              </a:ext>
            </a:extLst>
          </p:cNvPr>
          <p:cNvPicPr>
            <a:picLocks noChangeAspect="1" noChangeArrowheads="1"/>
          </p:cNvPicPr>
          <p:nvPr/>
        </p:nvPicPr>
        <p:blipFill>
          <a:blip r:embed="rId8">
            <a:biLevel thresh="75000"/>
            <a:extLst>
              <a:ext uri="{28A0092B-C50C-407E-A947-70E740481C1C}">
                <a14:useLocalDpi xmlns:a14="http://schemas.microsoft.com/office/drawing/2010/main" val="0"/>
              </a:ext>
            </a:extLst>
          </a:blip>
          <a:srcRect/>
          <a:stretch>
            <a:fillRect/>
          </a:stretch>
        </p:blipFill>
        <p:spPr bwMode="auto">
          <a:xfrm>
            <a:off x="4285802" y="1845484"/>
            <a:ext cx="2684401" cy="1227088"/>
          </a:xfrm>
          <a:prstGeom prst="rect">
            <a:avLst/>
          </a:prstGeom>
          <a:noFill/>
          <a:extLst>
            <a:ext uri="{909E8E84-426E-40DD-AFC4-6F175D3DCCD1}">
              <a14:hiddenFill xmlns:a14="http://schemas.microsoft.com/office/drawing/2010/main">
                <a:solidFill>
                  <a:srgbClr val="FFFFFF"/>
                </a:solidFill>
              </a14:hiddenFill>
            </a:ext>
          </a:extLst>
        </p:spPr>
      </p:pic>
      <p:pic>
        <p:nvPicPr>
          <p:cNvPr id="3086" name="Picture 14">
            <a:extLst>
              <a:ext uri="{FF2B5EF4-FFF2-40B4-BE49-F238E27FC236}">
                <a16:creationId xmlns:a16="http://schemas.microsoft.com/office/drawing/2014/main" id="{62A9E3ED-1A5C-A0D3-3062-B2DDF150950C}"/>
              </a:ext>
            </a:extLst>
          </p:cNvPr>
          <p:cNvPicPr>
            <a:picLocks noChangeAspect="1" noChangeArrowheads="1"/>
          </p:cNvPicPr>
          <p:nvPr/>
        </p:nvPicPr>
        <p:blipFill>
          <a:blip r:embed="rId9">
            <a:duotone>
              <a:prstClr val="black"/>
              <a:srgbClr val="D9C3A5">
                <a:tint val="50000"/>
                <a:satMod val="180000"/>
              </a:srgbClr>
            </a:duotone>
            <a:extLst>
              <a:ext uri="{28A0092B-C50C-407E-A947-70E740481C1C}">
                <a14:useLocalDpi xmlns:a14="http://schemas.microsoft.com/office/drawing/2010/main" val="0"/>
              </a:ext>
            </a:extLst>
          </a:blip>
          <a:srcRect/>
          <a:stretch>
            <a:fillRect/>
          </a:stretch>
        </p:blipFill>
        <p:spPr bwMode="auto">
          <a:xfrm>
            <a:off x="7068364" y="2045787"/>
            <a:ext cx="1863595" cy="1051925"/>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2875E478-A34E-8248-B641-44C659C18C5E}"/>
              </a:ext>
            </a:extLst>
          </p:cNvPr>
          <p:cNvSpPr txBox="1"/>
          <p:nvPr/>
        </p:nvSpPr>
        <p:spPr>
          <a:xfrm>
            <a:off x="10225" y="3574309"/>
            <a:ext cx="9133775" cy="307777"/>
          </a:xfrm>
          <a:prstGeom prst="rect">
            <a:avLst/>
          </a:prstGeom>
          <a:noFill/>
        </p:spPr>
        <p:txBody>
          <a:bodyPr wrap="square">
            <a:spAutoFit/>
          </a:bodyPr>
          <a:lstStyle/>
          <a:p>
            <a:pPr algn="ctr"/>
            <a:r>
              <a:rPr lang="fr-FR" sz="1400" dirty="0">
                <a:latin typeface="Inter Medium" panose="020B0604020202020204" charset="0"/>
                <a:ea typeface="Inter Medium" panose="020B0604020202020204" charset="0"/>
              </a:rPr>
              <a:t>Pour les patients, les médecins, les assureurs, la santé publique…</a:t>
            </a:r>
            <a:endParaRPr lang="fr-FR" dirty="0">
              <a:latin typeface="Inter Medium" panose="020B0604020202020204" charset="0"/>
              <a:ea typeface="Inter Medium" panose="020B0604020202020204" charset="0"/>
            </a:endParaRPr>
          </a:p>
        </p:txBody>
      </p:sp>
    </p:spTree>
    <p:extLst>
      <p:ext uri="{BB962C8B-B14F-4D97-AF65-F5344CB8AC3E}">
        <p14:creationId xmlns:p14="http://schemas.microsoft.com/office/powerpoint/2010/main" val="40899750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r>
              <a:rPr lang="fr-FR" sz="1800" b="1" dirty="0">
                <a:latin typeface="Inter Medium" panose="020B0604020202020204" charset="0"/>
                <a:ea typeface="Inter Medium" panose="020B0604020202020204" charset="0"/>
              </a:rPr>
              <a:t>Lien direct vers l’application :</a:t>
            </a:r>
            <a:br>
              <a:rPr lang="fr-FR" sz="1800" b="1" dirty="0">
                <a:latin typeface="Inter Medium" panose="020B0604020202020204" charset="0"/>
                <a:ea typeface="Inter Medium" panose="020B0604020202020204" charset="0"/>
              </a:rPr>
            </a:br>
            <a:br>
              <a:rPr lang="fr-FR" sz="1800" b="1" dirty="0">
                <a:latin typeface="Inter Medium" panose="020B0604020202020204" charset="0"/>
                <a:ea typeface="Inter Medium" panose="020B0604020202020204" charset="0"/>
              </a:rPr>
            </a:br>
            <a:r>
              <a:rPr lang="fr-FR" sz="1800" b="1" dirty="0">
                <a:latin typeface="Inter Medium" panose="020B0604020202020204" charset="0"/>
                <a:ea typeface="Inter Medium" panose="020B0604020202020204" charset="0"/>
              </a:rPr>
              <a:t> </a:t>
            </a:r>
            <a:r>
              <a:rPr lang="fr-FR" sz="1800" b="1" dirty="0">
                <a:latin typeface="Inter Medium" panose="020B0604020202020204" charset="0"/>
                <a:ea typeface="Inter Medium" panose="020B0604020202020204" charset="0"/>
                <a:hlinkClick r:id="rId4"/>
              </a:rPr>
              <a:t>https://huggingface.co/spaces/LoicV17/Skincare-app-certification</a:t>
            </a:r>
            <a:br>
              <a:rPr lang="fr-FR" sz="1800" dirty="0">
                <a:latin typeface="Inter Medium" panose="020B0604020202020204" charset="0"/>
                <a:ea typeface="Inter Medium" panose="020B0604020202020204" charset="0"/>
              </a:rPr>
            </a:br>
            <a:br>
              <a:rPr lang="fr-FR" sz="1800" dirty="0">
                <a:latin typeface="Inter Medium" panose="020B0604020202020204" charset="0"/>
                <a:ea typeface="Inter Medium" panose="020B0604020202020204" charset="0"/>
              </a:rPr>
            </a:br>
            <a:br>
              <a:rPr lang="fr-FR" sz="1800" dirty="0">
                <a:latin typeface="Inter Medium" panose="020B0604020202020204" charset="0"/>
                <a:ea typeface="Inter Medium" panose="020B0604020202020204" charset="0"/>
              </a:rPr>
            </a:br>
            <a:br>
              <a:rPr lang="fr-FR" sz="1800" dirty="0">
                <a:latin typeface="Inter Medium" panose="020B0604020202020204" charset="0"/>
                <a:ea typeface="Inter Medium" panose="020B0604020202020204" charset="0"/>
              </a:rPr>
            </a:br>
            <a:r>
              <a:rPr lang="fr-FR" sz="1800" b="1" dirty="0">
                <a:latin typeface="Inter Medium" panose="020B0604020202020204" charset="0"/>
                <a:ea typeface="Inter Medium" panose="020B0604020202020204" charset="0"/>
              </a:rPr>
              <a:t>Vidéo de présentation : </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1063063" y="213002"/>
            <a:ext cx="6943337"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L’application</a:t>
            </a:r>
          </a:p>
        </p:txBody>
      </p:sp>
      <p:pic>
        <p:nvPicPr>
          <p:cNvPr id="75" name="Google Shape;75;p15"/>
          <p:cNvPicPr preferRelativeResize="0"/>
          <p:nvPr/>
        </p:nvPicPr>
        <p:blipFill>
          <a:blip r:embed="rId5">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7</a:t>
            </a:fld>
            <a:endParaRPr lang="fr-FR" sz="1600" b="1" dirty="0"/>
          </a:p>
        </p:txBody>
      </p:sp>
      <p:pic>
        <p:nvPicPr>
          <p:cNvPr id="2" name="Image 1" descr="Une image contenant clipart, Graphique, logo, texte&#10;&#10;Le contenu généré par l’IA peut être incorrect.">
            <a:extLst>
              <a:ext uri="{FF2B5EF4-FFF2-40B4-BE49-F238E27FC236}">
                <a16:creationId xmlns:a16="http://schemas.microsoft.com/office/drawing/2014/main" id="{DA75DF02-C964-295B-6CC0-5BC3BC054724}"/>
              </a:ext>
            </a:extLst>
          </p:cNvPr>
          <p:cNvPicPr>
            <a:picLocks noChangeAspect="1"/>
          </p:cNvPicPr>
          <p:nvPr/>
        </p:nvPicPr>
        <p:blipFill>
          <a:blip r:embed="rId6"/>
          <a:stretch>
            <a:fillRect/>
          </a:stretch>
        </p:blipFill>
        <p:spPr>
          <a:xfrm>
            <a:off x="-3905" y="4590895"/>
            <a:ext cx="548700" cy="540559"/>
          </a:xfrm>
          <a:prstGeom prst="rect">
            <a:avLst/>
          </a:prstGeom>
        </p:spPr>
      </p:pic>
    </p:spTree>
    <p:extLst>
      <p:ext uri="{BB962C8B-B14F-4D97-AF65-F5344CB8AC3E}">
        <p14:creationId xmlns:p14="http://schemas.microsoft.com/office/powerpoint/2010/main" val="674999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5" name="Google Shape;243;p21">
            <a:extLst>
              <a:ext uri="{FF2B5EF4-FFF2-40B4-BE49-F238E27FC236}">
                <a16:creationId xmlns:a16="http://schemas.microsoft.com/office/drawing/2014/main" id="{5D1BAAA3-11A4-6622-4242-86F77AEA274B}"/>
              </a:ext>
            </a:extLst>
          </p:cNvPr>
          <p:cNvSpPr/>
          <p:nvPr/>
        </p:nvSpPr>
        <p:spPr>
          <a:xfrm>
            <a:off x="2442775" y="861866"/>
            <a:ext cx="6487894" cy="3479995"/>
          </a:xfrm>
          <a:prstGeom prst="roundRect">
            <a:avLst>
              <a:gd name="adj" fmla="val 3732"/>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Clr>
                <a:schemeClr val="dk1"/>
              </a:buClr>
              <a:buSzPts val="1100"/>
              <a:buFont typeface="Arial"/>
              <a:buNone/>
            </a:pPr>
            <a:endParaRPr dirty="0"/>
          </a:p>
        </p:txBody>
      </p:sp>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5000"/>
            <a:extLst>
              <a:ext uri="{28A0092B-C50C-407E-A947-70E740481C1C}">
                <a14:useLocalDpi xmlns:a14="http://schemas.microsoft.com/office/drawing/2010/main" val="0"/>
              </a:ext>
            </a:extLst>
          </a:blip>
          <a:srcRect/>
          <a:stretch>
            <a:fillRect/>
          </a:stretch>
        </p:blipFill>
        <p:spPr bwMode="auto">
          <a:xfrm>
            <a:off x="5805215" y="3149858"/>
            <a:ext cx="3273135" cy="2182090"/>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970203" y="-30472"/>
            <a:ext cx="2059919" cy="166386"/>
          </a:xfrm>
          <a:prstGeom prst="rect">
            <a:avLst/>
          </a:prstGeom>
        </p:spPr>
        <p:txBody>
          <a:bodyPr spcFirstLastPara="1" wrap="square" lIns="91425" tIns="91425" rIns="91425" bIns="91425" anchor="t" anchorCtr="0">
            <a:noAutofit/>
          </a:bodyPr>
          <a:lstStyle/>
          <a:p>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dirty="0">
                <a:latin typeface="Inter Medium" panose="020B0604020202020204" charset="0"/>
                <a:ea typeface="Inter Medium" panose="020B0604020202020204" charset="0"/>
              </a:rPr>
              <a:t>                  </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1063063" y="213002"/>
            <a:ext cx="6943337"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Architecture de l’application</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8</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pic>
        <p:nvPicPr>
          <p:cNvPr id="2" name="Google Shape;245;p21">
            <a:extLst>
              <a:ext uri="{FF2B5EF4-FFF2-40B4-BE49-F238E27FC236}">
                <a16:creationId xmlns:a16="http://schemas.microsoft.com/office/drawing/2014/main" id="{34E8525F-8914-24EC-E555-7B10290D4304}"/>
              </a:ext>
            </a:extLst>
          </p:cNvPr>
          <p:cNvPicPr preferRelativeResize="0"/>
          <p:nvPr/>
        </p:nvPicPr>
        <p:blipFill>
          <a:blip r:embed="rId6">
            <a:alphaModFix/>
          </a:blip>
          <a:stretch>
            <a:fillRect/>
          </a:stretch>
        </p:blipFill>
        <p:spPr>
          <a:xfrm>
            <a:off x="270445" y="1151842"/>
            <a:ext cx="1121875" cy="1121875"/>
          </a:xfrm>
          <a:prstGeom prst="rect">
            <a:avLst/>
          </a:prstGeom>
          <a:noFill/>
          <a:ln>
            <a:noFill/>
          </a:ln>
        </p:spPr>
      </p:pic>
      <p:pic>
        <p:nvPicPr>
          <p:cNvPr id="6" name="Google Shape;248;p21">
            <a:extLst>
              <a:ext uri="{FF2B5EF4-FFF2-40B4-BE49-F238E27FC236}">
                <a16:creationId xmlns:a16="http://schemas.microsoft.com/office/drawing/2014/main" id="{6A56A1CD-FDE7-A253-2684-CA5FADBF7E7B}"/>
              </a:ext>
            </a:extLst>
          </p:cNvPr>
          <p:cNvPicPr preferRelativeResize="0"/>
          <p:nvPr/>
        </p:nvPicPr>
        <p:blipFill>
          <a:blip r:embed="rId7">
            <a:alphaModFix/>
          </a:blip>
          <a:stretch>
            <a:fillRect/>
          </a:stretch>
        </p:blipFill>
        <p:spPr>
          <a:xfrm>
            <a:off x="2579257" y="4415627"/>
            <a:ext cx="945695" cy="251400"/>
          </a:xfrm>
          <a:prstGeom prst="rect">
            <a:avLst/>
          </a:prstGeom>
          <a:noFill/>
          <a:ln>
            <a:noFill/>
          </a:ln>
        </p:spPr>
      </p:pic>
      <p:pic>
        <p:nvPicPr>
          <p:cNvPr id="7" name="Google Shape;249;p21">
            <a:extLst>
              <a:ext uri="{FF2B5EF4-FFF2-40B4-BE49-F238E27FC236}">
                <a16:creationId xmlns:a16="http://schemas.microsoft.com/office/drawing/2014/main" id="{FEF45BC4-EA84-7778-8BE2-DBC249B4530F}"/>
              </a:ext>
            </a:extLst>
          </p:cNvPr>
          <p:cNvPicPr preferRelativeResize="0"/>
          <p:nvPr/>
        </p:nvPicPr>
        <p:blipFill>
          <a:blip r:embed="rId8">
            <a:alphaModFix/>
          </a:blip>
          <a:stretch>
            <a:fillRect/>
          </a:stretch>
        </p:blipFill>
        <p:spPr>
          <a:xfrm>
            <a:off x="3574221" y="4296567"/>
            <a:ext cx="666027" cy="389829"/>
          </a:xfrm>
          <a:prstGeom prst="rect">
            <a:avLst/>
          </a:prstGeom>
          <a:noFill/>
          <a:ln>
            <a:noFill/>
          </a:ln>
        </p:spPr>
      </p:pic>
      <p:sp>
        <p:nvSpPr>
          <p:cNvPr id="8" name="Google Shape;250;p21">
            <a:extLst>
              <a:ext uri="{FF2B5EF4-FFF2-40B4-BE49-F238E27FC236}">
                <a16:creationId xmlns:a16="http://schemas.microsoft.com/office/drawing/2014/main" id="{17F3F693-23AD-8DD3-4226-3A295C184A1A}"/>
              </a:ext>
            </a:extLst>
          </p:cNvPr>
          <p:cNvSpPr txBox="1"/>
          <p:nvPr/>
        </p:nvSpPr>
        <p:spPr>
          <a:xfrm>
            <a:off x="1485863" y="1336955"/>
            <a:ext cx="830100" cy="282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a:sym typeface="Inter"/>
              </a:rPr>
              <a:t>Input : </a:t>
            </a:r>
            <a:r>
              <a:rPr lang="fr" sz="800" dirty="0">
                <a:solidFill>
                  <a:schemeClr val="dk2"/>
                </a:solidFill>
                <a:latin typeface="Inter Medium" panose="020B0604020202020204" charset="0"/>
                <a:ea typeface="Inter Medium" panose="020B0604020202020204" charset="0"/>
                <a:cs typeface="Inter Medium"/>
                <a:sym typeface="Inter Medium"/>
              </a:rPr>
              <a:t>Image</a:t>
            </a:r>
            <a:endParaRPr sz="800" dirty="0">
              <a:solidFill>
                <a:schemeClr val="dk2"/>
              </a:solidFill>
              <a:latin typeface="Inter Medium" panose="020B0604020202020204" charset="0"/>
              <a:ea typeface="Inter Medium" panose="020B0604020202020204" charset="0"/>
              <a:cs typeface="Inter Medium"/>
              <a:sym typeface="Inter Medium"/>
            </a:endParaRPr>
          </a:p>
        </p:txBody>
      </p:sp>
      <p:sp>
        <p:nvSpPr>
          <p:cNvPr id="9" name="Google Shape;247;p21">
            <a:extLst>
              <a:ext uri="{FF2B5EF4-FFF2-40B4-BE49-F238E27FC236}">
                <a16:creationId xmlns:a16="http://schemas.microsoft.com/office/drawing/2014/main" id="{F8A03776-FABD-86FC-A46B-B1BBF47FF1CD}"/>
              </a:ext>
            </a:extLst>
          </p:cNvPr>
          <p:cNvSpPr/>
          <p:nvPr/>
        </p:nvSpPr>
        <p:spPr>
          <a:xfrm>
            <a:off x="3387509" y="1400524"/>
            <a:ext cx="1538700" cy="424800"/>
          </a:xfrm>
          <a:prstGeom prst="rect">
            <a:avLst/>
          </a:prstGeom>
          <a:gradFill>
            <a:gsLst>
              <a:gs pos="0">
                <a:srgbClr val="F4FF83"/>
              </a:gs>
              <a:gs pos="100000">
                <a:srgbClr val="E1F609"/>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sz="1300" b="1" dirty="0">
                <a:latin typeface="Inter Medium" panose="020B0604020202020204" charset="0"/>
                <a:ea typeface="Inter Medium" panose="020B0604020202020204" charset="0"/>
              </a:rPr>
              <a:t>Preprocessing 1</a:t>
            </a:r>
            <a:endParaRPr sz="1300" b="1" dirty="0">
              <a:latin typeface="Inter Medium" panose="020B0604020202020204" charset="0"/>
              <a:ea typeface="Inter Medium" panose="020B0604020202020204" charset="0"/>
            </a:endParaRPr>
          </a:p>
        </p:txBody>
      </p:sp>
      <p:sp>
        <p:nvSpPr>
          <p:cNvPr id="11" name="Google Shape;251;p21">
            <a:extLst>
              <a:ext uri="{FF2B5EF4-FFF2-40B4-BE49-F238E27FC236}">
                <a16:creationId xmlns:a16="http://schemas.microsoft.com/office/drawing/2014/main" id="{1B327473-9201-8294-97B5-69FB30B73360}"/>
              </a:ext>
            </a:extLst>
          </p:cNvPr>
          <p:cNvSpPr/>
          <p:nvPr/>
        </p:nvSpPr>
        <p:spPr>
          <a:xfrm>
            <a:off x="3380747" y="1934937"/>
            <a:ext cx="1538700" cy="424800"/>
          </a:xfrm>
          <a:prstGeom prst="rect">
            <a:avLst/>
          </a:prstGeom>
          <a:gradFill>
            <a:gsLst>
              <a:gs pos="0">
                <a:srgbClr val="F4FF83"/>
              </a:gs>
              <a:gs pos="100000">
                <a:srgbClr val="E1F609"/>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sz="1300" b="1" dirty="0">
                <a:latin typeface="Inter Medium" panose="020B0604020202020204" charset="0"/>
                <a:ea typeface="Inter Medium" panose="020B0604020202020204" charset="0"/>
              </a:rPr>
              <a:t>Preprocessing 2</a:t>
            </a:r>
            <a:endParaRPr sz="1300" b="1" dirty="0">
              <a:latin typeface="Inter Medium" panose="020B0604020202020204" charset="0"/>
              <a:ea typeface="Inter Medium" panose="020B0604020202020204" charset="0"/>
            </a:endParaRPr>
          </a:p>
        </p:txBody>
      </p:sp>
      <p:sp>
        <p:nvSpPr>
          <p:cNvPr id="13" name="Google Shape;252;p21">
            <a:extLst>
              <a:ext uri="{FF2B5EF4-FFF2-40B4-BE49-F238E27FC236}">
                <a16:creationId xmlns:a16="http://schemas.microsoft.com/office/drawing/2014/main" id="{F3C64D09-6F36-DC89-E8D1-7C47EA25849F}"/>
              </a:ext>
            </a:extLst>
          </p:cNvPr>
          <p:cNvSpPr/>
          <p:nvPr/>
        </p:nvSpPr>
        <p:spPr>
          <a:xfrm>
            <a:off x="5201157" y="1401628"/>
            <a:ext cx="1174500" cy="421296"/>
          </a:xfrm>
          <a:prstGeom prst="rect">
            <a:avLst/>
          </a:prstGeom>
          <a:gradFill>
            <a:gsLst>
              <a:gs pos="0">
                <a:srgbClr val="00D3E9"/>
              </a:gs>
              <a:gs pos="100000">
                <a:srgbClr val="045962"/>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sz="1300" b="1"/>
              <a:t>Modèle 1</a:t>
            </a:r>
            <a:endParaRPr sz="1300" b="1"/>
          </a:p>
        </p:txBody>
      </p:sp>
      <p:sp>
        <p:nvSpPr>
          <p:cNvPr id="14" name="Google Shape;253;p21">
            <a:extLst>
              <a:ext uri="{FF2B5EF4-FFF2-40B4-BE49-F238E27FC236}">
                <a16:creationId xmlns:a16="http://schemas.microsoft.com/office/drawing/2014/main" id="{5809F0BE-ACA2-C2F7-CC76-9CD4B1307AD5}"/>
              </a:ext>
            </a:extLst>
          </p:cNvPr>
          <p:cNvSpPr/>
          <p:nvPr/>
        </p:nvSpPr>
        <p:spPr>
          <a:xfrm>
            <a:off x="5201157" y="1934937"/>
            <a:ext cx="1174500" cy="424800"/>
          </a:xfrm>
          <a:prstGeom prst="rect">
            <a:avLst/>
          </a:prstGeom>
          <a:gradFill>
            <a:gsLst>
              <a:gs pos="0">
                <a:srgbClr val="00D3E9"/>
              </a:gs>
              <a:gs pos="100000">
                <a:srgbClr val="045962"/>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sz="1300" b="1"/>
              <a:t>Modèle 2</a:t>
            </a:r>
            <a:endParaRPr sz="1300" b="1"/>
          </a:p>
        </p:txBody>
      </p:sp>
      <p:cxnSp>
        <p:nvCxnSpPr>
          <p:cNvPr id="15" name="Google Shape;254;p21">
            <a:extLst>
              <a:ext uri="{FF2B5EF4-FFF2-40B4-BE49-F238E27FC236}">
                <a16:creationId xmlns:a16="http://schemas.microsoft.com/office/drawing/2014/main" id="{A41CDDB0-A243-4642-51FF-8A598502CDE4}"/>
              </a:ext>
            </a:extLst>
          </p:cNvPr>
          <p:cNvCxnSpPr>
            <a:cxnSpLocks/>
          </p:cNvCxnSpPr>
          <p:nvPr/>
        </p:nvCxnSpPr>
        <p:spPr>
          <a:xfrm flipH="1">
            <a:off x="2579257" y="1962539"/>
            <a:ext cx="653" cy="712204"/>
          </a:xfrm>
          <a:prstGeom prst="straightConnector1">
            <a:avLst/>
          </a:prstGeom>
          <a:noFill/>
          <a:ln w="9525" cap="flat" cmpd="sng">
            <a:solidFill>
              <a:schemeClr val="dk2"/>
            </a:solidFill>
            <a:prstDash val="solid"/>
            <a:round/>
            <a:headEnd type="none" w="med" len="med"/>
            <a:tailEnd type="none" w="med" len="med"/>
          </a:ln>
        </p:spPr>
      </p:cxnSp>
      <p:cxnSp>
        <p:nvCxnSpPr>
          <p:cNvPr id="16" name="Google Shape;255;p21">
            <a:extLst>
              <a:ext uri="{FF2B5EF4-FFF2-40B4-BE49-F238E27FC236}">
                <a16:creationId xmlns:a16="http://schemas.microsoft.com/office/drawing/2014/main" id="{ABD6D70D-E8F7-FC3D-49D6-FB4EB329DC7A}"/>
              </a:ext>
            </a:extLst>
          </p:cNvPr>
          <p:cNvCxnSpPr>
            <a:cxnSpLocks/>
          </p:cNvCxnSpPr>
          <p:nvPr/>
        </p:nvCxnSpPr>
        <p:spPr>
          <a:xfrm rot="10800000" flipH="1">
            <a:off x="2845329" y="2168574"/>
            <a:ext cx="536700" cy="3600"/>
          </a:xfrm>
          <a:prstGeom prst="straightConnector1">
            <a:avLst/>
          </a:prstGeom>
          <a:noFill/>
          <a:ln w="9525" cap="flat" cmpd="sng">
            <a:solidFill>
              <a:schemeClr val="dk2"/>
            </a:solidFill>
            <a:prstDash val="solid"/>
            <a:round/>
            <a:headEnd type="none" w="med" len="med"/>
            <a:tailEnd type="triangle" w="med" len="med"/>
          </a:ln>
        </p:spPr>
      </p:cxnSp>
      <p:cxnSp>
        <p:nvCxnSpPr>
          <p:cNvPr id="17" name="Google Shape;256;p21">
            <a:extLst>
              <a:ext uri="{FF2B5EF4-FFF2-40B4-BE49-F238E27FC236}">
                <a16:creationId xmlns:a16="http://schemas.microsoft.com/office/drawing/2014/main" id="{96911418-6B52-FFFB-D6FE-136A86D854BA}"/>
              </a:ext>
            </a:extLst>
          </p:cNvPr>
          <p:cNvCxnSpPr>
            <a:cxnSpLocks/>
            <a:stCxn id="9" idx="3"/>
            <a:endCxn id="13" idx="1"/>
          </p:cNvCxnSpPr>
          <p:nvPr/>
        </p:nvCxnSpPr>
        <p:spPr>
          <a:xfrm flipV="1">
            <a:off x="4926209" y="1612276"/>
            <a:ext cx="274948" cy="648"/>
          </a:xfrm>
          <a:prstGeom prst="straightConnector1">
            <a:avLst/>
          </a:prstGeom>
          <a:noFill/>
          <a:ln w="9525" cap="flat" cmpd="sng">
            <a:solidFill>
              <a:schemeClr val="dk2"/>
            </a:solidFill>
            <a:prstDash val="solid"/>
            <a:round/>
            <a:headEnd type="none" w="med" len="med"/>
            <a:tailEnd type="triangle" w="med" len="med"/>
          </a:ln>
        </p:spPr>
      </p:cxnSp>
      <p:cxnSp>
        <p:nvCxnSpPr>
          <p:cNvPr id="18" name="Google Shape;257;p21">
            <a:extLst>
              <a:ext uri="{FF2B5EF4-FFF2-40B4-BE49-F238E27FC236}">
                <a16:creationId xmlns:a16="http://schemas.microsoft.com/office/drawing/2014/main" id="{4F5249A6-3839-C8A0-7A91-692344F24276}"/>
              </a:ext>
            </a:extLst>
          </p:cNvPr>
          <p:cNvCxnSpPr>
            <a:stCxn id="11" idx="3"/>
            <a:endCxn id="14" idx="1"/>
          </p:cNvCxnSpPr>
          <p:nvPr/>
        </p:nvCxnSpPr>
        <p:spPr>
          <a:xfrm>
            <a:off x="4919447" y="2147337"/>
            <a:ext cx="281710" cy="0"/>
          </a:xfrm>
          <a:prstGeom prst="straightConnector1">
            <a:avLst/>
          </a:prstGeom>
          <a:noFill/>
          <a:ln w="9525" cap="flat" cmpd="sng">
            <a:solidFill>
              <a:schemeClr val="dk2"/>
            </a:solidFill>
            <a:prstDash val="solid"/>
            <a:round/>
            <a:headEnd type="none" w="med" len="med"/>
            <a:tailEnd type="triangle" w="med" len="med"/>
          </a:ln>
        </p:spPr>
      </p:cxnSp>
      <p:cxnSp>
        <p:nvCxnSpPr>
          <p:cNvPr id="19" name="Google Shape;258;p21">
            <a:extLst>
              <a:ext uri="{FF2B5EF4-FFF2-40B4-BE49-F238E27FC236}">
                <a16:creationId xmlns:a16="http://schemas.microsoft.com/office/drawing/2014/main" id="{CA55DDD8-2F64-9AF9-E60E-7BF588A240CC}"/>
              </a:ext>
            </a:extLst>
          </p:cNvPr>
          <p:cNvCxnSpPr/>
          <p:nvPr/>
        </p:nvCxnSpPr>
        <p:spPr>
          <a:xfrm rot="10800000" flipH="1">
            <a:off x="6371097" y="2038769"/>
            <a:ext cx="569400" cy="600"/>
          </a:xfrm>
          <a:prstGeom prst="straightConnector1">
            <a:avLst/>
          </a:prstGeom>
          <a:noFill/>
          <a:ln w="9525" cap="flat" cmpd="sng">
            <a:solidFill>
              <a:schemeClr val="dk2"/>
            </a:solidFill>
            <a:prstDash val="solid"/>
            <a:round/>
            <a:headEnd type="none" w="med" len="med"/>
            <a:tailEnd type="triangle" w="med" len="med"/>
          </a:ln>
        </p:spPr>
      </p:cxnSp>
      <p:sp>
        <p:nvSpPr>
          <p:cNvPr id="20" name="Google Shape;260;p21">
            <a:extLst>
              <a:ext uri="{FF2B5EF4-FFF2-40B4-BE49-F238E27FC236}">
                <a16:creationId xmlns:a16="http://schemas.microsoft.com/office/drawing/2014/main" id="{5F3F07D3-CF08-B5F1-07C1-FB474C26F950}"/>
              </a:ext>
            </a:extLst>
          </p:cNvPr>
          <p:cNvSpPr/>
          <p:nvPr/>
        </p:nvSpPr>
        <p:spPr>
          <a:xfrm>
            <a:off x="3771900" y="3191541"/>
            <a:ext cx="1288402" cy="938400"/>
          </a:xfrm>
          <a:prstGeom prst="rect">
            <a:avLst/>
          </a:prstGeom>
          <a:gradFill>
            <a:gsLst>
              <a:gs pos="0">
                <a:srgbClr val="FFC882"/>
              </a:gs>
              <a:gs pos="100000">
                <a:srgbClr val="F58E09"/>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b="1"/>
              <a:t>Application</a:t>
            </a:r>
            <a:endParaRPr b="1"/>
          </a:p>
        </p:txBody>
      </p:sp>
      <p:sp>
        <p:nvSpPr>
          <p:cNvPr id="21" name="Google Shape;261;p21">
            <a:extLst>
              <a:ext uri="{FF2B5EF4-FFF2-40B4-BE49-F238E27FC236}">
                <a16:creationId xmlns:a16="http://schemas.microsoft.com/office/drawing/2014/main" id="{6B65DFDB-B575-6237-4D5C-21FA894A1DED}"/>
              </a:ext>
            </a:extLst>
          </p:cNvPr>
          <p:cNvSpPr txBox="1"/>
          <p:nvPr/>
        </p:nvSpPr>
        <p:spPr>
          <a:xfrm>
            <a:off x="7163212" y="1818872"/>
            <a:ext cx="661500" cy="153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 sz="800" b="1" dirty="0">
                <a:solidFill>
                  <a:schemeClr val="dk2"/>
                </a:solidFill>
              </a:rPr>
              <a:t>GradCAM</a:t>
            </a:r>
            <a:endParaRPr sz="800" b="1" dirty="0">
              <a:solidFill>
                <a:schemeClr val="dk2"/>
              </a:solidFill>
            </a:endParaRPr>
          </a:p>
        </p:txBody>
      </p:sp>
      <p:cxnSp>
        <p:nvCxnSpPr>
          <p:cNvPr id="22" name="Google Shape;262;p21">
            <a:extLst>
              <a:ext uri="{FF2B5EF4-FFF2-40B4-BE49-F238E27FC236}">
                <a16:creationId xmlns:a16="http://schemas.microsoft.com/office/drawing/2014/main" id="{2F09FB6C-0AEA-5E19-05D6-A547B479DCB1}"/>
              </a:ext>
            </a:extLst>
          </p:cNvPr>
          <p:cNvCxnSpPr/>
          <p:nvPr/>
        </p:nvCxnSpPr>
        <p:spPr>
          <a:xfrm rot="10800000" flipH="1">
            <a:off x="6371097" y="1619255"/>
            <a:ext cx="569400" cy="600"/>
          </a:xfrm>
          <a:prstGeom prst="straightConnector1">
            <a:avLst/>
          </a:prstGeom>
          <a:noFill/>
          <a:ln w="9525" cap="flat" cmpd="sng">
            <a:solidFill>
              <a:schemeClr val="dk2"/>
            </a:solidFill>
            <a:prstDash val="solid"/>
            <a:round/>
            <a:headEnd type="none" w="med" len="med"/>
            <a:tailEnd type="triangle" w="med" len="med"/>
          </a:ln>
        </p:spPr>
      </p:cxnSp>
      <p:sp>
        <p:nvSpPr>
          <p:cNvPr id="23" name="Google Shape;263;p21">
            <a:extLst>
              <a:ext uri="{FF2B5EF4-FFF2-40B4-BE49-F238E27FC236}">
                <a16:creationId xmlns:a16="http://schemas.microsoft.com/office/drawing/2014/main" id="{5DD62C1C-4ACE-EBFF-CD54-0C3B1BEDE744}"/>
              </a:ext>
            </a:extLst>
          </p:cNvPr>
          <p:cNvSpPr txBox="1"/>
          <p:nvPr/>
        </p:nvSpPr>
        <p:spPr>
          <a:xfrm>
            <a:off x="6964632" y="1257478"/>
            <a:ext cx="1574700" cy="1995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 sz="800" b="1" dirty="0">
                <a:solidFill>
                  <a:schemeClr val="dk2"/>
                </a:solidFill>
              </a:rPr>
              <a:t>Probabilité malin / bénin</a:t>
            </a:r>
            <a:r>
              <a:rPr lang="fr" sz="1800" b="1" dirty="0">
                <a:solidFill>
                  <a:schemeClr val="dk2"/>
                </a:solidFill>
              </a:rPr>
              <a:t> </a:t>
            </a:r>
            <a:endParaRPr sz="1800" b="1" dirty="0">
              <a:solidFill>
                <a:schemeClr val="dk2"/>
              </a:solidFill>
            </a:endParaRPr>
          </a:p>
        </p:txBody>
      </p:sp>
      <p:cxnSp>
        <p:nvCxnSpPr>
          <p:cNvPr id="24" name="Google Shape;264;p21">
            <a:extLst>
              <a:ext uri="{FF2B5EF4-FFF2-40B4-BE49-F238E27FC236}">
                <a16:creationId xmlns:a16="http://schemas.microsoft.com/office/drawing/2014/main" id="{8B0AE91E-80E5-7343-6CEE-F012A6F44708}"/>
              </a:ext>
            </a:extLst>
          </p:cNvPr>
          <p:cNvCxnSpPr>
            <a:cxnSpLocks/>
          </p:cNvCxnSpPr>
          <p:nvPr/>
        </p:nvCxnSpPr>
        <p:spPr>
          <a:xfrm>
            <a:off x="6929656" y="2040056"/>
            <a:ext cx="1617923" cy="8316"/>
          </a:xfrm>
          <a:prstGeom prst="straightConnector1">
            <a:avLst/>
          </a:prstGeom>
          <a:noFill/>
          <a:ln w="9525" cap="flat" cmpd="sng">
            <a:solidFill>
              <a:schemeClr val="dk2"/>
            </a:solidFill>
            <a:prstDash val="solid"/>
            <a:round/>
            <a:headEnd type="none" w="med" len="med"/>
            <a:tailEnd type="none" w="med" len="med"/>
          </a:ln>
        </p:spPr>
      </p:cxnSp>
      <p:cxnSp>
        <p:nvCxnSpPr>
          <p:cNvPr id="25" name="Google Shape;265;p21">
            <a:extLst>
              <a:ext uri="{FF2B5EF4-FFF2-40B4-BE49-F238E27FC236}">
                <a16:creationId xmlns:a16="http://schemas.microsoft.com/office/drawing/2014/main" id="{D44F361C-CFCE-2CF0-BA4E-FF75233F8009}"/>
              </a:ext>
            </a:extLst>
          </p:cNvPr>
          <p:cNvCxnSpPr>
            <a:cxnSpLocks/>
          </p:cNvCxnSpPr>
          <p:nvPr/>
        </p:nvCxnSpPr>
        <p:spPr>
          <a:xfrm>
            <a:off x="8544417" y="1619254"/>
            <a:ext cx="9188" cy="2052144"/>
          </a:xfrm>
          <a:prstGeom prst="straightConnector1">
            <a:avLst/>
          </a:prstGeom>
          <a:noFill/>
          <a:ln w="9525" cap="flat" cmpd="sng">
            <a:solidFill>
              <a:schemeClr val="dk2"/>
            </a:solidFill>
            <a:prstDash val="solid"/>
            <a:round/>
            <a:headEnd type="none" w="med" len="med"/>
            <a:tailEnd type="none" w="med" len="med"/>
          </a:ln>
        </p:spPr>
      </p:cxnSp>
      <p:cxnSp>
        <p:nvCxnSpPr>
          <p:cNvPr id="26" name="Google Shape;266;p21">
            <a:extLst>
              <a:ext uri="{FF2B5EF4-FFF2-40B4-BE49-F238E27FC236}">
                <a16:creationId xmlns:a16="http://schemas.microsoft.com/office/drawing/2014/main" id="{409033E0-0FDC-091E-C107-DB76C890196E}"/>
              </a:ext>
            </a:extLst>
          </p:cNvPr>
          <p:cNvCxnSpPr>
            <a:cxnSpLocks/>
          </p:cNvCxnSpPr>
          <p:nvPr/>
        </p:nvCxnSpPr>
        <p:spPr>
          <a:xfrm flipH="1" flipV="1">
            <a:off x="5060302" y="3671398"/>
            <a:ext cx="3505895" cy="1"/>
          </a:xfrm>
          <a:prstGeom prst="straightConnector1">
            <a:avLst/>
          </a:prstGeom>
          <a:noFill/>
          <a:ln w="9525" cap="flat" cmpd="sng">
            <a:solidFill>
              <a:schemeClr val="dk2"/>
            </a:solidFill>
            <a:prstDash val="solid"/>
            <a:round/>
            <a:headEnd type="none" w="med" len="med"/>
            <a:tailEnd type="triangle" w="med" len="med"/>
          </a:ln>
        </p:spPr>
      </p:cxnSp>
      <p:cxnSp>
        <p:nvCxnSpPr>
          <p:cNvPr id="27" name="Google Shape;267;p21">
            <a:extLst>
              <a:ext uri="{FF2B5EF4-FFF2-40B4-BE49-F238E27FC236}">
                <a16:creationId xmlns:a16="http://schemas.microsoft.com/office/drawing/2014/main" id="{27A0EC1B-E26E-FCA5-7DD2-BD7CE7739742}"/>
              </a:ext>
            </a:extLst>
          </p:cNvPr>
          <p:cNvCxnSpPr>
            <a:cxnSpLocks/>
          </p:cNvCxnSpPr>
          <p:nvPr/>
        </p:nvCxnSpPr>
        <p:spPr>
          <a:xfrm>
            <a:off x="6922137" y="1619479"/>
            <a:ext cx="1622280" cy="0"/>
          </a:xfrm>
          <a:prstGeom prst="straightConnector1">
            <a:avLst/>
          </a:prstGeom>
          <a:noFill/>
          <a:ln w="9525" cap="flat" cmpd="sng">
            <a:solidFill>
              <a:schemeClr val="dk2"/>
            </a:solidFill>
            <a:prstDash val="solid"/>
            <a:round/>
            <a:headEnd type="none" w="med" len="med"/>
            <a:tailEnd type="none" w="med" len="med"/>
          </a:ln>
        </p:spPr>
      </p:cxnSp>
      <p:cxnSp>
        <p:nvCxnSpPr>
          <p:cNvPr id="29" name="Google Shape;270;p21">
            <a:extLst>
              <a:ext uri="{FF2B5EF4-FFF2-40B4-BE49-F238E27FC236}">
                <a16:creationId xmlns:a16="http://schemas.microsoft.com/office/drawing/2014/main" id="{EBE3EFF3-7D07-038F-5F08-323CF428502D}"/>
              </a:ext>
            </a:extLst>
          </p:cNvPr>
          <p:cNvCxnSpPr/>
          <p:nvPr/>
        </p:nvCxnSpPr>
        <p:spPr>
          <a:xfrm rot="10800000" flipH="1">
            <a:off x="6375657" y="2235206"/>
            <a:ext cx="569400" cy="600"/>
          </a:xfrm>
          <a:prstGeom prst="straightConnector1">
            <a:avLst/>
          </a:prstGeom>
          <a:noFill/>
          <a:ln w="9525" cap="flat" cmpd="sng">
            <a:solidFill>
              <a:schemeClr val="dk2"/>
            </a:solidFill>
            <a:prstDash val="solid"/>
            <a:round/>
            <a:headEnd type="none" w="med" len="med"/>
            <a:tailEnd type="triangle" w="med" len="med"/>
          </a:ln>
        </p:spPr>
      </p:cxnSp>
      <p:cxnSp>
        <p:nvCxnSpPr>
          <p:cNvPr id="30" name="Google Shape;271;p21">
            <a:extLst>
              <a:ext uri="{FF2B5EF4-FFF2-40B4-BE49-F238E27FC236}">
                <a16:creationId xmlns:a16="http://schemas.microsoft.com/office/drawing/2014/main" id="{6AFF5315-0F40-F8E8-D8AE-B29FBADC3B77}"/>
              </a:ext>
            </a:extLst>
          </p:cNvPr>
          <p:cNvCxnSpPr>
            <a:cxnSpLocks/>
          </p:cNvCxnSpPr>
          <p:nvPr/>
        </p:nvCxnSpPr>
        <p:spPr>
          <a:xfrm>
            <a:off x="6935386" y="2238040"/>
            <a:ext cx="1612193" cy="5462"/>
          </a:xfrm>
          <a:prstGeom prst="straightConnector1">
            <a:avLst/>
          </a:prstGeom>
          <a:noFill/>
          <a:ln w="9525" cap="flat" cmpd="sng">
            <a:solidFill>
              <a:schemeClr val="dk2"/>
            </a:solidFill>
            <a:prstDash val="solid"/>
            <a:round/>
            <a:headEnd type="none" w="med" len="med"/>
            <a:tailEnd type="none" w="med" len="med"/>
          </a:ln>
        </p:spPr>
      </p:cxnSp>
      <p:sp>
        <p:nvSpPr>
          <p:cNvPr id="31" name="Google Shape;272;p21">
            <a:extLst>
              <a:ext uri="{FF2B5EF4-FFF2-40B4-BE49-F238E27FC236}">
                <a16:creationId xmlns:a16="http://schemas.microsoft.com/office/drawing/2014/main" id="{91C815BF-4798-C571-EBBA-4C94CB90A690}"/>
              </a:ext>
            </a:extLst>
          </p:cNvPr>
          <p:cNvSpPr txBox="1"/>
          <p:nvPr/>
        </p:nvSpPr>
        <p:spPr>
          <a:xfrm>
            <a:off x="6973387" y="2001727"/>
            <a:ext cx="1482900" cy="153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FR" sz="800" b="1" dirty="0">
                <a:solidFill>
                  <a:schemeClr val="dk2"/>
                </a:solidFill>
              </a:rPr>
              <a:t>Probabilité par classe</a:t>
            </a:r>
          </a:p>
        </p:txBody>
      </p:sp>
      <p:cxnSp>
        <p:nvCxnSpPr>
          <p:cNvPr id="32" name="Google Shape;255;p21">
            <a:extLst>
              <a:ext uri="{FF2B5EF4-FFF2-40B4-BE49-F238E27FC236}">
                <a16:creationId xmlns:a16="http://schemas.microsoft.com/office/drawing/2014/main" id="{2A5A6800-950F-9A48-B314-2BC4174EF8A2}"/>
              </a:ext>
            </a:extLst>
          </p:cNvPr>
          <p:cNvCxnSpPr>
            <a:cxnSpLocks/>
          </p:cNvCxnSpPr>
          <p:nvPr/>
        </p:nvCxnSpPr>
        <p:spPr>
          <a:xfrm>
            <a:off x="1397510" y="1585309"/>
            <a:ext cx="1983237" cy="8795"/>
          </a:xfrm>
          <a:prstGeom prst="straightConnector1">
            <a:avLst/>
          </a:prstGeom>
          <a:noFill/>
          <a:ln w="9525" cap="flat" cmpd="sng">
            <a:solidFill>
              <a:schemeClr val="dk2"/>
            </a:solidFill>
            <a:prstDash val="solid"/>
            <a:round/>
            <a:headEnd type="none" w="med" len="med"/>
            <a:tailEnd type="triangle" w="med" len="med"/>
          </a:ln>
        </p:spPr>
      </p:cxnSp>
      <p:cxnSp>
        <p:nvCxnSpPr>
          <p:cNvPr id="34" name="Google Shape;255;p21">
            <a:extLst>
              <a:ext uri="{FF2B5EF4-FFF2-40B4-BE49-F238E27FC236}">
                <a16:creationId xmlns:a16="http://schemas.microsoft.com/office/drawing/2014/main" id="{17BCDD8F-B9C8-ADA3-056C-943CFEC0B4DA}"/>
              </a:ext>
            </a:extLst>
          </p:cNvPr>
          <p:cNvCxnSpPr>
            <a:cxnSpLocks/>
          </p:cNvCxnSpPr>
          <p:nvPr/>
        </p:nvCxnSpPr>
        <p:spPr>
          <a:xfrm>
            <a:off x="1388913" y="1968235"/>
            <a:ext cx="1191651" cy="0"/>
          </a:xfrm>
          <a:prstGeom prst="straightConnector1">
            <a:avLst/>
          </a:prstGeom>
          <a:noFill/>
          <a:ln w="9525" cap="flat" cmpd="sng">
            <a:solidFill>
              <a:schemeClr val="dk2"/>
            </a:solidFill>
            <a:prstDash val="solid"/>
            <a:round/>
            <a:headEnd type="none" w="med" len="med"/>
            <a:tailEnd type="none" w="med" len="med"/>
          </a:ln>
        </p:spPr>
      </p:cxnSp>
      <p:sp>
        <p:nvSpPr>
          <p:cNvPr id="36" name="Google Shape;250;p21">
            <a:extLst>
              <a:ext uri="{FF2B5EF4-FFF2-40B4-BE49-F238E27FC236}">
                <a16:creationId xmlns:a16="http://schemas.microsoft.com/office/drawing/2014/main" id="{DCEE9FA2-798D-953C-7D0B-3081A51A4333}"/>
              </a:ext>
            </a:extLst>
          </p:cNvPr>
          <p:cNvSpPr txBox="1"/>
          <p:nvPr/>
        </p:nvSpPr>
        <p:spPr>
          <a:xfrm>
            <a:off x="1333147" y="1696231"/>
            <a:ext cx="1198517" cy="282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a:sym typeface="Inter"/>
              </a:rPr>
              <a:t>Input : </a:t>
            </a:r>
            <a:r>
              <a:rPr lang="fr" sz="800" dirty="0">
                <a:solidFill>
                  <a:schemeClr val="dk2"/>
                </a:solidFill>
                <a:latin typeface="Inter Medium" panose="020B0604020202020204" charset="0"/>
                <a:ea typeface="Inter Medium" panose="020B0604020202020204" charset="0"/>
                <a:cs typeface="Inter Medium"/>
                <a:sym typeface="Inter Medium"/>
              </a:rPr>
              <a:t>Metadonnées</a:t>
            </a:r>
            <a:endParaRPr sz="800" dirty="0">
              <a:solidFill>
                <a:schemeClr val="dk2"/>
              </a:solidFill>
              <a:latin typeface="Inter Medium" panose="020B0604020202020204" charset="0"/>
              <a:ea typeface="Inter Medium" panose="020B0604020202020204" charset="0"/>
              <a:cs typeface="Inter Medium"/>
              <a:sym typeface="Inter Medium"/>
            </a:endParaRPr>
          </a:p>
        </p:txBody>
      </p:sp>
      <p:cxnSp>
        <p:nvCxnSpPr>
          <p:cNvPr id="38" name="Google Shape;254;p21">
            <a:extLst>
              <a:ext uri="{FF2B5EF4-FFF2-40B4-BE49-F238E27FC236}">
                <a16:creationId xmlns:a16="http://schemas.microsoft.com/office/drawing/2014/main" id="{99DD36C9-3231-3D09-6B48-F9674B87FC38}"/>
              </a:ext>
            </a:extLst>
          </p:cNvPr>
          <p:cNvCxnSpPr>
            <a:cxnSpLocks/>
          </p:cNvCxnSpPr>
          <p:nvPr/>
        </p:nvCxnSpPr>
        <p:spPr>
          <a:xfrm>
            <a:off x="2846610" y="1585309"/>
            <a:ext cx="0" cy="583265"/>
          </a:xfrm>
          <a:prstGeom prst="straightConnector1">
            <a:avLst/>
          </a:prstGeom>
          <a:noFill/>
          <a:ln w="9525" cap="flat" cmpd="sng">
            <a:solidFill>
              <a:schemeClr val="dk2"/>
            </a:solidFill>
            <a:prstDash val="solid"/>
            <a:round/>
            <a:headEnd type="none" w="med" len="med"/>
            <a:tailEnd type="none" w="med" len="med"/>
          </a:ln>
        </p:spPr>
      </p:cxnSp>
      <p:sp>
        <p:nvSpPr>
          <p:cNvPr id="48" name="Google Shape;253;p21">
            <a:extLst>
              <a:ext uri="{FF2B5EF4-FFF2-40B4-BE49-F238E27FC236}">
                <a16:creationId xmlns:a16="http://schemas.microsoft.com/office/drawing/2014/main" id="{30E6C16B-89E0-10A7-2329-0558A09ACE26}"/>
              </a:ext>
            </a:extLst>
          </p:cNvPr>
          <p:cNvSpPr/>
          <p:nvPr/>
        </p:nvSpPr>
        <p:spPr>
          <a:xfrm>
            <a:off x="5197995" y="2462343"/>
            <a:ext cx="1174500" cy="424800"/>
          </a:xfrm>
          <a:prstGeom prst="rect">
            <a:avLst/>
          </a:prstGeom>
          <a:gradFill>
            <a:gsLst>
              <a:gs pos="0">
                <a:srgbClr val="00D3E9"/>
              </a:gs>
              <a:gs pos="100000">
                <a:srgbClr val="045962"/>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sz="1300" b="1" dirty="0"/>
              <a:t>Modèle 3</a:t>
            </a:r>
            <a:endParaRPr sz="1300" b="1" dirty="0"/>
          </a:p>
        </p:txBody>
      </p:sp>
      <p:cxnSp>
        <p:nvCxnSpPr>
          <p:cNvPr id="61" name="Google Shape;255;p21">
            <a:extLst>
              <a:ext uri="{FF2B5EF4-FFF2-40B4-BE49-F238E27FC236}">
                <a16:creationId xmlns:a16="http://schemas.microsoft.com/office/drawing/2014/main" id="{7D5EBF3D-4E62-220A-29E3-E6B2A729541E}"/>
              </a:ext>
            </a:extLst>
          </p:cNvPr>
          <p:cNvCxnSpPr>
            <a:cxnSpLocks/>
          </p:cNvCxnSpPr>
          <p:nvPr/>
        </p:nvCxnSpPr>
        <p:spPr>
          <a:xfrm>
            <a:off x="2579257" y="2667737"/>
            <a:ext cx="2615302" cy="3405"/>
          </a:xfrm>
          <a:prstGeom prst="straightConnector1">
            <a:avLst/>
          </a:prstGeom>
          <a:noFill/>
          <a:ln w="9525" cap="flat" cmpd="sng">
            <a:solidFill>
              <a:schemeClr val="dk2"/>
            </a:solidFill>
            <a:prstDash val="solid"/>
            <a:round/>
            <a:headEnd type="none" w="med" len="med"/>
            <a:tailEnd type="triangle" w="med" len="med"/>
          </a:ln>
        </p:spPr>
      </p:cxnSp>
      <p:cxnSp>
        <p:nvCxnSpPr>
          <p:cNvPr id="64" name="Google Shape;254;p21">
            <a:extLst>
              <a:ext uri="{FF2B5EF4-FFF2-40B4-BE49-F238E27FC236}">
                <a16:creationId xmlns:a16="http://schemas.microsoft.com/office/drawing/2014/main" id="{7334C233-83FC-9298-CE37-1B0C27886B09}"/>
              </a:ext>
            </a:extLst>
          </p:cNvPr>
          <p:cNvCxnSpPr>
            <a:cxnSpLocks/>
          </p:cNvCxnSpPr>
          <p:nvPr/>
        </p:nvCxnSpPr>
        <p:spPr>
          <a:xfrm>
            <a:off x="7624350" y="2243502"/>
            <a:ext cx="0" cy="431241"/>
          </a:xfrm>
          <a:prstGeom prst="straightConnector1">
            <a:avLst/>
          </a:prstGeom>
          <a:noFill/>
          <a:ln w="9525" cap="flat" cmpd="sng">
            <a:solidFill>
              <a:schemeClr val="dk2"/>
            </a:solidFill>
            <a:prstDash val="solid"/>
            <a:round/>
            <a:headEnd type="none" w="med" len="med"/>
            <a:tailEnd type="none" w="med" len="med"/>
          </a:ln>
        </p:spPr>
      </p:cxnSp>
      <p:cxnSp>
        <p:nvCxnSpPr>
          <p:cNvPr id="66" name="Google Shape;255;p21">
            <a:extLst>
              <a:ext uri="{FF2B5EF4-FFF2-40B4-BE49-F238E27FC236}">
                <a16:creationId xmlns:a16="http://schemas.microsoft.com/office/drawing/2014/main" id="{ACBF9456-838D-0FB8-2742-D1BFA3E67A21}"/>
              </a:ext>
            </a:extLst>
          </p:cNvPr>
          <p:cNvCxnSpPr>
            <a:cxnSpLocks/>
          </p:cNvCxnSpPr>
          <p:nvPr/>
        </p:nvCxnSpPr>
        <p:spPr>
          <a:xfrm flipH="1">
            <a:off x="6371097" y="2674743"/>
            <a:ext cx="1253253" cy="0"/>
          </a:xfrm>
          <a:prstGeom prst="straightConnector1">
            <a:avLst/>
          </a:prstGeom>
          <a:noFill/>
          <a:ln w="9525" cap="flat" cmpd="sng">
            <a:solidFill>
              <a:schemeClr val="dk2"/>
            </a:solidFill>
            <a:prstDash val="solid"/>
            <a:round/>
            <a:headEnd type="none" w="med" len="med"/>
            <a:tailEnd type="triangle" w="med" len="med"/>
          </a:ln>
        </p:spPr>
      </p:cxnSp>
      <p:cxnSp>
        <p:nvCxnSpPr>
          <p:cNvPr id="73" name="Google Shape;255;p21">
            <a:extLst>
              <a:ext uri="{FF2B5EF4-FFF2-40B4-BE49-F238E27FC236}">
                <a16:creationId xmlns:a16="http://schemas.microsoft.com/office/drawing/2014/main" id="{F60D7056-814E-8184-8D60-D3CC34883412}"/>
              </a:ext>
            </a:extLst>
          </p:cNvPr>
          <p:cNvCxnSpPr>
            <a:cxnSpLocks/>
            <a:stCxn id="48" idx="2"/>
          </p:cNvCxnSpPr>
          <p:nvPr/>
        </p:nvCxnSpPr>
        <p:spPr>
          <a:xfrm flipH="1">
            <a:off x="5780007" y="2887143"/>
            <a:ext cx="5238" cy="791952"/>
          </a:xfrm>
          <a:prstGeom prst="straightConnector1">
            <a:avLst/>
          </a:prstGeom>
          <a:noFill/>
          <a:ln w="9525" cap="flat" cmpd="sng">
            <a:solidFill>
              <a:schemeClr val="dk2"/>
            </a:solidFill>
            <a:prstDash val="solid"/>
            <a:round/>
            <a:headEnd type="none" w="med" len="med"/>
            <a:tailEnd type="triangle" w="med" len="med"/>
          </a:ln>
        </p:spPr>
      </p:cxnSp>
      <p:cxnSp>
        <p:nvCxnSpPr>
          <p:cNvPr id="79" name="Google Shape;266;p21">
            <a:extLst>
              <a:ext uri="{FF2B5EF4-FFF2-40B4-BE49-F238E27FC236}">
                <a16:creationId xmlns:a16="http://schemas.microsoft.com/office/drawing/2014/main" id="{1204485A-A2DA-F047-8335-6EAD7D2635B7}"/>
              </a:ext>
            </a:extLst>
          </p:cNvPr>
          <p:cNvCxnSpPr>
            <a:cxnSpLocks/>
            <a:endCxn id="2" idx="2"/>
          </p:cNvCxnSpPr>
          <p:nvPr/>
        </p:nvCxnSpPr>
        <p:spPr>
          <a:xfrm flipH="1" flipV="1">
            <a:off x="831383" y="2273717"/>
            <a:ext cx="2940517" cy="1385127"/>
          </a:xfrm>
          <a:prstGeom prst="straightConnector1">
            <a:avLst/>
          </a:prstGeom>
          <a:noFill/>
          <a:ln w="9525" cap="flat" cmpd="sng">
            <a:solidFill>
              <a:schemeClr val="dk2"/>
            </a:solidFill>
            <a:prstDash val="solid"/>
            <a:round/>
            <a:headEnd type="none" w="med" len="med"/>
            <a:tailEnd type="triangle" w="med" len="med"/>
          </a:ln>
        </p:spPr>
      </p:cxnSp>
      <p:sp>
        <p:nvSpPr>
          <p:cNvPr id="82" name="Google Shape;272;p21">
            <a:extLst>
              <a:ext uri="{FF2B5EF4-FFF2-40B4-BE49-F238E27FC236}">
                <a16:creationId xmlns:a16="http://schemas.microsoft.com/office/drawing/2014/main" id="{26AE71A9-5162-3098-33A8-9337131C33B8}"/>
              </a:ext>
            </a:extLst>
          </p:cNvPr>
          <p:cNvSpPr txBox="1"/>
          <p:nvPr/>
        </p:nvSpPr>
        <p:spPr>
          <a:xfrm>
            <a:off x="5794840" y="3159562"/>
            <a:ext cx="1482900" cy="153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FR" sz="800" b="1" dirty="0">
                <a:solidFill>
                  <a:schemeClr val="dk2"/>
                </a:solidFill>
              </a:rPr>
              <a:t>Classe la plus probable</a:t>
            </a:r>
          </a:p>
        </p:txBody>
      </p:sp>
      <p:sp>
        <p:nvSpPr>
          <p:cNvPr id="83" name="Google Shape;250;p21">
            <a:extLst>
              <a:ext uri="{FF2B5EF4-FFF2-40B4-BE49-F238E27FC236}">
                <a16:creationId xmlns:a16="http://schemas.microsoft.com/office/drawing/2014/main" id="{239874F2-3F9E-09BD-758C-4563E699AA67}"/>
              </a:ext>
            </a:extLst>
          </p:cNvPr>
          <p:cNvSpPr txBox="1"/>
          <p:nvPr/>
        </p:nvSpPr>
        <p:spPr>
          <a:xfrm>
            <a:off x="342901" y="2792181"/>
            <a:ext cx="1973062" cy="282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a:sym typeface="Inter"/>
              </a:rPr>
              <a:t>Output :</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Niveau de risque</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Classe la plus probable</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Jauge de risque</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Exemple sur les classes probables</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GradCAM</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Conseils utilisateur</a:t>
            </a:r>
          </a:p>
          <a:p>
            <a:pPr marL="0" lvl="0" indent="0" algn="l" rtl="0">
              <a:spcBef>
                <a:spcPts val="0"/>
              </a:spcBef>
              <a:spcAft>
                <a:spcPts val="0"/>
              </a:spcAft>
              <a:buNone/>
            </a:pPr>
            <a:endParaRPr sz="800" dirty="0">
              <a:solidFill>
                <a:schemeClr val="dk2"/>
              </a:solidFill>
              <a:latin typeface="Inter Medium" panose="020B0604020202020204" charset="0"/>
              <a:ea typeface="Inter Medium" panose="020B0604020202020204" charset="0"/>
              <a:cs typeface="Inter Medium"/>
              <a:sym typeface="Inter Medium"/>
            </a:endParaRPr>
          </a:p>
        </p:txBody>
      </p:sp>
    </p:spTree>
    <p:extLst>
      <p:ext uri="{BB962C8B-B14F-4D97-AF65-F5344CB8AC3E}">
        <p14:creationId xmlns:p14="http://schemas.microsoft.com/office/powerpoint/2010/main" val="35230856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985351" y="213002"/>
            <a:ext cx="8035808"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Jeux de données et défis associés</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3905" y="4757596"/>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9</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graphicFrame>
        <p:nvGraphicFramePr>
          <p:cNvPr id="2" name="Tableau 1">
            <a:extLst>
              <a:ext uri="{FF2B5EF4-FFF2-40B4-BE49-F238E27FC236}">
                <a16:creationId xmlns:a16="http://schemas.microsoft.com/office/drawing/2014/main" id="{E7646C9E-376A-9FD4-844A-2538BD04FEEE}"/>
              </a:ext>
            </a:extLst>
          </p:cNvPr>
          <p:cNvGraphicFramePr>
            <a:graphicFrameLocks noGrp="1"/>
          </p:cNvGraphicFramePr>
          <p:nvPr>
            <p:extLst>
              <p:ext uri="{D42A27DB-BD31-4B8C-83A1-F6EECF244321}">
                <p14:modId xmlns:p14="http://schemas.microsoft.com/office/powerpoint/2010/main" val="2530975106"/>
              </p:ext>
            </p:extLst>
          </p:nvPr>
        </p:nvGraphicFramePr>
        <p:xfrm>
          <a:off x="696901" y="992813"/>
          <a:ext cx="8211710" cy="2752157"/>
        </p:xfrm>
        <a:graphic>
          <a:graphicData uri="http://schemas.openxmlformats.org/drawingml/2006/table">
            <a:tbl>
              <a:tblPr firstRow="1" bandRow="1">
                <a:tableStyleId>{616DA210-FB5B-4158-B5E0-FEB733F419BA}</a:tableStyleId>
              </a:tblPr>
              <a:tblGrid>
                <a:gridCol w="1642342">
                  <a:extLst>
                    <a:ext uri="{9D8B030D-6E8A-4147-A177-3AD203B41FA5}">
                      <a16:colId xmlns:a16="http://schemas.microsoft.com/office/drawing/2014/main" val="2728707286"/>
                    </a:ext>
                  </a:extLst>
                </a:gridCol>
                <a:gridCol w="1159348">
                  <a:extLst>
                    <a:ext uri="{9D8B030D-6E8A-4147-A177-3AD203B41FA5}">
                      <a16:colId xmlns:a16="http://schemas.microsoft.com/office/drawing/2014/main" val="2271772352"/>
                    </a:ext>
                  </a:extLst>
                </a:gridCol>
                <a:gridCol w="1472441">
                  <a:extLst>
                    <a:ext uri="{9D8B030D-6E8A-4147-A177-3AD203B41FA5}">
                      <a16:colId xmlns:a16="http://schemas.microsoft.com/office/drawing/2014/main" val="852051412"/>
                    </a:ext>
                  </a:extLst>
                </a:gridCol>
                <a:gridCol w="2407543">
                  <a:extLst>
                    <a:ext uri="{9D8B030D-6E8A-4147-A177-3AD203B41FA5}">
                      <a16:colId xmlns:a16="http://schemas.microsoft.com/office/drawing/2014/main" val="2958294951"/>
                    </a:ext>
                  </a:extLst>
                </a:gridCol>
                <a:gridCol w="1530036">
                  <a:extLst>
                    <a:ext uri="{9D8B030D-6E8A-4147-A177-3AD203B41FA5}">
                      <a16:colId xmlns:a16="http://schemas.microsoft.com/office/drawing/2014/main" val="3365263221"/>
                    </a:ext>
                  </a:extLst>
                </a:gridCol>
              </a:tblGrid>
              <a:tr h="438927">
                <a:tc>
                  <a:txBody>
                    <a:bodyPr/>
                    <a:lstStyle/>
                    <a:p>
                      <a:pPr algn="ctr"/>
                      <a:r>
                        <a:rPr lang="fr-FR" sz="1800" dirty="0" err="1">
                          <a:latin typeface="Inter Medium" panose="020B0604020202020204" charset="0"/>
                          <a:ea typeface="Inter Medium" panose="020B0604020202020204" charset="0"/>
                        </a:rPr>
                        <a:t>Dataset</a:t>
                      </a:r>
                      <a:endParaRPr lang="fr-FR" sz="1800" dirty="0">
                        <a:latin typeface="Inter Medium" panose="020B0604020202020204" charset="0"/>
                        <a:ea typeface="Inter Medium" panose="020B0604020202020204" charset="0"/>
                      </a:endParaRPr>
                    </a:p>
                  </a:txBody>
                  <a:tcPr anchor="ctr"/>
                </a:tc>
                <a:tc>
                  <a:txBody>
                    <a:bodyPr/>
                    <a:lstStyle/>
                    <a:p>
                      <a:pPr algn="ctr"/>
                      <a:r>
                        <a:rPr lang="fr-FR" sz="1800" dirty="0">
                          <a:latin typeface="Inter Medium" panose="020B0604020202020204" charset="0"/>
                          <a:ea typeface="Inter Medium" panose="020B0604020202020204" charset="0"/>
                        </a:rPr>
                        <a:t>Nb images</a:t>
                      </a:r>
                    </a:p>
                  </a:txBody>
                  <a:tcPr anchor="ctr"/>
                </a:tc>
                <a:tc>
                  <a:txBody>
                    <a:bodyPr/>
                    <a:lstStyle/>
                    <a:p>
                      <a:pPr algn="ctr"/>
                      <a:r>
                        <a:rPr lang="fr-FR" sz="1800" dirty="0">
                          <a:latin typeface="Inter Medium" panose="020B0604020202020204" charset="0"/>
                          <a:ea typeface="Inter Medium" panose="020B0604020202020204" charset="0"/>
                        </a:rPr>
                        <a:t>Classes</a:t>
                      </a:r>
                    </a:p>
                  </a:txBody>
                  <a:tcPr anchor="ctr"/>
                </a:tc>
                <a:tc>
                  <a:txBody>
                    <a:bodyPr/>
                    <a:lstStyle/>
                    <a:p>
                      <a:pPr algn="ctr"/>
                      <a:r>
                        <a:rPr lang="fr-FR" sz="1800" dirty="0">
                          <a:latin typeface="Inter Medium" panose="020B0604020202020204" charset="0"/>
                          <a:ea typeface="Inter Medium" panose="020B0604020202020204" charset="0"/>
                        </a:rPr>
                        <a:t>Particularités</a:t>
                      </a:r>
                    </a:p>
                  </a:txBody>
                  <a:tcPr anchor="ctr"/>
                </a:tc>
                <a:tc>
                  <a:txBody>
                    <a:bodyPr/>
                    <a:lstStyle/>
                    <a:p>
                      <a:pPr algn="ctr"/>
                      <a:r>
                        <a:rPr lang="fr-FR" sz="1800" dirty="0">
                          <a:latin typeface="Inter Medium" panose="020B0604020202020204" charset="0"/>
                          <a:ea typeface="Inter Medium" panose="020B0604020202020204" charset="0"/>
                        </a:rPr>
                        <a:t>Exemple visuel</a:t>
                      </a:r>
                    </a:p>
                  </a:txBody>
                  <a:tcPr anchor="ctr"/>
                </a:tc>
                <a:extLst>
                  <a:ext uri="{0D108BD9-81ED-4DB2-BD59-A6C34878D82A}">
                    <a16:rowId xmlns:a16="http://schemas.microsoft.com/office/drawing/2014/main" val="1883333947"/>
                  </a:ext>
                </a:extLst>
              </a:tr>
              <a:tr h="1068309">
                <a:tc>
                  <a:txBody>
                    <a:bodyPr/>
                    <a:lstStyle/>
                    <a:p>
                      <a:pPr algn="ctr"/>
                      <a:r>
                        <a:rPr lang="fr-FR" b="1" u="sng" dirty="0">
                          <a:latin typeface="Inter Medium" panose="020B0604020202020204" charset="0"/>
                          <a:ea typeface="Inter Medium" panose="020B0604020202020204" charset="0"/>
                        </a:rPr>
                        <a:t>Skin </a:t>
                      </a:r>
                      <a:r>
                        <a:rPr lang="fr-FR" b="1" u="sng" dirty="0" err="1">
                          <a:latin typeface="Inter Medium" panose="020B0604020202020204" charset="0"/>
                          <a:ea typeface="Inter Medium" panose="020B0604020202020204" charset="0"/>
                        </a:rPr>
                        <a:t>Disease</a:t>
                      </a:r>
                      <a:endParaRPr lang="fr-FR" b="1" u="sng" dirty="0">
                        <a:latin typeface="Inter Medium" panose="020B0604020202020204" charset="0"/>
                        <a:ea typeface="Inter Medium" panose="020B0604020202020204" charset="0"/>
                      </a:endParaRPr>
                    </a:p>
                  </a:txBody>
                  <a:tcPr anchor="ctr">
                    <a:noFill/>
                  </a:tcPr>
                </a:tc>
                <a:tc>
                  <a:txBody>
                    <a:bodyPr/>
                    <a:lstStyle/>
                    <a:p>
                      <a:pPr algn="ctr"/>
                      <a:r>
                        <a:rPr lang="fr-FR" dirty="0">
                          <a:latin typeface="Inter Medium" panose="020B0604020202020204" charset="0"/>
                          <a:ea typeface="Inter Medium" panose="020B0604020202020204" charset="0"/>
                        </a:rPr>
                        <a:t>~3 300</a:t>
                      </a:r>
                    </a:p>
                  </a:txBody>
                  <a:tcPr anchor="ctr">
                    <a:noFill/>
                  </a:tcPr>
                </a:tc>
                <a:tc>
                  <a:txBody>
                    <a:bodyPr/>
                    <a:lstStyle/>
                    <a:p>
                      <a:pPr algn="ctr"/>
                      <a:r>
                        <a:rPr lang="fr-FR" dirty="0">
                          <a:latin typeface="Inter Medium" panose="020B0604020202020204" charset="0"/>
                          <a:ea typeface="Inter Medium" panose="020B0604020202020204" charset="0"/>
                        </a:rPr>
                        <a:t>2</a:t>
                      </a:r>
                    </a:p>
                    <a:p>
                      <a:pPr algn="ctr"/>
                      <a:r>
                        <a:rPr lang="fr-FR" dirty="0">
                          <a:latin typeface="Inter Medium" panose="020B0604020202020204" charset="0"/>
                          <a:ea typeface="Inter Medium" panose="020B0604020202020204" charset="0"/>
                        </a:rPr>
                        <a:t> (Bénin/Malin)</a:t>
                      </a:r>
                    </a:p>
                  </a:txBody>
                  <a:tcPr anchor="ctr">
                    <a:noFill/>
                  </a:tcPr>
                </a:tc>
                <a:tc>
                  <a:txBody>
                    <a:bodyPr/>
                    <a:lstStyle/>
                    <a:p>
                      <a:pPr algn="ctr"/>
                      <a:r>
                        <a:rPr lang="fr-FR" dirty="0" err="1">
                          <a:latin typeface="Inter Medium" panose="020B0604020202020204" charset="0"/>
                          <a:ea typeface="Inter Medium" panose="020B0604020202020204" charset="0"/>
                        </a:rPr>
                        <a:t>Dataset</a:t>
                      </a:r>
                      <a:r>
                        <a:rPr lang="fr-FR" dirty="0">
                          <a:latin typeface="Inter Medium" panose="020B0604020202020204" charset="0"/>
                          <a:ea typeface="Inter Medium" panose="020B0604020202020204" charset="0"/>
                        </a:rPr>
                        <a:t> équilibré, utile pour entraînement binaire</a:t>
                      </a:r>
                    </a:p>
                  </a:txBody>
                  <a:tcPr anchor="ctr">
                    <a:noFill/>
                  </a:tcPr>
                </a:tc>
                <a:tc>
                  <a:txBody>
                    <a:bodyPr/>
                    <a:lstStyle/>
                    <a:p>
                      <a:pPr algn="ctr"/>
                      <a:endParaRPr lang="fr-FR" dirty="0">
                        <a:latin typeface="Inter Medium" panose="020B0604020202020204" charset="0"/>
                        <a:ea typeface="Inter Medium" panose="020B0604020202020204" charset="0"/>
                      </a:endParaRPr>
                    </a:p>
                  </a:txBody>
                  <a:tcPr anchor="ctr">
                    <a:noFill/>
                  </a:tcPr>
                </a:tc>
                <a:extLst>
                  <a:ext uri="{0D108BD9-81ED-4DB2-BD59-A6C34878D82A}">
                    <a16:rowId xmlns:a16="http://schemas.microsoft.com/office/drawing/2014/main" val="292305333"/>
                  </a:ext>
                </a:extLst>
              </a:tr>
              <a:tr h="1043768">
                <a:tc>
                  <a:txBody>
                    <a:bodyPr/>
                    <a:lstStyle/>
                    <a:p>
                      <a:pPr algn="ctr"/>
                      <a:r>
                        <a:rPr lang="fr-FR" b="1" u="sng" dirty="0">
                          <a:latin typeface="Inter Medium" panose="020B0604020202020204" charset="0"/>
                          <a:ea typeface="Inter Medium" panose="020B0604020202020204" charset="0"/>
                        </a:rPr>
                        <a:t>HAM10000</a:t>
                      </a:r>
                    </a:p>
                  </a:txBody>
                  <a:tcPr anchor="ctr"/>
                </a:tc>
                <a:tc>
                  <a:txBody>
                    <a:bodyPr/>
                    <a:lstStyle/>
                    <a:p>
                      <a:pPr algn="ctr"/>
                      <a:r>
                        <a:rPr lang="fr-FR" dirty="0">
                          <a:latin typeface="Inter Medium" panose="020B0604020202020204" charset="0"/>
                          <a:ea typeface="Inter Medium" panose="020B0604020202020204" charset="0"/>
                        </a:rPr>
                        <a:t>10 000</a:t>
                      </a:r>
                    </a:p>
                  </a:txBody>
                  <a:tcPr anchor="ctr"/>
                </a:tc>
                <a:tc>
                  <a:txBody>
                    <a:bodyPr/>
                    <a:lstStyle/>
                    <a:p>
                      <a:pPr algn="ctr"/>
                      <a:r>
                        <a:rPr lang="fr-FR" dirty="0">
                          <a:latin typeface="Inter Medium" panose="020B0604020202020204" charset="0"/>
                          <a:ea typeface="Inter Medium" panose="020B0604020202020204" charset="0"/>
                        </a:rPr>
                        <a:t>7 </a:t>
                      </a:r>
                    </a:p>
                    <a:p>
                      <a:pPr algn="ctr"/>
                      <a:r>
                        <a:rPr lang="fr-FR" dirty="0">
                          <a:latin typeface="Inter Medium" panose="020B0604020202020204" charset="0"/>
                          <a:ea typeface="Inter Medium" panose="020B0604020202020204" charset="0"/>
                        </a:rPr>
                        <a:t>(3 malignes, 4 bénignes)</a:t>
                      </a:r>
                    </a:p>
                  </a:txBody>
                  <a:tcPr anchor="ctr"/>
                </a:tc>
                <a:tc>
                  <a:txBody>
                    <a:bodyPr/>
                    <a:lstStyle/>
                    <a:p>
                      <a:pPr algn="ctr"/>
                      <a:r>
                        <a:rPr lang="fr-FR" dirty="0" err="1">
                          <a:latin typeface="Inter Medium" panose="020B0604020202020204" charset="0"/>
                          <a:ea typeface="Inter Medium" panose="020B0604020202020204" charset="0"/>
                        </a:rPr>
                        <a:t>Dataset</a:t>
                      </a:r>
                      <a:r>
                        <a:rPr lang="fr-FR" dirty="0">
                          <a:latin typeface="Inter Medium" panose="020B0604020202020204" charset="0"/>
                          <a:ea typeface="Inter Medium" panose="020B0604020202020204" charset="0"/>
                        </a:rPr>
                        <a:t> de référence avec métadonnées (âge, sexe, localisation)</a:t>
                      </a:r>
                    </a:p>
                  </a:txBody>
                  <a:tcPr anchor="ctr"/>
                </a:tc>
                <a:tc>
                  <a:txBody>
                    <a:bodyPr/>
                    <a:lstStyle/>
                    <a:p>
                      <a:pPr algn="ctr"/>
                      <a:endParaRPr lang="fr-FR" dirty="0">
                        <a:latin typeface="Inter Medium" panose="020B0604020202020204" charset="0"/>
                        <a:ea typeface="Inter Medium" panose="020B0604020202020204" charset="0"/>
                      </a:endParaRPr>
                    </a:p>
                  </a:txBody>
                  <a:tcPr anchor="ctr"/>
                </a:tc>
                <a:extLst>
                  <a:ext uri="{0D108BD9-81ED-4DB2-BD59-A6C34878D82A}">
                    <a16:rowId xmlns:a16="http://schemas.microsoft.com/office/drawing/2014/main" val="702226961"/>
                  </a:ext>
                </a:extLst>
              </a:tr>
            </a:tbl>
          </a:graphicData>
        </a:graphic>
      </p:graphicFrame>
      <p:pic>
        <p:nvPicPr>
          <p:cNvPr id="4" name="Image 3">
            <a:extLst>
              <a:ext uri="{FF2B5EF4-FFF2-40B4-BE49-F238E27FC236}">
                <a16:creationId xmlns:a16="http://schemas.microsoft.com/office/drawing/2014/main" id="{A4C06B30-2850-530A-2DBA-F042DDBDAAF1}"/>
              </a:ext>
            </a:extLst>
          </p:cNvPr>
          <p:cNvPicPr>
            <a:picLocks noChangeAspect="1"/>
          </p:cNvPicPr>
          <p:nvPr/>
        </p:nvPicPr>
        <p:blipFill>
          <a:blip r:embed="rId6"/>
          <a:stretch>
            <a:fillRect/>
          </a:stretch>
        </p:blipFill>
        <p:spPr>
          <a:xfrm>
            <a:off x="7602676" y="2796557"/>
            <a:ext cx="1144132" cy="858099"/>
          </a:xfrm>
          <a:prstGeom prst="rect">
            <a:avLst/>
          </a:prstGeom>
        </p:spPr>
      </p:pic>
      <p:pic>
        <p:nvPicPr>
          <p:cNvPr id="6" name="Image 5">
            <a:extLst>
              <a:ext uri="{FF2B5EF4-FFF2-40B4-BE49-F238E27FC236}">
                <a16:creationId xmlns:a16="http://schemas.microsoft.com/office/drawing/2014/main" id="{5205DF12-F95F-52FA-EE6F-C39AA5C4FE70}"/>
              </a:ext>
            </a:extLst>
          </p:cNvPr>
          <p:cNvPicPr>
            <a:picLocks noChangeAspect="1"/>
          </p:cNvPicPr>
          <p:nvPr/>
        </p:nvPicPr>
        <p:blipFill>
          <a:blip r:embed="rId7"/>
          <a:stretch>
            <a:fillRect/>
          </a:stretch>
        </p:blipFill>
        <p:spPr>
          <a:xfrm>
            <a:off x="7707702" y="1727738"/>
            <a:ext cx="934079" cy="934079"/>
          </a:xfrm>
          <a:prstGeom prst="rect">
            <a:avLst/>
          </a:prstGeom>
        </p:spPr>
      </p:pic>
      <p:sp>
        <p:nvSpPr>
          <p:cNvPr id="5" name="ZoneTexte 4">
            <a:extLst>
              <a:ext uri="{FF2B5EF4-FFF2-40B4-BE49-F238E27FC236}">
                <a16:creationId xmlns:a16="http://schemas.microsoft.com/office/drawing/2014/main" id="{B30D2BB3-72EA-B157-17AD-E502B8AB27DD}"/>
              </a:ext>
            </a:extLst>
          </p:cNvPr>
          <p:cNvSpPr txBox="1"/>
          <p:nvPr/>
        </p:nvSpPr>
        <p:spPr>
          <a:xfrm>
            <a:off x="810286" y="3899371"/>
            <a:ext cx="8210872" cy="738664"/>
          </a:xfrm>
          <a:prstGeom prst="rect">
            <a:avLst/>
          </a:prstGeom>
          <a:noFill/>
        </p:spPr>
        <p:txBody>
          <a:bodyPr wrap="square">
            <a:spAutoFit/>
          </a:bodyPr>
          <a:lstStyle/>
          <a:p>
            <a:r>
              <a:rPr lang="fr-FR" b="1" dirty="0">
                <a:latin typeface="Inter Medium" panose="020B0604020202020204" charset="0"/>
                <a:ea typeface="Inter Medium" panose="020B0604020202020204" charset="0"/>
              </a:rPr>
              <a:t>Limites : </a:t>
            </a:r>
          </a:p>
          <a:p>
            <a:r>
              <a:rPr lang="fr-FR" dirty="0">
                <a:latin typeface="Inter Medium" panose="020B0604020202020204" charset="0"/>
                <a:ea typeface="Inter Medium" panose="020B0604020202020204" charset="0"/>
              </a:rPr>
              <a:t>Déséquilibre de classes / Diversité limitée / Qualité hétérogène des images / </a:t>
            </a:r>
          </a:p>
          <a:p>
            <a:r>
              <a:rPr lang="fr-FR" dirty="0">
                <a:latin typeface="Inter Medium" panose="020B0604020202020204" charset="0"/>
                <a:ea typeface="Inter Medium" panose="020B0604020202020204" charset="0"/>
              </a:rPr>
              <a:t>Protection des données (RGPD)</a:t>
            </a:r>
          </a:p>
        </p:txBody>
      </p:sp>
    </p:spTree>
    <p:extLst>
      <p:ext uri="{BB962C8B-B14F-4D97-AF65-F5344CB8AC3E}">
        <p14:creationId xmlns:p14="http://schemas.microsoft.com/office/powerpoint/2010/main" val="1801172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985351" y="213002"/>
            <a:ext cx="8035808"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Détail des 3 modèles</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3905" y="4757596"/>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10</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graphicFrame>
        <p:nvGraphicFramePr>
          <p:cNvPr id="2" name="Tableau 1">
            <a:extLst>
              <a:ext uri="{FF2B5EF4-FFF2-40B4-BE49-F238E27FC236}">
                <a16:creationId xmlns:a16="http://schemas.microsoft.com/office/drawing/2014/main" id="{E7646C9E-376A-9FD4-844A-2538BD04FEEE}"/>
              </a:ext>
            </a:extLst>
          </p:cNvPr>
          <p:cNvGraphicFramePr>
            <a:graphicFrameLocks noGrp="1"/>
          </p:cNvGraphicFramePr>
          <p:nvPr>
            <p:extLst>
              <p:ext uri="{D42A27DB-BD31-4B8C-83A1-F6EECF244321}">
                <p14:modId xmlns:p14="http://schemas.microsoft.com/office/powerpoint/2010/main" val="3060526099"/>
              </p:ext>
            </p:extLst>
          </p:nvPr>
        </p:nvGraphicFramePr>
        <p:xfrm>
          <a:off x="408451" y="915635"/>
          <a:ext cx="8324257" cy="3354122"/>
        </p:xfrm>
        <a:graphic>
          <a:graphicData uri="http://schemas.openxmlformats.org/drawingml/2006/table">
            <a:tbl>
              <a:tblPr firstRow="1" bandRow="1">
                <a:tableStyleId>{616DA210-FB5B-4158-B5E0-FEB733F419BA}</a:tableStyleId>
              </a:tblPr>
              <a:tblGrid>
                <a:gridCol w="1519531">
                  <a:extLst>
                    <a:ext uri="{9D8B030D-6E8A-4147-A177-3AD203B41FA5}">
                      <a16:colId xmlns:a16="http://schemas.microsoft.com/office/drawing/2014/main" val="2728707286"/>
                    </a:ext>
                  </a:extLst>
                </a:gridCol>
                <a:gridCol w="2268242">
                  <a:extLst>
                    <a:ext uri="{9D8B030D-6E8A-4147-A177-3AD203B41FA5}">
                      <a16:colId xmlns:a16="http://schemas.microsoft.com/office/drawing/2014/main" val="2271772352"/>
                    </a:ext>
                  </a:extLst>
                </a:gridCol>
                <a:gridCol w="2268242">
                  <a:extLst>
                    <a:ext uri="{9D8B030D-6E8A-4147-A177-3AD203B41FA5}">
                      <a16:colId xmlns:a16="http://schemas.microsoft.com/office/drawing/2014/main" val="852051412"/>
                    </a:ext>
                  </a:extLst>
                </a:gridCol>
                <a:gridCol w="2268242">
                  <a:extLst>
                    <a:ext uri="{9D8B030D-6E8A-4147-A177-3AD203B41FA5}">
                      <a16:colId xmlns:a16="http://schemas.microsoft.com/office/drawing/2014/main" val="2958294951"/>
                    </a:ext>
                  </a:extLst>
                </a:gridCol>
              </a:tblGrid>
              <a:tr h="578187">
                <a:tc>
                  <a:txBody>
                    <a:bodyPr/>
                    <a:lstStyle/>
                    <a:p>
                      <a:pPr algn="ctr"/>
                      <a:r>
                        <a:rPr lang="fr-FR" sz="1800" dirty="0">
                          <a:latin typeface="Inter Medium" panose="020B0604020202020204" charset="0"/>
                          <a:ea typeface="Inter Medium" panose="020B0604020202020204" charset="0"/>
                        </a:rPr>
                        <a:t>Modèle</a:t>
                      </a:r>
                    </a:p>
                  </a:txBody>
                  <a:tcPr anchor="ctr"/>
                </a:tc>
                <a:tc>
                  <a:txBody>
                    <a:bodyPr/>
                    <a:lstStyle/>
                    <a:p>
                      <a:pPr algn="ctr"/>
                      <a:r>
                        <a:rPr lang="fr-FR" sz="1800" dirty="0">
                          <a:latin typeface="Inter Medium" panose="020B0604020202020204" charset="0"/>
                          <a:ea typeface="Inter Medium" panose="020B0604020202020204" charset="0"/>
                        </a:rPr>
                        <a:t>#1</a:t>
                      </a:r>
                    </a:p>
                  </a:txBody>
                  <a:tcPr anchor="ctr"/>
                </a:tc>
                <a:tc>
                  <a:txBody>
                    <a:bodyPr/>
                    <a:lstStyle/>
                    <a:p>
                      <a:pPr algn="ctr"/>
                      <a:r>
                        <a:rPr lang="fr-FR" sz="1800" dirty="0">
                          <a:latin typeface="Inter Medium" panose="020B0604020202020204" charset="0"/>
                          <a:ea typeface="Inter Medium" panose="020B0604020202020204" charset="0"/>
                        </a:rPr>
                        <a:t>#2</a:t>
                      </a:r>
                    </a:p>
                  </a:txBody>
                  <a:tcPr anchor="ctr"/>
                </a:tc>
                <a:tc>
                  <a:txBody>
                    <a:bodyPr/>
                    <a:lstStyle/>
                    <a:p>
                      <a:pPr algn="ctr"/>
                      <a:r>
                        <a:rPr lang="fr-FR" sz="1800" dirty="0">
                          <a:latin typeface="Inter Medium" panose="020B0604020202020204" charset="0"/>
                          <a:ea typeface="Inter Medium" panose="020B0604020202020204" charset="0"/>
                        </a:rPr>
                        <a:t>#3</a:t>
                      </a:r>
                    </a:p>
                  </a:txBody>
                  <a:tcPr anchor="ctr"/>
                </a:tc>
                <a:extLst>
                  <a:ext uri="{0D108BD9-81ED-4DB2-BD59-A6C34878D82A}">
                    <a16:rowId xmlns:a16="http://schemas.microsoft.com/office/drawing/2014/main" val="1883333947"/>
                  </a:ext>
                </a:extLst>
              </a:tr>
              <a:tr h="621609">
                <a:tc>
                  <a:txBody>
                    <a:bodyPr/>
                    <a:lstStyle/>
                    <a:p>
                      <a:pPr algn="ctr"/>
                      <a:r>
                        <a:rPr lang="fr-FR" sz="1400" b="1" u="none" dirty="0" err="1">
                          <a:latin typeface="Inter Medium" panose="020B0604020202020204" charset="0"/>
                          <a:ea typeface="Inter Medium" panose="020B0604020202020204" charset="0"/>
                        </a:rPr>
                        <a:t>Dataset</a:t>
                      </a:r>
                      <a:endParaRPr lang="fr-FR" sz="1400" b="1" u="none" dirty="0">
                        <a:latin typeface="Inter Medium" panose="020B0604020202020204" charset="0"/>
                        <a:ea typeface="Inter Medium" panose="020B0604020202020204" charset="0"/>
                      </a:endParaRPr>
                    </a:p>
                  </a:txBody>
                  <a:tcPr anchor="ctr">
                    <a:noFill/>
                  </a:tcPr>
                </a:tc>
                <a:tc>
                  <a:txBody>
                    <a:bodyPr/>
                    <a:lstStyle/>
                    <a:p>
                      <a:pPr algn="ctr"/>
                      <a:r>
                        <a:rPr lang="fr-FR" sz="1400" dirty="0">
                          <a:latin typeface="Inter Medium" panose="020B0604020202020204" charset="0"/>
                          <a:ea typeface="Inter Medium" panose="020B0604020202020204" charset="0"/>
                        </a:rPr>
                        <a:t>Skin </a:t>
                      </a:r>
                      <a:r>
                        <a:rPr lang="fr-FR" sz="1400" dirty="0" err="1">
                          <a:latin typeface="Inter Medium" panose="020B0604020202020204" charset="0"/>
                          <a:ea typeface="Inter Medium" panose="020B0604020202020204" charset="0"/>
                        </a:rPr>
                        <a:t>Disease</a:t>
                      </a:r>
                      <a:endParaRPr lang="fr-FR" sz="1400" dirty="0">
                        <a:latin typeface="Inter Medium" panose="020B0604020202020204" charset="0"/>
                        <a:ea typeface="Inter Medium" panose="020B0604020202020204" charset="0"/>
                      </a:endParaRPr>
                    </a:p>
                  </a:txBody>
                  <a:tcPr anchor="ctr">
                    <a:noFill/>
                  </a:tcPr>
                </a:tc>
                <a:tc>
                  <a:txBody>
                    <a:bodyPr/>
                    <a:lstStyle/>
                    <a:p>
                      <a:pPr algn="ctr"/>
                      <a:r>
                        <a:rPr lang="fr-FR" sz="1400" dirty="0">
                          <a:latin typeface="Inter Medium" panose="020B0604020202020204" charset="0"/>
                          <a:ea typeface="Inter Medium" panose="020B0604020202020204" charset="0"/>
                        </a:rPr>
                        <a:t>HAM10000 (40%)</a:t>
                      </a:r>
                    </a:p>
                  </a:txBody>
                  <a:tcPr anchor="ctr">
                    <a:noFill/>
                  </a:tcPr>
                </a:tc>
                <a:tc>
                  <a:txBody>
                    <a:bodyPr/>
                    <a:lstStyle/>
                    <a:p>
                      <a:pPr algn="ctr"/>
                      <a:r>
                        <a:rPr lang="fr-FR" sz="1400" dirty="0">
                          <a:latin typeface="Inter Medium" panose="020B0604020202020204" charset="0"/>
                          <a:ea typeface="Inter Medium" panose="020B0604020202020204" charset="0"/>
                        </a:rPr>
                        <a:t>HAM10000 + csv (40%)</a:t>
                      </a:r>
                    </a:p>
                  </a:txBody>
                  <a:tcPr anchor="ctr">
                    <a:noFill/>
                  </a:tcPr>
                </a:tc>
                <a:extLst>
                  <a:ext uri="{0D108BD9-81ED-4DB2-BD59-A6C34878D82A}">
                    <a16:rowId xmlns:a16="http://schemas.microsoft.com/office/drawing/2014/main" val="292305333"/>
                  </a:ext>
                </a:extLst>
              </a:tr>
              <a:tr h="621609">
                <a:tc>
                  <a:txBody>
                    <a:bodyPr/>
                    <a:lstStyle/>
                    <a:p>
                      <a:pPr algn="ctr"/>
                      <a:r>
                        <a:rPr lang="fr-FR" sz="1400" b="1" u="none" dirty="0">
                          <a:latin typeface="Inter Medium" panose="020B0604020202020204" charset="0"/>
                          <a:ea typeface="Inter Medium" panose="020B0604020202020204" charset="0"/>
                        </a:rPr>
                        <a:t>Tâche</a:t>
                      </a:r>
                    </a:p>
                  </a:txBody>
                  <a:tcPr anchor="ctr">
                    <a:noFill/>
                  </a:tcPr>
                </a:tc>
                <a:tc>
                  <a:txBody>
                    <a:bodyPr/>
                    <a:lstStyle/>
                    <a:p>
                      <a:pPr algn="ctr"/>
                      <a:r>
                        <a:rPr lang="fr-FR" sz="1400" dirty="0">
                          <a:latin typeface="Inter Medium" panose="020B0604020202020204" charset="0"/>
                          <a:ea typeface="Inter Medium" panose="020B0604020202020204" charset="0"/>
                        </a:rPr>
                        <a:t>Binaire (bénin vs malin)</a:t>
                      </a:r>
                    </a:p>
                  </a:txBody>
                  <a:tcPr anchor="ctr">
                    <a:noFill/>
                  </a:tcPr>
                </a:tc>
                <a:tc>
                  <a:txBody>
                    <a:bodyPr/>
                    <a:lstStyle/>
                    <a:p>
                      <a:pPr algn="ctr"/>
                      <a:r>
                        <a:rPr lang="fr-FR" sz="1400" dirty="0" err="1">
                          <a:latin typeface="Inter Medium" panose="020B0604020202020204" charset="0"/>
                          <a:ea typeface="Inter Medium" panose="020B0604020202020204" charset="0"/>
                        </a:rPr>
                        <a:t>Multiclasse</a:t>
                      </a:r>
                      <a:r>
                        <a:rPr lang="fr-FR" sz="1400" dirty="0">
                          <a:latin typeface="Inter Medium" panose="020B0604020202020204" charset="0"/>
                          <a:ea typeface="Inter Medium" panose="020B0604020202020204" charset="0"/>
                        </a:rPr>
                        <a:t> (7 classes)</a:t>
                      </a:r>
                    </a:p>
                  </a:txBody>
                  <a:tcPr anchor="ctr">
                    <a:noFill/>
                  </a:tcPr>
                </a:tc>
                <a:tc>
                  <a:txBody>
                    <a:bodyPr/>
                    <a:lstStyle/>
                    <a:p>
                      <a:pPr algn="ctr"/>
                      <a:r>
                        <a:rPr lang="fr-FR" sz="1400" dirty="0" err="1">
                          <a:latin typeface="Inter Medium" panose="020B0604020202020204" charset="0"/>
                          <a:ea typeface="Inter Medium" panose="020B0604020202020204" charset="0"/>
                        </a:rPr>
                        <a:t>Multiclasse</a:t>
                      </a:r>
                      <a:r>
                        <a:rPr lang="fr-FR" sz="1400" dirty="0">
                          <a:latin typeface="Inter Medium" panose="020B0604020202020204" charset="0"/>
                          <a:ea typeface="Inter Medium" panose="020B0604020202020204" charset="0"/>
                        </a:rPr>
                        <a:t> (7 classe)</a:t>
                      </a:r>
                    </a:p>
                  </a:txBody>
                  <a:tcPr anchor="ctr">
                    <a:noFill/>
                  </a:tcPr>
                </a:tc>
                <a:extLst>
                  <a:ext uri="{0D108BD9-81ED-4DB2-BD59-A6C34878D82A}">
                    <a16:rowId xmlns:a16="http://schemas.microsoft.com/office/drawing/2014/main" val="3999110179"/>
                  </a:ext>
                </a:extLst>
              </a:tr>
              <a:tr h="621609">
                <a:tc>
                  <a:txBody>
                    <a:bodyPr/>
                    <a:lstStyle/>
                    <a:p>
                      <a:pPr algn="ctr"/>
                      <a:r>
                        <a:rPr lang="fr-FR" sz="1400" b="1" u="none" dirty="0">
                          <a:latin typeface="Inter Medium" panose="020B0604020202020204" charset="0"/>
                          <a:ea typeface="Inter Medium" panose="020B0604020202020204" charset="0"/>
                        </a:rPr>
                        <a:t>Type</a:t>
                      </a:r>
                    </a:p>
                  </a:txBody>
                  <a:tcPr anchor="ctr">
                    <a:noFill/>
                  </a:tcPr>
                </a:tc>
                <a:tc>
                  <a:txBody>
                    <a:bodyPr/>
                    <a:lstStyle/>
                    <a:p>
                      <a:pPr algn="ctr"/>
                      <a:r>
                        <a:rPr lang="fr-FR" sz="1400" b="1" dirty="0" err="1">
                          <a:latin typeface="Inter Medium" panose="020B0604020202020204" charset="0"/>
                          <a:ea typeface="Inter Medium" panose="020B0604020202020204" charset="0"/>
                        </a:rPr>
                        <a:t>EfficientNet</a:t>
                      </a:r>
                      <a:r>
                        <a:rPr lang="fr-FR" sz="1400" b="1" dirty="0">
                          <a:latin typeface="Inter Medium" panose="020B0604020202020204" charset="0"/>
                          <a:ea typeface="Inter Medium" panose="020B0604020202020204" charset="0"/>
                        </a:rPr>
                        <a:t> B0 (TL+FT)</a:t>
                      </a:r>
                    </a:p>
                  </a:txBody>
                  <a:tcPr anchor="ctr">
                    <a:noFill/>
                  </a:tcPr>
                </a:tc>
                <a:tc>
                  <a:txBody>
                    <a:bodyPr/>
                    <a:lstStyle/>
                    <a:p>
                      <a:pPr algn="ctr"/>
                      <a:r>
                        <a:rPr lang="fr-FR" sz="1400" b="1" dirty="0">
                          <a:latin typeface="Inter Medium" panose="020B0604020202020204" charset="0"/>
                          <a:ea typeface="Inter Medium" panose="020B0604020202020204" charset="0"/>
                        </a:rPr>
                        <a:t>ResNet50 (TL+FT)</a:t>
                      </a:r>
                    </a:p>
                  </a:txBody>
                  <a:tcPr anchor="ctr">
                    <a:noFill/>
                  </a:tcPr>
                </a:tc>
                <a:tc>
                  <a:txBody>
                    <a:bodyPr/>
                    <a:lstStyle/>
                    <a:p>
                      <a:pPr algn="ctr"/>
                      <a:r>
                        <a:rPr lang="fr-FR" sz="1400" b="1" dirty="0" err="1">
                          <a:latin typeface="Inter Medium" panose="020B0604020202020204" charset="0"/>
                          <a:ea typeface="Inter Medium" panose="020B0604020202020204" charset="0"/>
                        </a:rPr>
                        <a:t>Random</a:t>
                      </a:r>
                      <a:r>
                        <a:rPr lang="fr-FR" sz="1400" b="1" dirty="0">
                          <a:latin typeface="Inter Medium" panose="020B0604020202020204" charset="0"/>
                          <a:ea typeface="Inter Medium" panose="020B0604020202020204" charset="0"/>
                        </a:rPr>
                        <a:t> Forest</a:t>
                      </a:r>
                    </a:p>
                  </a:txBody>
                  <a:tcPr anchor="ctr">
                    <a:noFill/>
                  </a:tcPr>
                </a:tc>
                <a:extLst>
                  <a:ext uri="{0D108BD9-81ED-4DB2-BD59-A6C34878D82A}">
                    <a16:rowId xmlns:a16="http://schemas.microsoft.com/office/drawing/2014/main" val="878852127"/>
                  </a:ext>
                </a:extLst>
              </a:tr>
              <a:tr h="911108">
                <a:tc>
                  <a:txBody>
                    <a:bodyPr/>
                    <a:lstStyle/>
                    <a:p>
                      <a:pPr algn="ctr"/>
                      <a:r>
                        <a:rPr lang="fr-FR" sz="1400" b="1" u="none" dirty="0">
                          <a:latin typeface="Inter Medium" panose="020B0604020202020204" charset="0"/>
                          <a:ea typeface="Inter Medium" panose="020B0604020202020204" charset="0"/>
                        </a:rPr>
                        <a:t>Entrée</a:t>
                      </a:r>
                    </a:p>
                  </a:txBody>
                  <a:tcPr anchor="ctr">
                    <a:noFill/>
                  </a:tcPr>
                </a:tc>
                <a:tc>
                  <a:txBody>
                    <a:bodyPr/>
                    <a:lstStyle/>
                    <a:p>
                      <a:pPr algn="ctr"/>
                      <a:r>
                        <a:rPr lang="fr-FR" sz="1400" dirty="0">
                          <a:latin typeface="Inter Medium" panose="020B0604020202020204" charset="0"/>
                          <a:ea typeface="Inter Medium" panose="020B0604020202020204" charset="0"/>
                        </a:rPr>
                        <a:t>Image 240x240x3</a:t>
                      </a:r>
                    </a:p>
                  </a:txBody>
                  <a:tcPr anchor="ctr">
                    <a:noFill/>
                  </a:tcPr>
                </a:tc>
                <a:tc>
                  <a:txBody>
                    <a:bodyPr/>
                    <a:lstStyle/>
                    <a:p>
                      <a:pPr algn="ctr"/>
                      <a:r>
                        <a:rPr lang="fr-FR" sz="1400" dirty="0">
                          <a:latin typeface="Inter Medium" panose="020B0604020202020204" charset="0"/>
                          <a:ea typeface="Inter Medium" panose="020B0604020202020204" charset="0"/>
                        </a:rPr>
                        <a:t>Image 224x224x3</a:t>
                      </a:r>
                    </a:p>
                  </a:txBody>
                  <a:tcPr anchor="ctr">
                    <a:noFill/>
                  </a:tcPr>
                </a:tc>
                <a:tc>
                  <a:txBody>
                    <a:bodyPr/>
                    <a:lstStyle/>
                    <a:p>
                      <a:pPr algn="ctr"/>
                      <a:r>
                        <a:rPr lang="fr-FR" sz="1400" dirty="0">
                          <a:latin typeface="Inter Medium" panose="020B0604020202020204" charset="0"/>
                          <a:ea typeface="Inter Medium" panose="020B0604020202020204" charset="0"/>
                        </a:rPr>
                        <a:t>7 probas sorties du modèle 2 + </a:t>
                      </a:r>
                      <a:r>
                        <a:rPr lang="fr-FR" sz="1400" dirty="0" err="1">
                          <a:latin typeface="Inter Medium" panose="020B0604020202020204" charset="0"/>
                          <a:ea typeface="Inter Medium" panose="020B0604020202020204" charset="0"/>
                        </a:rPr>
                        <a:t>metadata</a:t>
                      </a:r>
                      <a:endParaRPr lang="fr-FR" sz="1400" dirty="0">
                        <a:latin typeface="Inter Medium" panose="020B0604020202020204" charset="0"/>
                        <a:ea typeface="Inter Medium" panose="020B0604020202020204" charset="0"/>
                      </a:endParaRPr>
                    </a:p>
                  </a:txBody>
                  <a:tcPr anchor="ctr">
                    <a:noFill/>
                  </a:tcPr>
                </a:tc>
                <a:extLst>
                  <a:ext uri="{0D108BD9-81ED-4DB2-BD59-A6C34878D82A}">
                    <a16:rowId xmlns:a16="http://schemas.microsoft.com/office/drawing/2014/main" val="4058117816"/>
                  </a:ext>
                </a:extLst>
              </a:tr>
            </a:tbl>
          </a:graphicData>
        </a:graphic>
      </p:graphicFrame>
    </p:spTree>
    <p:extLst>
      <p:ext uri="{BB962C8B-B14F-4D97-AF65-F5344CB8AC3E}">
        <p14:creationId xmlns:p14="http://schemas.microsoft.com/office/powerpoint/2010/main" val="2123584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985351" y="213002"/>
            <a:ext cx="8035808"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Détail des 3 modèles</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3905" y="4757596"/>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11</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graphicFrame>
        <p:nvGraphicFramePr>
          <p:cNvPr id="2" name="Tableau 1">
            <a:extLst>
              <a:ext uri="{FF2B5EF4-FFF2-40B4-BE49-F238E27FC236}">
                <a16:creationId xmlns:a16="http://schemas.microsoft.com/office/drawing/2014/main" id="{E7646C9E-376A-9FD4-844A-2538BD04FEEE}"/>
              </a:ext>
            </a:extLst>
          </p:cNvPr>
          <p:cNvGraphicFramePr>
            <a:graphicFrameLocks noGrp="1"/>
          </p:cNvGraphicFramePr>
          <p:nvPr>
            <p:extLst>
              <p:ext uri="{D42A27DB-BD31-4B8C-83A1-F6EECF244321}">
                <p14:modId xmlns:p14="http://schemas.microsoft.com/office/powerpoint/2010/main" val="3910471775"/>
              </p:ext>
            </p:extLst>
          </p:nvPr>
        </p:nvGraphicFramePr>
        <p:xfrm>
          <a:off x="217281" y="880507"/>
          <a:ext cx="8803877" cy="3782028"/>
        </p:xfrm>
        <a:graphic>
          <a:graphicData uri="http://schemas.openxmlformats.org/drawingml/2006/table">
            <a:tbl>
              <a:tblPr firstRow="1" bandRow="1">
                <a:tableStyleId>{616DA210-FB5B-4158-B5E0-FEB733F419BA}</a:tableStyleId>
              </a:tblPr>
              <a:tblGrid>
                <a:gridCol w="1607081">
                  <a:extLst>
                    <a:ext uri="{9D8B030D-6E8A-4147-A177-3AD203B41FA5}">
                      <a16:colId xmlns:a16="http://schemas.microsoft.com/office/drawing/2014/main" val="2728707286"/>
                    </a:ext>
                  </a:extLst>
                </a:gridCol>
                <a:gridCol w="2398932">
                  <a:extLst>
                    <a:ext uri="{9D8B030D-6E8A-4147-A177-3AD203B41FA5}">
                      <a16:colId xmlns:a16="http://schemas.microsoft.com/office/drawing/2014/main" val="2271772352"/>
                    </a:ext>
                  </a:extLst>
                </a:gridCol>
                <a:gridCol w="2398932">
                  <a:extLst>
                    <a:ext uri="{9D8B030D-6E8A-4147-A177-3AD203B41FA5}">
                      <a16:colId xmlns:a16="http://schemas.microsoft.com/office/drawing/2014/main" val="852051412"/>
                    </a:ext>
                  </a:extLst>
                </a:gridCol>
                <a:gridCol w="2398932">
                  <a:extLst>
                    <a:ext uri="{9D8B030D-6E8A-4147-A177-3AD203B41FA5}">
                      <a16:colId xmlns:a16="http://schemas.microsoft.com/office/drawing/2014/main" val="2958294951"/>
                    </a:ext>
                  </a:extLst>
                </a:gridCol>
              </a:tblGrid>
              <a:tr h="510833">
                <a:tc>
                  <a:txBody>
                    <a:bodyPr/>
                    <a:lstStyle/>
                    <a:p>
                      <a:pPr algn="ctr"/>
                      <a:r>
                        <a:rPr lang="fr-FR" sz="1800" dirty="0">
                          <a:latin typeface="Inter Medium" panose="020B0604020202020204" charset="0"/>
                          <a:ea typeface="Inter Medium" panose="020B0604020202020204" charset="0"/>
                        </a:rPr>
                        <a:t>Modèle</a:t>
                      </a:r>
                    </a:p>
                  </a:txBody>
                  <a:tcPr anchor="ctr"/>
                </a:tc>
                <a:tc>
                  <a:txBody>
                    <a:bodyPr/>
                    <a:lstStyle/>
                    <a:p>
                      <a:pPr algn="ctr"/>
                      <a:r>
                        <a:rPr lang="fr-FR" sz="1800" dirty="0">
                          <a:latin typeface="Inter Medium" panose="020B0604020202020204" charset="0"/>
                          <a:ea typeface="Inter Medium" panose="020B0604020202020204" charset="0"/>
                        </a:rPr>
                        <a:t>#1</a:t>
                      </a:r>
                    </a:p>
                  </a:txBody>
                  <a:tcPr anchor="ctr"/>
                </a:tc>
                <a:tc>
                  <a:txBody>
                    <a:bodyPr/>
                    <a:lstStyle/>
                    <a:p>
                      <a:pPr algn="ctr"/>
                      <a:r>
                        <a:rPr lang="fr-FR" sz="1800" dirty="0">
                          <a:latin typeface="Inter Medium" panose="020B0604020202020204" charset="0"/>
                          <a:ea typeface="Inter Medium" panose="020B0604020202020204" charset="0"/>
                        </a:rPr>
                        <a:t>#2</a:t>
                      </a:r>
                    </a:p>
                  </a:txBody>
                  <a:tcPr anchor="ctr"/>
                </a:tc>
                <a:tc>
                  <a:txBody>
                    <a:bodyPr/>
                    <a:lstStyle/>
                    <a:p>
                      <a:pPr algn="ctr"/>
                      <a:r>
                        <a:rPr lang="fr-FR" sz="1800" dirty="0">
                          <a:latin typeface="Inter Medium" panose="020B0604020202020204" charset="0"/>
                          <a:ea typeface="Inter Medium" panose="020B0604020202020204" charset="0"/>
                        </a:rPr>
                        <a:t>#3</a:t>
                      </a:r>
                    </a:p>
                  </a:txBody>
                  <a:tcPr anchor="ctr"/>
                </a:tc>
                <a:extLst>
                  <a:ext uri="{0D108BD9-81ED-4DB2-BD59-A6C34878D82A}">
                    <a16:rowId xmlns:a16="http://schemas.microsoft.com/office/drawing/2014/main" val="1883333947"/>
                  </a:ext>
                </a:extLst>
              </a:tr>
              <a:tr h="549196">
                <a:tc>
                  <a:txBody>
                    <a:bodyPr/>
                    <a:lstStyle/>
                    <a:p>
                      <a:pPr algn="ctr"/>
                      <a:r>
                        <a:rPr lang="fr-FR" sz="1400" b="1" u="none" dirty="0">
                          <a:latin typeface="Inter Medium" panose="020B0604020202020204" charset="0"/>
                          <a:ea typeface="Inter Medium" panose="020B0604020202020204" charset="0"/>
                        </a:rPr>
                        <a:t>Pre-</a:t>
                      </a:r>
                      <a:r>
                        <a:rPr lang="fr-FR" sz="1400" b="1" u="none" dirty="0" err="1">
                          <a:latin typeface="Inter Medium" panose="020B0604020202020204" charset="0"/>
                          <a:ea typeface="Inter Medium" panose="020B0604020202020204" charset="0"/>
                        </a:rPr>
                        <a:t>processing</a:t>
                      </a:r>
                      <a:endParaRPr lang="fr-FR" sz="1400" b="1" u="none" dirty="0">
                        <a:latin typeface="Inter Medium" panose="020B0604020202020204" charset="0"/>
                        <a:ea typeface="Inter Medium" panose="020B0604020202020204" charset="0"/>
                      </a:endParaRPr>
                    </a:p>
                  </a:txBody>
                  <a:tcPr anchor="ctr">
                    <a:noFill/>
                  </a:tcPr>
                </a:tc>
                <a:tc>
                  <a:txBody>
                    <a:bodyPr/>
                    <a:lstStyle/>
                    <a:p>
                      <a:pPr algn="ctr"/>
                      <a:r>
                        <a:rPr lang="fr-FR" dirty="0" err="1">
                          <a:latin typeface="Inter Medium" panose="020B0604020202020204" charset="0"/>
                          <a:ea typeface="Inter Medium" panose="020B0604020202020204" charset="0"/>
                        </a:rPr>
                        <a:t>efficientnet</a:t>
                      </a:r>
                      <a:r>
                        <a:rPr lang="fr-FR" dirty="0">
                          <a:latin typeface="Inter Medium" panose="020B0604020202020204" charset="0"/>
                          <a:ea typeface="Inter Medium" panose="020B0604020202020204" charset="0"/>
                        </a:rPr>
                        <a:t>.</a:t>
                      </a:r>
                    </a:p>
                    <a:p>
                      <a:pPr algn="ctr"/>
                      <a:r>
                        <a:rPr lang="fr-FR" dirty="0" err="1">
                          <a:latin typeface="Inter Medium" panose="020B0604020202020204" charset="0"/>
                          <a:ea typeface="Inter Medium" panose="020B0604020202020204" charset="0"/>
                        </a:rPr>
                        <a:t>preprocess_input</a:t>
                      </a:r>
                      <a:endParaRPr lang="fr-FR" sz="1400" dirty="0">
                        <a:latin typeface="Inter Medium" panose="020B0604020202020204" charset="0"/>
                        <a:ea typeface="Inter Medium" panose="020B0604020202020204" charset="0"/>
                      </a:endParaRPr>
                    </a:p>
                  </a:txBody>
                  <a:tcPr anchor="ctr">
                    <a:noFill/>
                  </a:tcPr>
                </a:tc>
                <a:tc>
                  <a:txBody>
                    <a:bodyPr/>
                    <a:lstStyle/>
                    <a:p>
                      <a:pPr algn="ctr"/>
                      <a:r>
                        <a:rPr lang="fr-FR" dirty="0">
                          <a:latin typeface="Inter Medium" panose="020B0604020202020204" charset="0"/>
                          <a:ea typeface="Inter Medium" panose="020B0604020202020204" charset="0"/>
                        </a:rPr>
                        <a:t>resnet50.</a:t>
                      </a:r>
                    </a:p>
                    <a:p>
                      <a:pPr algn="ctr"/>
                      <a:r>
                        <a:rPr lang="fr-FR" dirty="0" err="1">
                          <a:latin typeface="Inter Medium" panose="020B0604020202020204" charset="0"/>
                          <a:ea typeface="Inter Medium" panose="020B0604020202020204" charset="0"/>
                        </a:rPr>
                        <a:t>preprocess_input</a:t>
                      </a:r>
                      <a:endParaRPr lang="fr-FR" dirty="0">
                        <a:latin typeface="Inter Medium" panose="020B0604020202020204" charset="0"/>
                        <a:ea typeface="Inter Medium" panose="020B0604020202020204" charset="0"/>
                      </a:endParaRPr>
                    </a:p>
                  </a:txBody>
                  <a:tcPr anchor="ctr">
                    <a:noFill/>
                  </a:tcPr>
                </a:tc>
                <a:tc>
                  <a:txBody>
                    <a:bodyPr/>
                    <a:lstStyle/>
                    <a:p>
                      <a:pPr algn="ctr"/>
                      <a:r>
                        <a:rPr lang="fr-FR" b="0" dirty="0">
                          <a:latin typeface="Inter Medium" panose="020B0604020202020204" charset="0"/>
                          <a:ea typeface="Inter Medium" panose="020B0604020202020204" charset="0"/>
                        </a:rPr>
                        <a:t>Imputation (âge) + </a:t>
                      </a:r>
                      <a:r>
                        <a:rPr lang="fr-FR" b="0" dirty="0" err="1">
                          <a:latin typeface="Inter Medium" panose="020B0604020202020204" charset="0"/>
                          <a:ea typeface="Inter Medium" panose="020B0604020202020204" charset="0"/>
                        </a:rPr>
                        <a:t>StandardScaler</a:t>
                      </a:r>
                      <a:r>
                        <a:rPr lang="fr-FR" b="0" dirty="0">
                          <a:latin typeface="Inter Medium" panose="020B0604020202020204" charset="0"/>
                          <a:ea typeface="Inter Medium" panose="020B0604020202020204" charset="0"/>
                        </a:rPr>
                        <a:t> (âge) + </a:t>
                      </a:r>
                      <a:r>
                        <a:rPr lang="fr-FR" b="0" dirty="0" err="1">
                          <a:latin typeface="Inter Medium" panose="020B0604020202020204" charset="0"/>
                          <a:ea typeface="Inter Medium" panose="020B0604020202020204" charset="0"/>
                        </a:rPr>
                        <a:t>OneHot</a:t>
                      </a:r>
                      <a:r>
                        <a:rPr lang="fr-FR" b="0" dirty="0">
                          <a:latin typeface="Inter Medium" panose="020B0604020202020204" charset="0"/>
                          <a:ea typeface="Inter Medium" panose="020B0604020202020204" charset="0"/>
                        </a:rPr>
                        <a:t> (</a:t>
                      </a:r>
                      <a:r>
                        <a:rPr lang="fr-FR" b="0" dirty="0" err="1">
                          <a:latin typeface="Inter Medium" panose="020B0604020202020204" charset="0"/>
                          <a:ea typeface="Inter Medium" panose="020B0604020202020204" charset="0"/>
                        </a:rPr>
                        <a:t>sex</a:t>
                      </a:r>
                      <a:r>
                        <a:rPr lang="fr-FR" b="0" dirty="0">
                          <a:latin typeface="Inter Medium" panose="020B0604020202020204" charset="0"/>
                          <a:ea typeface="Inter Medium" panose="020B0604020202020204" charset="0"/>
                        </a:rPr>
                        <a:t>, loc.)</a:t>
                      </a:r>
                      <a:endParaRPr lang="fr-FR" sz="1400" b="0" dirty="0">
                        <a:latin typeface="Inter Medium" panose="020B0604020202020204" charset="0"/>
                        <a:ea typeface="Inter Medium" panose="020B0604020202020204" charset="0"/>
                      </a:endParaRPr>
                    </a:p>
                  </a:txBody>
                  <a:tcPr anchor="ctr">
                    <a:noFill/>
                  </a:tcPr>
                </a:tc>
                <a:extLst>
                  <a:ext uri="{0D108BD9-81ED-4DB2-BD59-A6C34878D82A}">
                    <a16:rowId xmlns:a16="http://schemas.microsoft.com/office/drawing/2014/main" val="292305333"/>
                  </a:ext>
                </a:extLst>
              </a:tr>
              <a:tr h="549196">
                <a:tc>
                  <a:txBody>
                    <a:bodyPr/>
                    <a:lstStyle/>
                    <a:p>
                      <a:pPr algn="ctr"/>
                      <a:r>
                        <a:rPr lang="fr-FR" sz="1400" b="1" u="none" dirty="0">
                          <a:latin typeface="Inter Medium" panose="020B0604020202020204" charset="0"/>
                          <a:ea typeface="Inter Medium" panose="020B0604020202020204" charset="0"/>
                        </a:rPr>
                        <a:t>Data Augmentation</a:t>
                      </a:r>
                    </a:p>
                  </a:txBody>
                  <a:tcPr anchor="ctr">
                    <a:noFill/>
                  </a:tcPr>
                </a:tc>
                <a:tc>
                  <a:txBody>
                    <a:bodyPr/>
                    <a:lstStyle/>
                    <a:p>
                      <a:pPr algn="ctr"/>
                      <a:r>
                        <a:rPr lang="fr-FR" sz="1400" dirty="0">
                          <a:latin typeface="Inter Medium" panose="020B0604020202020204" charset="0"/>
                          <a:ea typeface="Inter Medium" panose="020B0604020202020204" charset="0"/>
                        </a:rPr>
                        <a:t>Flip / Rot. / Zoom / Contraste</a:t>
                      </a:r>
                    </a:p>
                  </a:txBody>
                  <a:tcPr anchor="ctr">
                    <a:noFill/>
                  </a:tcPr>
                </a:tc>
                <a:tc>
                  <a:txBody>
                    <a:bodyPr/>
                    <a:lstStyle/>
                    <a:p>
                      <a:pPr algn="ctr"/>
                      <a:r>
                        <a:rPr lang="fr-FR" sz="1400" dirty="0">
                          <a:latin typeface="Inter Medium" panose="020B0604020202020204" charset="0"/>
                          <a:ea typeface="Inter Medium" panose="020B0604020202020204" charset="0"/>
                        </a:rPr>
                        <a:t>/</a:t>
                      </a:r>
                    </a:p>
                  </a:txBody>
                  <a:tcPr anchor="ctr">
                    <a:noFill/>
                  </a:tcPr>
                </a:tc>
                <a:tc>
                  <a:txBody>
                    <a:bodyPr/>
                    <a:lstStyle/>
                    <a:p>
                      <a:pPr algn="ctr"/>
                      <a:r>
                        <a:rPr lang="fr-FR" sz="1400" dirty="0">
                          <a:latin typeface="Inter Medium" panose="020B0604020202020204" charset="0"/>
                          <a:ea typeface="Inter Medium" panose="020B0604020202020204" charset="0"/>
                        </a:rPr>
                        <a:t>/</a:t>
                      </a:r>
                    </a:p>
                  </a:txBody>
                  <a:tcPr anchor="ctr">
                    <a:noFill/>
                  </a:tcPr>
                </a:tc>
                <a:extLst>
                  <a:ext uri="{0D108BD9-81ED-4DB2-BD59-A6C34878D82A}">
                    <a16:rowId xmlns:a16="http://schemas.microsoft.com/office/drawing/2014/main" val="3999110179"/>
                  </a:ext>
                </a:extLst>
              </a:tr>
              <a:tr h="549196">
                <a:tc>
                  <a:txBody>
                    <a:bodyPr/>
                    <a:lstStyle/>
                    <a:p>
                      <a:pPr algn="ctr"/>
                      <a:r>
                        <a:rPr lang="fr-FR" sz="1400" b="1" u="none" dirty="0">
                          <a:latin typeface="Inter Medium" panose="020B0604020202020204" charset="0"/>
                          <a:ea typeface="Inter Medium" panose="020B0604020202020204" charset="0"/>
                        </a:rPr>
                        <a:t>Poids des classes</a:t>
                      </a:r>
                    </a:p>
                  </a:txBody>
                  <a:tcPr anchor="ctr">
                    <a:noFill/>
                  </a:tcPr>
                </a:tc>
                <a:tc>
                  <a:txBody>
                    <a:bodyPr/>
                    <a:lstStyle/>
                    <a:p>
                      <a:pPr algn="ctr"/>
                      <a:r>
                        <a:rPr lang="fr-FR" sz="1400" b="1" dirty="0">
                          <a:latin typeface="Inter Medium" panose="020B0604020202020204" charset="0"/>
                          <a:ea typeface="Inter Medium" panose="020B0604020202020204" charset="0"/>
                        </a:rPr>
                        <a:t>/</a:t>
                      </a:r>
                    </a:p>
                  </a:txBody>
                  <a:tcPr anchor="ctr">
                    <a:noFill/>
                  </a:tcPr>
                </a:tc>
                <a:tc>
                  <a:txBody>
                    <a:bodyPr/>
                    <a:lstStyle/>
                    <a:p>
                      <a:pPr algn="ctr"/>
                      <a:r>
                        <a:rPr lang="fr-FR" sz="1400" b="0" dirty="0">
                          <a:latin typeface="Inter Medium" panose="020B0604020202020204" charset="0"/>
                          <a:ea typeface="Inter Medium" panose="020B0604020202020204" charset="0"/>
                        </a:rPr>
                        <a:t>Oui</a:t>
                      </a:r>
                    </a:p>
                  </a:txBody>
                  <a:tcPr anchor="ctr">
                    <a:noFill/>
                  </a:tcPr>
                </a:tc>
                <a:tc>
                  <a:txBody>
                    <a:bodyPr/>
                    <a:lstStyle/>
                    <a:p>
                      <a:pPr algn="ctr"/>
                      <a:r>
                        <a:rPr lang="fr-FR" sz="1400" b="0" dirty="0">
                          <a:latin typeface="Inter Medium" panose="020B0604020202020204" charset="0"/>
                          <a:ea typeface="Inter Medium" panose="020B0604020202020204" charset="0"/>
                        </a:rPr>
                        <a:t>Oui</a:t>
                      </a:r>
                    </a:p>
                  </a:txBody>
                  <a:tcPr anchor="ctr">
                    <a:noFill/>
                  </a:tcPr>
                </a:tc>
                <a:extLst>
                  <a:ext uri="{0D108BD9-81ED-4DB2-BD59-A6C34878D82A}">
                    <a16:rowId xmlns:a16="http://schemas.microsoft.com/office/drawing/2014/main" val="878852127"/>
                  </a:ext>
                </a:extLst>
              </a:tr>
              <a:tr h="804971">
                <a:tc>
                  <a:txBody>
                    <a:bodyPr/>
                    <a:lstStyle/>
                    <a:p>
                      <a:pPr algn="ctr"/>
                      <a:r>
                        <a:rPr lang="fr-FR" sz="1400" b="1" u="none" dirty="0">
                          <a:latin typeface="Inter Medium" panose="020B0604020202020204" charset="0"/>
                          <a:ea typeface="Inter Medium" panose="020B0604020202020204" charset="0"/>
                        </a:rPr>
                        <a:t>Entraînement</a:t>
                      </a:r>
                    </a:p>
                  </a:txBody>
                  <a:tcPr anchor="ctr">
                    <a:noFill/>
                  </a:tcPr>
                </a:tc>
                <a:tc>
                  <a:txBody>
                    <a:bodyPr/>
                    <a:lstStyle/>
                    <a:p>
                      <a:pPr algn="ctr"/>
                      <a:r>
                        <a:rPr lang="fr-FR" sz="1400" dirty="0">
                          <a:latin typeface="Inter Medium" panose="020B0604020202020204" charset="0"/>
                          <a:ea typeface="Inter Medium" panose="020B0604020202020204" charset="0"/>
                        </a:rPr>
                        <a:t>40 </a:t>
                      </a:r>
                      <a:r>
                        <a:rPr lang="fr-FR" sz="1400" dirty="0" err="1">
                          <a:latin typeface="Inter Medium" panose="020B0604020202020204" charset="0"/>
                          <a:ea typeface="Inter Medium" panose="020B0604020202020204" charset="0"/>
                        </a:rPr>
                        <a:t>epochs</a:t>
                      </a:r>
                      <a:r>
                        <a:rPr lang="fr-FR" sz="1400" dirty="0">
                          <a:latin typeface="Inter Medium" panose="020B0604020202020204" charset="0"/>
                          <a:ea typeface="Inter Medium" panose="020B0604020202020204" charset="0"/>
                        </a:rPr>
                        <a:t> / batch 32</a:t>
                      </a:r>
                    </a:p>
                  </a:txBody>
                  <a:tcPr anchor="ctr">
                    <a:noFill/>
                  </a:tcPr>
                </a:tc>
                <a:tc>
                  <a:txBody>
                    <a:bodyPr/>
                    <a:lstStyle/>
                    <a:p>
                      <a:pPr algn="ctr"/>
                      <a:r>
                        <a:rPr lang="fr-FR" sz="1400" dirty="0">
                          <a:latin typeface="Inter Medium" panose="020B0604020202020204" charset="0"/>
                          <a:ea typeface="Inter Medium" panose="020B0604020202020204" charset="0"/>
                        </a:rPr>
                        <a:t>30 </a:t>
                      </a:r>
                      <a:r>
                        <a:rPr lang="fr-FR" sz="1400" dirty="0" err="1">
                          <a:latin typeface="Inter Medium" panose="020B0604020202020204" charset="0"/>
                          <a:ea typeface="Inter Medium" panose="020B0604020202020204" charset="0"/>
                        </a:rPr>
                        <a:t>epochs</a:t>
                      </a:r>
                      <a:r>
                        <a:rPr lang="fr-FR" sz="1400" dirty="0">
                          <a:latin typeface="Inter Medium" panose="020B0604020202020204" charset="0"/>
                          <a:ea typeface="Inter Medium" panose="020B0604020202020204" charset="0"/>
                        </a:rPr>
                        <a:t> / batch 32</a:t>
                      </a:r>
                    </a:p>
                  </a:txBody>
                  <a:tcPr anchor="ctr">
                    <a:noFill/>
                  </a:tcPr>
                </a:tc>
                <a:tc>
                  <a:txBody>
                    <a:bodyPr/>
                    <a:lstStyle/>
                    <a:p>
                      <a:pPr algn="ctr"/>
                      <a:r>
                        <a:rPr lang="fr-FR" b="0" dirty="0" err="1">
                          <a:latin typeface="Inter Medium" panose="020B0604020202020204" charset="0"/>
                          <a:ea typeface="Inter Medium" panose="020B0604020202020204" charset="0"/>
                        </a:rPr>
                        <a:t>RandomForest</a:t>
                      </a:r>
                      <a:r>
                        <a:rPr lang="fr-FR" b="0" dirty="0">
                          <a:latin typeface="Inter Medium" panose="020B0604020202020204" charset="0"/>
                          <a:ea typeface="Inter Medium" panose="020B0604020202020204" charset="0"/>
                        </a:rPr>
                        <a:t> (400 est., </a:t>
                      </a:r>
                      <a:r>
                        <a:rPr lang="fr-FR" b="0" dirty="0" err="1">
                          <a:latin typeface="Inter Medium" panose="020B0604020202020204" charset="0"/>
                          <a:ea typeface="Inter Medium" panose="020B0604020202020204" charset="0"/>
                        </a:rPr>
                        <a:t>min_leaf</a:t>
                      </a:r>
                      <a:r>
                        <a:rPr lang="fr-FR" b="0" dirty="0">
                          <a:latin typeface="Inter Medium" panose="020B0604020202020204" charset="0"/>
                          <a:ea typeface="Inter Medium" panose="020B0604020202020204" charset="0"/>
                        </a:rPr>
                        <a:t>=10, </a:t>
                      </a:r>
                      <a:r>
                        <a:rPr lang="fr-FR" b="0" dirty="0" err="1">
                          <a:latin typeface="Inter Medium" panose="020B0604020202020204" charset="0"/>
                          <a:ea typeface="Inter Medium" panose="020B0604020202020204" charset="0"/>
                        </a:rPr>
                        <a:t>max_feat</a:t>
                      </a:r>
                      <a:r>
                        <a:rPr lang="fr-FR" b="0" dirty="0">
                          <a:latin typeface="Inter Medium" panose="020B0604020202020204" charset="0"/>
                          <a:ea typeface="Inter Medium" panose="020B0604020202020204" charset="0"/>
                        </a:rPr>
                        <a:t>=√)</a:t>
                      </a:r>
                      <a:endParaRPr lang="fr-FR" sz="1400" b="0" dirty="0">
                        <a:latin typeface="Inter Medium" panose="020B0604020202020204" charset="0"/>
                        <a:ea typeface="Inter Medium" panose="020B0604020202020204" charset="0"/>
                      </a:endParaRPr>
                    </a:p>
                  </a:txBody>
                  <a:tcPr anchor="ctr">
                    <a:noFill/>
                  </a:tcPr>
                </a:tc>
                <a:extLst>
                  <a:ext uri="{0D108BD9-81ED-4DB2-BD59-A6C34878D82A}">
                    <a16:rowId xmlns:a16="http://schemas.microsoft.com/office/drawing/2014/main" val="2976485092"/>
                  </a:ext>
                </a:extLst>
              </a:tr>
              <a:tr h="636312">
                <a:tc>
                  <a:txBody>
                    <a:bodyPr/>
                    <a:lstStyle/>
                    <a:p>
                      <a:pPr algn="ctr"/>
                      <a:r>
                        <a:rPr lang="fr-FR" sz="1400" b="1" u="none" dirty="0">
                          <a:latin typeface="Inter Medium" panose="020B0604020202020204" charset="0"/>
                          <a:ea typeface="Inter Medium" panose="020B0604020202020204" charset="0"/>
                        </a:rPr>
                        <a:t>Fine-tuning</a:t>
                      </a:r>
                    </a:p>
                  </a:txBody>
                  <a:tcPr anchor="ctr">
                    <a:noFill/>
                  </a:tcPr>
                </a:tc>
                <a:tc>
                  <a:txBody>
                    <a:bodyPr/>
                    <a:lstStyle/>
                    <a:p>
                      <a:pPr algn="ctr"/>
                      <a:r>
                        <a:rPr lang="fr-FR" sz="1400" dirty="0">
                          <a:latin typeface="Inter Medium" panose="020B0604020202020204" charset="0"/>
                          <a:ea typeface="Inter Medium" panose="020B0604020202020204" charset="0"/>
                        </a:rPr>
                        <a:t>20 couches dégelées</a:t>
                      </a:r>
                    </a:p>
                  </a:txBody>
                  <a:tcPr anchor="ctr">
                    <a:noFill/>
                  </a:tcPr>
                </a:tc>
                <a:tc>
                  <a:txBody>
                    <a:bodyPr/>
                    <a:lstStyle/>
                    <a:p>
                      <a:pPr algn="ctr"/>
                      <a:r>
                        <a:rPr lang="fr-FR" sz="1400" dirty="0">
                          <a:latin typeface="Inter Medium" panose="020B0604020202020204" charset="0"/>
                          <a:ea typeface="Inter Medium" panose="020B0604020202020204" charset="0"/>
                        </a:rPr>
                        <a:t>30 couches dégelées</a:t>
                      </a:r>
                    </a:p>
                  </a:txBody>
                  <a:tcPr anchor="ctr">
                    <a:noFill/>
                  </a:tcPr>
                </a:tc>
                <a:tc>
                  <a:txBody>
                    <a:bodyPr/>
                    <a:lstStyle/>
                    <a:p>
                      <a:pPr algn="ctr"/>
                      <a:r>
                        <a:rPr lang="fr-FR" sz="1400" dirty="0">
                          <a:latin typeface="Inter Medium" panose="020B0604020202020204" charset="0"/>
                          <a:ea typeface="Inter Medium" panose="020B0604020202020204" charset="0"/>
                        </a:rPr>
                        <a:t>/</a:t>
                      </a:r>
                    </a:p>
                  </a:txBody>
                  <a:tcPr anchor="ctr">
                    <a:noFill/>
                  </a:tcPr>
                </a:tc>
                <a:extLst>
                  <a:ext uri="{0D108BD9-81ED-4DB2-BD59-A6C34878D82A}">
                    <a16:rowId xmlns:a16="http://schemas.microsoft.com/office/drawing/2014/main" val="4058117816"/>
                  </a:ext>
                </a:extLst>
              </a:tr>
            </a:tbl>
          </a:graphicData>
        </a:graphic>
      </p:graphicFrame>
    </p:spTree>
    <p:extLst>
      <p:ext uri="{BB962C8B-B14F-4D97-AF65-F5344CB8AC3E}">
        <p14:creationId xmlns:p14="http://schemas.microsoft.com/office/powerpoint/2010/main" val="3522027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985351" y="213002"/>
            <a:ext cx="8035808"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Performances de l’application</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3905" y="4757596"/>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12</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sp>
        <p:nvSpPr>
          <p:cNvPr id="3" name="Google Shape;69;p15">
            <a:extLst>
              <a:ext uri="{FF2B5EF4-FFF2-40B4-BE49-F238E27FC236}">
                <a16:creationId xmlns:a16="http://schemas.microsoft.com/office/drawing/2014/main" id="{DC66BAD0-A34F-2FBE-5BE1-A633964112CD}"/>
              </a:ext>
            </a:extLst>
          </p:cNvPr>
          <p:cNvSpPr txBox="1">
            <a:spLocks/>
          </p:cNvSpPr>
          <p:nvPr/>
        </p:nvSpPr>
        <p:spPr>
          <a:xfrm>
            <a:off x="778800" y="1268550"/>
            <a:ext cx="7846058" cy="64250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5" name="ZoneTexte 4">
            <a:extLst>
              <a:ext uri="{FF2B5EF4-FFF2-40B4-BE49-F238E27FC236}">
                <a16:creationId xmlns:a16="http://schemas.microsoft.com/office/drawing/2014/main" id="{BA64CA00-5C8F-4526-4C84-53740077593C}"/>
              </a:ext>
            </a:extLst>
          </p:cNvPr>
          <p:cNvSpPr txBox="1"/>
          <p:nvPr/>
        </p:nvSpPr>
        <p:spPr>
          <a:xfrm>
            <a:off x="519142" y="839205"/>
            <a:ext cx="8381018" cy="1446550"/>
          </a:xfrm>
          <a:prstGeom prst="rect">
            <a:avLst/>
          </a:prstGeom>
          <a:noFill/>
        </p:spPr>
        <p:txBody>
          <a:bodyPr wrap="square">
            <a:spAutoFit/>
          </a:bodyPr>
          <a:lstStyle/>
          <a:p>
            <a:r>
              <a:rPr lang="fr-FR" i="1" dirty="0">
                <a:latin typeface="Inter Medium" panose="020B0604020202020204" charset="0"/>
                <a:ea typeface="Inter Medium" panose="020B0604020202020204" charset="0"/>
              </a:rPr>
              <a:t>Testé sur 2000 photos de HAM10000 (non utilisées en train/val)</a:t>
            </a:r>
          </a:p>
          <a:p>
            <a:endParaRPr lang="fr-FR" sz="1200" i="1" dirty="0">
              <a:latin typeface="Inter Medium" panose="020B0604020202020204" charset="0"/>
              <a:ea typeface="Inter Medium" panose="020B0604020202020204" charset="0"/>
            </a:endParaRPr>
          </a:p>
          <a:p>
            <a:r>
              <a:rPr lang="fr-FR" sz="2000" dirty="0">
                <a:latin typeface="Inter Medium" panose="020B0604020202020204" charset="0"/>
                <a:ea typeface="Inter Medium" panose="020B0604020202020204" charset="0"/>
              </a:rPr>
              <a:t>Modèle 3 : Classe prédite       Evaluation du risque (multi-modèle) </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endParaRPr lang="fr-FR" dirty="0"/>
          </a:p>
          <a:p>
            <a:endParaRPr lang="fr-FR" dirty="0"/>
          </a:p>
        </p:txBody>
      </p:sp>
      <p:pic>
        <p:nvPicPr>
          <p:cNvPr id="4" name="Image 3">
            <a:extLst>
              <a:ext uri="{FF2B5EF4-FFF2-40B4-BE49-F238E27FC236}">
                <a16:creationId xmlns:a16="http://schemas.microsoft.com/office/drawing/2014/main" id="{9978F65B-60FC-AE1F-2395-6F1173761EBA}"/>
              </a:ext>
            </a:extLst>
          </p:cNvPr>
          <p:cNvPicPr>
            <a:picLocks noChangeAspect="1"/>
          </p:cNvPicPr>
          <p:nvPr/>
        </p:nvPicPr>
        <p:blipFill>
          <a:blip r:embed="rId6"/>
          <a:stretch>
            <a:fillRect/>
          </a:stretch>
        </p:blipFill>
        <p:spPr>
          <a:xfrm>
            <a:off x="351098" y="1726108"/>
            <a:ext cx="3717000" cy="2601901"/>
          </a:xfrm>
          <a:prstGeom prst="rect">
            <a:avLst/>
          </a:prstGeom>
        </p:spPr>
      </p:pic>
      <p:pic>
        <p:nvPicPr>
          <p:cNvPr id="7" name="Image 6">
            <a:extLst>
              <a:ext uri="{FF2B5EF4-FFF2-40B4-BE49-F238E27FC236}">
                <a16:creationId xmlns:a16="http://schemas.microsoft.com/office/drawing/2014/main" id="{520ACACC-7636-439C-A3F6-EAEE475E481F}"/>
              </a:ext>
            </a:extLst>
          </p:cNvPr>
          <p:cNvPicPr>
            <a:picLocks noChangeAspect="1"/>
          </p:cNvPicPr>
          <p:nvPr/>
        </p:nvPicPr>
        <p:blipFill>
          <a:blip r:embed="rId7"/>
          <a:stretch>
            <a:fillRect/>
          </a:stretch>
        </p:blipFill>
        <p:spPr>
          <a:xfrm>
            <a:off x="4506329" y="1807973"/>
            <a:ext cx="4050330" cy="2430198"/>
          </a:xfrm>
          <a:prstGeom prst="rect">
            <a:avLst/>
          </a:prstGeom>
        </p:spPr>
      </p:pic>
    </p:spTree>
    <p:extLst>
      <p:ext uri="{BB962C8B-B14F-4D97-AF65-F5344CB8AC3E}">
        <p14:creationId xmlns:p14="http://schemas.microsoft.com/office/powerpoint/2010/main" val="1483298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985351" y="213002"/>
            <a:ext cx="8035808"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Perspectives et conclusions</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3905" y="4757596"/>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13</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sp>
        <p:nvSpPr>
          <p:cNvPr id="3" name="Google Shape;69;p15">
            <a:extLst>
              <a:ext uri="{FF2B5EF4-FFF2-40B4-BE49-F238E27FC236}">
                <a16:creationId xmlns:a16="http://schemas.microsoft.com/office/drawing/2014/main" id="{DC66BAD0-A34F-2FBE-5BE1-A633964112CD}"/>
              </a:ext>
            </a:extLst>
          </p:cNvPr>
          <p:cNvSpPr txBox="1">
            <a:spLocks/>
          </p:cNvSpPr>
          <p:nvPr/>
        </p:nvSpPr>
        <p:spPr>
          <a:xfrm>
            <a:off x="778800" y="1268550"/>
            <a:ext cx="7846058" cy="64250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5" name="ZoneTexte 4">
            <a:extLst>
              <a:ext uri="{FF2B5EF4-FFF2-40B4-BE49-F238E27FC236}">
                <a16:creationId xmlns:a16="http://schemas.microsoft.com/office/drawing/2014/main" id="{BA64CA00-5C8F-4526-4C84-53740077593C}"/>
              </a:ext>
            </a:extLst>
          </p:cNvPr>
          <p:cNvSpPr txBox="1"/>
          <p:nvPr/>
        </p:nvSpPr>
        <p:spPr>
          <a:xfrm>
            <a:off x="519142" y="839205"/>
            <a:ext cx="8381018" cy="4216539"/>
          </a:xfrm>
          <a:prstGeom prst="rect">
            <a:avLst/>
          </a:prstGeom>
          <a:noFill/>
        </p:spPr>
        <p:txBody>
          <a:bodyPr wrap="square">
            <a:spAutoFit/>
          </a:bodyPr>
          <a:lstStyle/>
          <a:p>
            <a:r>
              <a:rPr lang="fr-FR" sz="2000" dirty="0"/>
              <a:t>🔧</a:t>
            </a:r>
            <a:r>
              <a:rPr lang="fr-FR" sz="1600" dirty="0">
                <a:latin typeface="Inter Medium" panose="020B0604020202020204" charset="0"/>
                <a:ea typeface="Inter Medium" panose="020B0604020202020204" charset="0"/>
              </a:rPr>
              <a:t> </a:t>
            </a:r>
            <a:r>
              <a:rPr lang="fr-FR" sz="1600" b="1" dirty="0">
                <a:latin typeface="Inter Medium" panose="020B0604020202020204" charset="0"/>
                <a:ea typeface="Inter Medium" panose="020B0604020202020204" charset="0"/>
              </a:rPr>
              <a:t>Optimisations techniques</a:t>
            </a:r>
            <a:r>
              <a:rPr lang="fr-FR" sz="2000" dirty="0"/>
              <a:t>🔧</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dirty="0">
                <a:latin typeface="Inter Medium" panose="020B0604020202020204" charset="0"/>
                <a:ea typeface="Inter Medium" panose="020B0604020202020204" charset="0"/>
              </a:rPr>
              <a:t>Ajustement des hyperparamètres, fine-tuning voire utilisation de modèles plus performants</a:t>
            </a:r>
          </a:p>
          <a:p>
            <a:r>
              <a:rPr lang="fr-FR" sz="1400" dirty="0">
                <a:latin typeface="Inter Medium" panose="020B0604020202020204" charset="0"/>
                <a:ea typeface="Inter Medium" panose="020B0604020202020204" charset="0"/>
              </a:rPr>
              <a:t>Data augmentation plus avancée</a:t>
            </a:r>
          </a:p>
          <a:p>
            <a:r>
              <a:rPr lang="fr-FR" dirty="0">
                <a:latin typeface="Inter Medium" panose="020B0604020202020204" charset="0"/>
                <a:ea typeface="Inter Medium" panose="020B0604020202020204" charset="0"/>
              </a:rPr>
              <a:t>Autres approches pour classes plus rares (</a:t>
            </a:r>
            <a:r>
              <a:rPr lang="fr-FR" dirty="0" err="1">
                <a:latin typeface="Inter Medium" panose="020B0604020202020204" charset="0"/>
                <a:ea typeface="Inter Medium" panose="020B0604020202020204" charset="0"/>
              </a:rPr>
              <a:t>oversampling</a:t>
            </a:r>
            <a:r>
              <a:rPr lang="fr-FR" dirty="0">
                <a:latin typeface="Inter Medium" panose="020B0604020202020204" charset="0"/>
                <a:ea typeface="Inter Medium" panose="020B0604020202020204" charset="0"/>
              </a:rPr>
              <a:t>, focal </a:t>
            </a:r>
            <a:r>
              <a:rPr lang="fr-FR" dirty="0" err="1">
                <a:latin typeface="Inter Medium" panose="020B0604020202020204" charset="0"/>
                <a:ea typeface="Inter Medium" panose="020B0604020202020204" charset="0"/>
              </a:rPr>
              <a:t>loss</a:t>
            </a:r>
            <a:r>
              <a:rPr lang="fr-FR" dirty="0">
                <a:latin typeface="Inter Medium" panose="020B0604020202020204" charset="0"/>
                <a:ea typeface="Inter Medium" panose="020B0604020202020204" charset="0"/>
              </a:rPr>
              <a:t>…)</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2000" dirty="0"/>
              <a:t>🌍</a:t>
            </a:r>
            <a:r>
              <a:rPr lang="fr-FR" sz="1600" dirty="0"/>
              <a:t> </a:t>
            </a:r>
            <a:r>
              <a:rPr lang="fr-FR" sz="1600" b="1" dirty="0">
                <a:latin typeface="Inter Medium" panose="020B0604020202020204" charset="0"/>
                <a:ea typeface="Inter Medium" panose="020B0604020202020204" charset="0"/>
              </a:rPr>
              <a:t>Ouverture santé et usage</a:t>
            </a:r>
            <a:r>
              <a:rPr lang="fr-FR" sz="2000" dirty="0"/>
              <a:t>🌍</a:t>
            </a:r>
            <a:r>
              <a:rPr lang="fr-FR" sz="1600" dirty="0">
                <a:latin typeface="Inter Medium" panose="020B0604020202020204" charset="0"/>
                <a:ea typeface="Inter Medium" panose="020B0604020202020204" charset="0"/>
              </a:rPr>
              <a:t> </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Diversité des phototypes</a:t>
            </a:r>
          </a:p>
          <a:p>
            <a:r>
              <a:rPr lang="fr-FR" dirty="0">
                <a:latin typeface="Inter Medium" panose="020B0604020202020204" charset="0"/>
                <a:ea typeface="Inter Medium" panose="020B0604020202020204" charset="0"/>
              </a:rPr>
              <a:t>UX à faire tester (trop d’éléments ?)</a:t>
            </a:r>
          </a:p>
          <a:p>
            <a:r>
              <a:rPr lang="fr-FR" sz="1400" dirty="0">
                <a:latin typeface="Inter Medium" panose="020B0604020202020204" charset="0"/>
                <a:ea typeface="Inter Medium" panose="020B0604020202020204" charset="0"/>
              </a:rPr>
              <a:t>Collaboration avec dermatologues pour apprentissage continu</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600" dirty="0"/>
              <a:t>✅ </a:t>
            </a:r>
            <a:r>
              <a:rPr lang="fr-FR" sz="1600" b="1" dirty="0">
                <a:latin typeface="Inter Medium" panose="020B0604020202020204" charset="0"/>
                <a:ea typeface="Inter Medium" panose="020B0604020202020204" charset="0"/>
              </a:rPr>
              <a:t>Conclusion </a:t>
            </a:r>
            <a:r>
              <a:rPr lang="fr-FR" sz="1600" dirty="0"/>
              <a:t>✅</a:t>
            </a:r>
          </a:p>
          <a:p>
            <a:endParaRPr lang="fr-FR" sz="1600" dirty="0"/>
          </a:p>
          <a:p>
            <a:r>
              <a:rPr lang="fr-FR" dirty="0" err="1">
                <a:latin typeface="Inter Medium" panose="020B0604020202020204" charset="0"/>
                <a:ea typeface="Inter Medium" panose="020B0604020202020204" charset="0"/>
              </a:rPr>
              <a:t>SkinCare</a:t>
            </a:r>
            <a:r>
              <a:rPr lang="fr-FR" dirty="0">
                <a:latin typeface="Inter Medium" panose="020B0604020202020204" charset="0"/>
                <a:ea typeface="Inter Medium" panose="020B0604020202020204" charset="0"/>
              </a:rPr>
              <a:t> démontre la faisabilité technique d’une IA en dermatologie et ouvre la voie à un outil concret de </a:t>
            </a:r>
            <a:r>
              <a:rPr lang="fr-FR" b="1" dirty="0">
                <a:latin typeface="Inter Medium" panose="020B0604020202020204" charset="0"/>
                <a:ea typeface="Inter Medium" panose="020B0604020202020204" charset="0"/>
              </a:rPr>
              <a:t>prévention et de santé publique</a:t>
            </a:r>
            <a:r>
              <a:rPr lang="fr-FR" dirty="0">
                <a:latin typeface="Inter Medium" panose="020B0604020202020204" charset="0"/>
                <a:ea typeface="Inter Medium" panose="020B0604020202020204" charset="0"/>
              </a:rPr>
              <a:t>.</a:t>
            </a:r>
          </a:p>
          <a:p>
            <a:endParaRPr lang="fr-FR" dirty="0"/>
          </a:p>
          <a:p>
            <a:endParaRPr lang="fr-FR" dirty="0"/>
          </a:p>
        </p:txBody>
      </p:sp>
    </p:spTree>
    <p:extLst>
      <p:ext uri="{BB962C8B-B14F-4D97-AF65-F5344CB8AC3E}">
        <p14:creationId xmlns:p14="http://schemas.microsoft.com/office/powerpoint/2010/main" val="16578765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DBD0"/>
        </a:solidFill>
        <a:effectLst/>
      </p:bgPr>
    </p:bg>
    <p:spTree>
      <p:nvGrpSpPr>
        <p:cNvPr id="1" name="Shape 109"/>
        <p:cNvGrpSpPr/>
        <p:nvPr/>
      </p:nvGrpSpPr>
      <p:grpSpPr>
        <a:xfrm>
          <a:off x="0" y="0"/>
          <a:ext cx="0" cy="0"/>
          <a:chOff x="0" y="0"/>
          <a:chExt cx="0" cy="0"/>
        </a:xfrm>
      </p:grpSpPr>
      <p:sp>
        <p:nvSpPr>
          <p:cNvPr id="110" name="Google Shape;110;p19"/>
          <p:cNvSpPr txBox="1">
            <a:spLocks noGrp="1"/>
          </p:cNvSpPr>
          <p:nvPr>
            <p:ph type="ctrTitle" idx="4294967295"/>
          </p:nvPr>
        </p:nvSpPr>
        <p:spPr>
          <a:xfrm>
            <a:off x="1235600" y="1742168"/>
            <a:ext cx="5315100" cy="698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 sz="5600" b="1" dirty="0">
                <a:solidFill>
                  <a:srgbClr val="0E3449"/>
                </a:solidFill>
                <a:latin typeface="Inter"/>
                <a:ea typeface="Inter"/>
                <a:cs typeface="Inter"/>
                <a:sym typeface="Inter"/>
              </a:rPr>
              <a:t>Merci !</a:t>
            </a:r>
            <a:endParaRPr sz="5600" b="1" dirty="0">
              <a:solidFill>
                <a:srgbClr val="0E3449"/>
              </a:solidFill>
              <a:latin typeface="Inter"/>
              <a:ea typeface="Inter"/>
              <a:cs typeface="Inter"/>
              <a:sym typeface="Inter"/>
            </a:endParaRPr>
          </a:p>
        </p:txBody>
      </p:sp>
      <p:pic>
        <p:nvPicPr>
          <p:cNvPr id="111" name="Google Shape;111;p19"/>
          <p:cNvPicPr preferRelativeResize="0"/>
          <p:nvPr/>
        </p:nvPicPr>
        <p:blipFill>
          <a:blip r:embed="rId3">
            <a:alphaModFix/>
          </a:blip>
          <a:stretch>
            <a:fillRect/>
          </a:stretch>
        </p:blipFill>
        <p:spPr>
          <a:xfrm>
            <a:off x="3918625" y="3006625"/>
            <a:ext cx="4599299" cy="2136876"/>
          </a:xfrm>
          <a:prstGeom prst="rect">
            <a:avLst/>
          </a:prstGeom>
          <a:noFill/>
          <a:ln>
            <a:noFill/>
          </a:ln>
        </p:spPr>
      </p:pic>
      <p:pic>
        <p:nvPicPr>
          <p:cNvPr id="113" name="Google Shape;113;p19"/>
          <p:cNvPicPr preferRelativeResize="0"/>
          <p:nvPr/>
        </p:nvPicPr>
        <p:blipFill>
          <a:blip r:embed="rId4">
            <a:alphaModFix/>
          </a:blip>
          <a:stretch>
            <a:fillRect/>
          </a:stretch>
        </p:blipFill>
        <p:spPr>
          <a:xfrm>
            <a:off x="463375" y="482852"/>
            <a:ext cx="576900" cy="385904"/>
          </a:xfrm>
          <a:prstGeom prst="rect">
            <a:avLst/>
          </a:prstGeom>
          <a:noFill/>
          <a:ln>
            <a:noFill/>
          </a:ln>
        </p:spPr>
      </p:pic>
      <p:sp>
        <p:nvSpPr>
          <p:cNvPr id="2" name="Espace réservé du numéro de diapositive 1">
            <a:extLst>
              <a:ext uri="{FF2B5EF4-FFF2-40B4-BE49-F238E27FC236}">
                <a16:creationId xmlns:a16="http://schemas.microsoft.com/office/drawing/2014/main" id="{93E3B375-4397-CD72-E602-C59A61DC411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fr-FR" smtClean="0"/>
              <a:t>14</a:t>
            </a:fld>
            <a:endParaRPr lang="fr-F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4356</TotalTime>
  <Words>2578</Words>
  <Application>Microsoft Office PowerPoint</Application>
  <PresentationFormat>Affichage à l'écran (16:9)</PresentationFormat>
  <Paragraphs>195</Paragraphs>
  <Slides>14</Slides>
  <Notes>14</Notes>
  <HiddenSlides>1</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14</vt:i4>
      </vt:variant>
    </vt:vector>
  </HeadingPairs>
  <TitlesOfParts>
    <vt:vector size="19" baseType="lpstr">
      <vt:lpstr>Inter SemiBold</vt:lpstr>
      <vt:lpstr>Inter</vt:lpstr>
      <vt:lpstr>Inter Medium</vt:lpstr>
      <vt:lpstr>Arial</vt:lpstr>
      <vt:lpstr>Simple Light</vt:lpstr>
      <vt:lpstr>BLOC 6 – Gestion Projet DATA Skincare project</vt:lpstr>
      <vt:lpstr>Objectifs pédagogiques du projet </vt:lpstr>
      <vt:lpstr>Derrière une simple tâche peut se cacher un cancer.      « If detected early, the five-year survival rate for melanoma is 99 %. » — Dr. Jones, AMA       </vt:lpstr>
      <vt:lpstr>📊 Chiffres clés📊  France (2022) : 80 000 nouveaux cas de cancer de la peau sur l’année  Europe : 1 cancer sur 3 est un cancer de la peau -&gt; +40% incidence (nouveaux cas) et +50% mortalité attendus  Monde (2022) : 330 000 nouveaux cas de mélanome et 60 000 décès sur l’année   🩺 Accès aux diagnostics 🩺   En France, les délais pour obtenir un rendez-vous chez un dermatologue se comptent souvent en plusieurs mois, retardant ainsi le diagnostic précoce.  Cette difficulté d’accès est également constatée à l’échelle européenne, et se révèle encore plus marquée dans de nombreux pays à travers le monde.     </vt:lpstr>
      <vt:lpstr>✨ Notre mission ✨  Offrir un outil en ligne simple et accessible, capable d’évaluer de manière fiable la criticité d’une lésion cutanée (tache, grain de beauté…), afin de favoriser un auto-diagnostic précoce et d’accompagner chacun dans la prévention des cancers de la peau.  C’est dans cette perspective qu’est né le projet Skincare.                </vt:lpstr>
      <vt:lpstr>                                  </vt:lpstr>
      <vt:lpstr>Lien direct vers l’application :   https://huggingface.co/spaces/LoicV17/Skincare-app-certification    Vidéo de présentation :        </vt:lpstr>
      <vt:lpstr>                                  </vt:lpstr>
      <vt:lpstr>       </vt:lpstr>
      <vt:lpstr>       </vt:lpstr>
      <vt:lpstr>       </vt:lpstr>
      <vt:lpstr>       </vt:lpstr>
      <vt:lpstr>       </vt:lpstr>
      <vt:lpstr>Merci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Loic Valentini</dc:creator>
  <cp:lastModifiedBy>Loic Valentini</cp:lastModifiedBy>
  <cp:revision>14</cp:revision>
  <dcterms:modified xsi:type="dcterms:W3CDTF">2025-08-25T17:33:28Z</dcterms:modified>
</cp:coreProperties>
</file>