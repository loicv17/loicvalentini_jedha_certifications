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3" r:id="rId4"/>
    <p:sldId id="286" r:id="rId5"/>
    <p:sldId id="287" r:id="rId6"/>
    <p:sldId id="289" r:id="rId7"/>
    <p:sldId id="291" r:id="rId8"/>
    <p:sldId id="293" r:id="rId9"/>
    <p:sldId id="294" r:id="rId10"/>
    <p:sldId id="262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525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480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5424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021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343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25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4 – Deep Learning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AT&amp;T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Juillet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27187" y="993725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Traiter des données non-structurées (image, texte, audio) en utilisant des librairies comme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TensorFlow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ou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Numpy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les transformer en matrices exploitables par des algorithmes d'apprentissage profond.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Développer des réseaux de neurones (classiques, convolutifs, récurrents) avec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TensorFlow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analyser ces données et détecter des signaux significatifs.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Créer un modèle robuste en configurant un réseau de neurones pré-entraîné pour traiter des volumes massifs de données et effectuer des prédictions.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Générer des données non-structurées en élaborant des réseaux de neurones adverses pour créer de nouvelles bases d’entraînement pour l’IA.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Évaluer la performance des modèles en analysant des indicateurs sur les données d’entraînement et de validation, afin d'industrialiser leur déploiement.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7603" y="118693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2" y="204115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7603" y="269322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1" y="33224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26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64818EF9-1BD6-CF7E-32A9-0EE503380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BE4B7121-09B0-A0B8-3142-39D040C17D46}"/>
              </a:ext>
            </a:extLst>
          </p:cNvPr>
          <p:cNvSpPr/>
          <p:nvPr/>
        </p:nvSpPr>
        <p:spPr>
          <a:xfrm rot="21244006">
            <a:off x="566302" y="394657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ownload A Blue Logo With A Spiral On It Wallpaper | Wallpapers.com">
            <a:extLst>
              <a:ext uri="{FF2B5EF4-FFF2-40B4-BE49-F238E27FC236}">
                <a16:creationId xmlns:a16="http://schemas.microsoft.com/office/drawing/2014/main" id="{E94D30DD-6F0D-5842-965F-709671AA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Protéger les utilisateurs d’AT&amp;T contre les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SPAMs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AT&amp;T, leader mondial des télécommunications, sert des millions d’utilisateurs mobiles aux Etats-Unis.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Les clients sont massivement exposés aux SMS SPAM, ce qui nuit à la confiance et à l’expérience utilisateur.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Objectif : développer un modèle automatique capable d’identifier les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SPAMs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à partir du contenu du message.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Impact stratégique : renforcer la sécurité perçue, améliorer la qualité du service, protéger la réputation d’AT&amp;T.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12397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2" y="268180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1" y="333319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ownload A Blue Logo With A Spiral On It Wallpaper | Wallpapers.com">
            <a:extLst>
              <a:ext uri="{FF2B5EF4-FFF2-40B4-BE49-F238E27FC236}">
                <a16:creationId xmlns:a16="http://schemas.microsoft.com/office/drawing/2014/main" id="{E94D30DD-6F0D-5842-965F-709671AA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Atteindre cet objectif grâce au Deep Learning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Jeu de données : 5 572 SMS labellisés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→ SPAM : 13 % | HAM : 87 % → Fort déséquilibre des classes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Identifier l’architecture Deep Learning la plus performante pour détecter les SPAM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3 approches testées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-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TF-IDF + Réseau de Neurones : méthode classique avec vecteurs de fréquence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- Couche d’intégration (</a:t>
            </a:r>
            <a:r>
              <a:rPr lang="fr-FR" sz="1200" i="1" dirty="0" err="1">
                <a:latin typeface="Inter Medium" panose="020B0604020202020204" charset="0"/>
                <a:ea typeface="Inter Medium" panose="020B0604020202020204" charset="0"/>
              </a:rPr>
              <a:t>Embedding</a:t>
            </a:r>
            <a:r>
              <a:rPr lang="fr-FR" sz="1200" i="1" dirty="0">
                <a:latin typeface="Inter Medium" panose="020B0604020202020204" charset="0"/>
                <a:ea typeface="Inter Medium" panose="020B0604020202020204" charset="0"/>
              </a:rPr>
              <a:t> Layer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) + Réseau de Neurones : représentation dense du texte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- Apprentissage par transfert (</a:t>
            </a:r>
            <a:r>
              <a:rPr lang="fr-FR" sz="1200" i="1" dirty="0">
                <a:latin typeface="Inter Medium" panose="020B0604020202020204" charset="0"/>
                <a:ea typeface="Inter Medium" panose="020B0604020202020204" charset="0"/>
              </a:rPr>
              <a:t>Transfer Learning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) avec BERT : modèle pré-entraîné à large échelle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Évaluation des performances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-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Basée sur la matrice de confusion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- Métriques clés : Exactitude (</a:t>
            </a:r>
            <a:r>
              <a:rPr lang="fr-FR" sz="1200" i="1" dirty="0" err="1">
                <a:latin typeface="Inter Medium" panose="020B0604020202020204" charset="0"/>
                <a:ea typeface="Inter Medium" panose="020B0604020202020204" charset="0"/>
              </a:rPr>
              <a:t>Accuracy</a:t>
            </a:r>
            <a:r>
              <a:rPr lang="fr-FR" sz="1200" i="1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, Précision (</a:t>
            </a:r>
            <a:r>
              <a:rPr lang="fr-FR" sz="1200" i="1" dirty="0" err="1">
                <a:latin typeface="Inter Medium" panose="020B0604020202020204" charset="0"/>
                <a:ea typeface="Inter Medium" panose="020B0604020202020204" charset="0"/>
              </a:rPr>
              <a:t>Precision</a:t>
            </a:r>
            <a:r>
              <a:rPr lang="fr-FR" sz="1200" i="1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, Rappel (</a:t>
            </a:r>
            <a:r>
              <a:rPr lang="fr-FR" sz="1200" i="1" dirty="0" err="1">
                <a:latin typeface="Inter Medium" panose="020B0604020202020204" charset="0"/>
                <a:ea typeface="Inter Medium" panose="020B0604020202020204" charset="0"/>
              </a:rPr>
              <a:t>Recall</a:t>
            </a:r>
            <a:r>
              <a:rPr lang="fr-FR" sz="1200" i="1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br>
              <a:rPr lang="fr-FR" sz="1050" dirty="0"/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2" y="204044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1EF11A3D-6A8A-4349-517B-5016433973CC}"/>
              </a:ext>
            </a:extLst>
          </p:cNvPr>
          <p:cNvSpPr/>
          <p:nvPr/>
        </p:nvSpPr>
        <p:spPr>
          <a:xfrm rot="21244006">
            <a:off x="566299" y="345051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0D3E9531-E056-3BF5-C47E-A8AE01A4CB18}"/>
              </a:ext>
            </a:extLst>
          </p:cNvPr>
          <p:cNvSpPr/>
          <p:nvPr/>
        </p:nvSpPr>
        <p:spPr>
          <a:xfrm rot="21244006">
            <a:off x="566299" y="246155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03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T&amp;T 3G shuts down today: How it'll impact you">
            <a:extLst>
              <a:ext uri="{FF2B5EF4-FFF2-40B4-BE49-F238E27FC236}">
                <a16:creationId xmlns:a16="http://schemas.microsoft.com/office/drawing/2014/main" id="{023B6B62-0B3E-F6D0-31EE-4BF3BD953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Une préparation rapide des données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Nettoyage classique des données textes 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Lemmatisation, suppression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Stop_words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ponctuations, caractères spéciaux et tokenisation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Rééquilibrage des classes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Sur-échantillonnage des SPAM par duplication (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oversampling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 pour compenser le déséquilibre initial</a:t>
            </a:r>
            <a:br>
              <a:rPr lang="fr-FR" sz="1050" dirty="0"/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Résultat final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dataset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équilibré de 9 650 SMS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→ 50 % SPAM | 50 % HAM</a:t>
            </a:r>
            <a:br>
              <a:rPr lang="fr-FR" sz="1050" dirty="0"/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639879" y="15646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9879" y="24265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059EB05-45E8-BD07-1DDD-66CAF559F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2731" y="3514409"/>
            <a:ext cx="2057687" cy="800212"/>
          </a:xfrm>
          <a:prstGeom prst="rect">
            <a:avLst/>
          </a:prstGeom>
        </p:spPr>
      </p:pic>
      <p:pic>
        <p:nvPicPr>
          <p:cNvPr id="5" name="Picture 2" descr="Button Arrow Right Icon | Flat Cute Arrows Iconpack | Custom Icon Design">
            <a:extLst>
              <a:ext uri="{FF2B5EF4-FFF2-40B4-BE49-F238E27FC236}">
                <a16:creationId xmlns:a16="http://schemas.microsoft.com/office/drawing/2014/main" id="{923AF93D-E11C-F547-457E-8937AD2C5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66220" y="2973214"/>
            <a:ext cx="502950" cy="50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077A5A58-656F-CF07-E3FB-3C687BAD0600}"/>
              </a:ext>
            </a:extLst>
          </p:cNvPr>
          <p:cNvSpPr/>
          <p:nvPr/>
        </p:nvSpPr>
        <p:spPr>
          <a:xfrm rot="21244006">
            <a:off x="639877" y="370787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37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pam Email Detection Using Artificial Intelligence">
            <a:extLst>
              <a:ext uri="{FF2B5EF4-FFF2-40B4-BE49-F238E27FC236}">
                <a16:creationId xmlns:a16="http://schemas.microsoft.com/office/drawing/2014/main" id="{7D6FC4C9-5791-EA1C-1B7D-F027EB55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# 1 : TF-IDF + Réseau de neurones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AFFBFAC-3474-0A9A-664B-3CFCB2A3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041342"/>
              </p:ext>
            </p:extLst>
          </p:nvPr>
        </p:nvGraphicFramePr>
        <p:xfrm>
          <a:off x="511200" y="956582"/>
          <a:ext cx="8200799" cy="358463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602900338"/>
                    </a:ext>
                  </a:extLst>
                </a:gridCol>
                <a:gridCol w="2822400">
                  <a:extLst>
                    <a:ext uri="{9D8B030D-6E8A-4147-A177-3AD203B41FA5}">
                      <a16:colId xmlns:a16="http://schemas.microsoft.com/office/drawing/2014/main" val="1095576492"/>
                    </a:ext>
                  </a:extLst>
                </a:gridCol>
                <a:gridCol w="302400">
                  <a:extLst>
                    <a:ext uri="{9D8B030D-6E8A-4147-A177-3AD203B41FA5}">
                      <a16:colId xmlns:a16="http://schemas.microsoft.com/office/drawing/2014/main" val="3168533783"/>
                    </a:ext>
                  </a:extLst>
                </a:gridCol>
                <a:gridCol w="1864800">
                  <a:extLst>
                    <a:ext uri="{9D8B030D-6E8A-4147-A177-3AD203B41FA5}">
                      <a16:colId xmlns:a16="http://schemas.microsoft.com/office/drawing/2014/main" val="3854246308"/>
                    </a:ext>
                  </a:extLst>
                </a:gridCol>
                <a:gridCol w="2059199">
                  <a:extLst>
                    <a:ext uri="{9D8B030D-6E8A-4147-A177-3AD203B41FA5}">
                      <a16:colId xmlns:a16="http://schemas.microsoft.com/office/drawing/2014/main" val="1141781311"/>
                    </a:ext>
                  </a:extLst>
                </a:gridCol>
              </a:tblGrid>
              <a:tr h="326070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Paramètres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Résultats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3428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Séparation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60% train / 20% val / 20%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Durée d’entraînement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Inter Medium" panose="020B0604020202020204" charset="0"/>
                          <a:ea typeface="Inter Medium" panose="020B0604020202020204" charset="0"/>
                          <a:cs typeface="+mn-cs"/>
                          <a:sym typeface="Arial"/>
                        </a:rPr>
                        <a:t>≈ 1 minute</a:t>
                      </a:r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59694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Taille du 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Exactitude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369834"/>
                  </a:ext>
                </a:extLst>
              </a:tr>
              <a:tr h="15161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Réseau de neurones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Précision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02457"/>
                  </a:ext>
                </a:extLst>
              </a:tr>
              <a:tr h="345208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Rappel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621196"/>
                  </a:ext>
                </a:extLst>
              </a:tr>
              <a:tr h="326070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Matrice de confusion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87649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Epochs</a:t>
                      </a:r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0331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Optimiseur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Adam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93692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76565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85391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Poids du modèle (.h5)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12 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86097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15FD7926-F1C4-D650-5976-B108A7C73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3999" y="1989703"/>
            <a:ext cx="2541601" cy="77804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B8E247D-7867-7162-9959-3CA97A910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3458" y="2648184"/>
            <a:ext cx="1694587" cy="151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2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pam Email Detection Using Artificial Intelligence">
            <a:extLst>
              <a:ext uri="{FF2B5EF4-FFF2-40B4-BE49-F238E27FC236}">
                <a16:creationId xmlns:a16="http://schemas.microsoft.com/office/drawing/2014/main" id="{7D6FC4C9-5791-EA1C-1B7D-F027EB55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# 2 : Couche d’intégration + Réseau de neurones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AFFBFAC-3474-0A9A-664B-3CFCB2A3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774144"/>
              </p:ext>
            </p:extLst>
          </p:nvPr>
        </p:nvGraphicFramePr>
        <p:xfrm>
          <a:off x="511200" y="956582"/>
          <a:ext cx="8200799" cy="358463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418400">
                  <a:extLst>
                    <a:ext uri="{9D8B030D-6E8A-4147-A177-3AD203B41FA5}">
                      <a16:colId xmlns:a16="http://schemas.microsoft.com/office/drawing/2014/main" val="2602900338"/>
                    </a:ext>
                  </a:extLst>
                </a:gridCol>
                <a:gridCol w="2556000">
                  <a:extLst>
                    <a:ext uri="{9D8B030D-6E8A-4147-A177-3AD203B41FA5}">
                      <a16:colId xmlns:a16="http://schemas.microsoft.com/office/drawing/2014/main" val="1095576492"/>
                    </a:ext>
                  </a:extLst>
                </a:gridCol>
                <a:gridCol w="302400">
                  <a:extLst>
                    <a:ext uri="{9D8B030D-6E8A-4147-A177-3AD203B41FA5}">
                      <a16:colId xmlns:a16="http://schemas.microsoft.com/office/drawing/2014/main" val="3168533783"/>
                    </a:ext>
                  </a:extLst>
                </a:gridCol>
                <a:gridCol w="1864800">
                  <a:extLst>
                    <a:ext uri="{9D8B030D-6E8A-4147-A177-3AD203B41FA5}">
                      <a16:colId xmlns:a16="http://schemas.microsoft.com/office/drawing/2014/main" val="3854246308"/>
                    </a:ext>
                  </a:extLst>
                </a:gridCol>
                <a:gridCol w="2059199">
                  <a:extLst>
                    <a:ext uri="{9D8B030D-6E8A-4147-A177-3AD203B41FA5}">
                      <a16:colId xmlns:a16="http://schemas.microsoft.com/office/drawing/2014/main" val="1141781311"/>
                    </a:ext>
                  </a:extLst>
                </a:gridCol>
              </a:tblGrid>
              <a:tr h="326070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Paramètres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Résultats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3428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Mots conservés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Tous (8172)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Durée d’entraînement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Inter Medium" panose="020B0604020202020204" charset="0"/>
                          <a:ea typeface="Inter Medium" panose="020B0604020202020204" charset="0"/>
                          <a:cs typeface="+mn-cs"/>
                          <a:sym typeface="Arial"/>
                        </a:rPr>
                        <a:t>≈ 2 minutes</a:t>
                      </a:r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586771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Séparation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60% train / 20% val / 20%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Exactitude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59694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Taille du 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Précision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369834"/>
                  </a:ext>
                </a:extLst>
              </a:tr>
              <a:tr h="15161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Réseau de neurones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Rappel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02457"/>
                  </a:ext>
                </a:extLst>
              </a:tr>
              <a:tr h="345208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Matrice de confusion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621196"/>
                  </a:ext>
                </a:extLst>
              </a:tr>
              <a:tr h="326070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87649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Epochs</a:t>
                      </a:r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0331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Optimiseur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Adam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93692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76565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Poids du modèle (.h5)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 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86097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320D2804-79C9-3237-C375-CF9B5D516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8400" y="2318231"/>
            <a:ext cx="2452814" cy="82039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B676EB9-C718-BB00-FAD5-B83F5BDB2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200" y="2595622"/>
            <a:ext cx="1780987" cy="159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8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pam Email Detection Using Artificial Intelligence">
            <a:extLst>
              <a:ext uri="{FF2B5EF4-FFF2-40B4-BE49-F238E27FC236}">
                <a16:creationId xmlns:a16="http://schemas.microsoft.com/office/drawing/2014/main" id="{7D6FC4C9-5791-EA1C-1B7D-F027EB55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# 3 : Apprentissage par transfert - BERT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AFFBFAC-3474-0A9A-664B-3CFCB2A3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780398"/>
              </p:ext>
            </p:extLst>
          </p:nvPr>
        </p:nvGraphicFramePr>
        <p:xfrm>
          <a:off x="511200" y="956582"/>
          <a:ext cx="8200799" cy="358463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602900338"/>
                    </a:ext>
                  </a:extLst>
                </a:gridCol>
                <a:gridCol w="2822400">
                  <a:extLst>
                    <a:ext uri="{9D8B030D-6E8A-4147-A177-3AD203B41FA5}">
                      <a16:colId xmlns:a16="http://schemas.microsoft.com/office/drawing/2014/main" val="1095576492"/>
                    </a:ext>
                  </a:extLst>
                </a:gridCol>
                <a:gridCol w="302400">
                  <a:extLst>
                    <a:ext uri="{9D8B030D-6E8A-4147-A177-3AD203B41FA5}">
                      <a16:colId xmlns:a16="http://schemas.microsoft.com/office/drawing/2014/main" val="3168533783"/>
                    </a:ext>
                  </a:extLst>
                </a:gridCol>
                <a:gridCol w="1864800">
                  <a:extLst>
                    <a:ext uri="{9D8B030D-6E8A-4147-A177-3AD203B41FA5}">
                      <a16:colId xmlns:a16="http://schemas.microsoft.com/office/drawing/2014/main" val="3854246308"/>
                    </a:ext>
                  </a:extLst>
                </a:gridCol>
                <a:gridCol w="2059199">
                  <a:extLst>
                    <a:ext uri="{9D8B030D-6E8A-4147-A177-3AD203B41FA5}">
                      <a16:colId xmlns:a16="http://schemas.microsoft.com/office/drawing/2014/main" val="1141781311"/>
                    </a:ext>
                  </a:extLst>
                </a:gridCol>
              </a:tblGrid>
              <a:tr h="326070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Paramètres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Résultats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3428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Séparation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60% train / 20% val / 20%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Durée d’entraînement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Inter Medium" panose="020B0604020202020204" charset="0"/>
                          <a:ea typeface="Inter Medium" panose="020B0604020202020204" charset="0"/>
                          <a:cs typeface="+mn-cs"/>
                          <a:sym typeface="Arial"/>
                        </a:rPr>
                        <a:t>&gt; 2 heures</a:t>
                      </a:r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59694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Taille du 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Exactitude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369834"/>
                  </a:ext>
                </a:extLst>
              </a:tr>
              <a:tr h="15161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Modèle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« </a:t>
                      </a:r>
                      <a:r>
                        <a:rPr lang="fr-FR" sz="1200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distilbert</a:t>
                      </a:r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-base-</a:t>
                      </a:r>
                      <a:r>
                        <a:rPr lang="fr-FR" sz="1200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uncased</a:t>
                      </a:r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 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Précision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02457"/>
                  </a:ext>
                </a:extLst>
              </a:tr>
              <a:tr h="345208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Rappel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621196"/>
                  </a:ext>
                </a:extLst>
              </a:tr>
              <a:tr h="326070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Matrice de confusion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87649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Epochs</a:t>
                      </a:r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0331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Optimiseur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Adam, taux d’apprentissage 2e-5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93692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76565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85391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Poids du modèle (.h5)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261 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86097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BB9126D7-445F-43C3-0CCD-08FB7AF89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6800" y="2646192"/>
            <a:ext cx="1675658" cy="149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ownload A Blue Logo With A Spiral On It Wallpaper | Wallpapers.com">
            <a:extLst>
              <a:ext uri="{FF2B5EF4-FFF2-40B4-BE49-F238E27FC236}">
                <a16:creationId xmlns:a16="http://schemas.microsoft.com/office/drawing/2014/main" id="{E94D30DD-6F0D-5842-965F-709671AA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Bilan et perspectives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3 modèles très performants, détectant plus de 99,5% des spams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différences d’approche qui affectent les durées d’entraînement et la taille des modèles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Le choix du modèle dépend du contexte opérationnel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Déploiement local ou cloud ? </a:t>
            </a:r>
            <a:r>
              <a:rPr lang="fr-FR" sz="1400" u="sng" dirty="0">
                <a:latin typeface="Inter Medium" panose="020B0604020202020204" charset="0"/>
                <a:ea typeface="Inter Medium" panose="020B0604020202020204" charset="0"/>
              </a:rPr>
              <a:t>Critères : poids du modèle et latence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Réentraînement nécessaire ? </a:t>
            </a:r>
            <a:r>
              <a:rPr lang="fr-FR" sz="1400" u="sng" dirty="0">
                <a:latin typeface="Inter Medium" panose="020B0604020202020204" charset="0"/>
                <a:ea typeface="Inter Medium" panose="020B0604020202020204" charset="0"/>
              </a:rPr>
              <a:t>Critère : complexité de pipeline </a:t>
            </a:r>
            <a:r>
              <a:rPr lang="fr-FR" sz="1400" u="sng" dirty="0" err="1">
                <a:latin typeface="Inter Medium" panose="020B0604020202020204" charset="0"/>
                <a:ea typeface="Inter Medium" panose="020B0604020202020204" charset="0"/>
              </a:rPr>
              <a:t>MLOps</a:t>
            </a:r>
            <a:br>
              <a:rPr lang="fr-FR" sz="1400" u="sng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Temps de réponse critique ? </a:t>
            </a:r>
            <a:r>
              <a:rPr lang="fr-FR" sz="1400" u="sng" dirty="0">
                <a:latin typeface="Inter Medium" panose="020B0604020202020204" charset="0"/>
                <a:ea typeface="Inter Medium" panose="020B0604020202020204" charset="0"/>
              </a:rPr>
              <a:t>Critère : légèreté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298" y="181119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1EF11A3D-6A8A-4349-517B-5016433973CC}"/>
              </a:ext>
            </a:extLst>
          </p:cNvPr>
          <p:cNvSpPr/>
          <p:nvPr/>
        </p:nvSpPr>
        <p:spPr>
          <a:xfrm rot="21244006">
            <a:off x="566299" y="224446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32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728</Words>
  <Application>Microsoft Office PowerPoint</Application>
  <PresentationFormat>Affichage à l'écran (16:9)</PresentationFormat>
  <Paragraphs>98</Paragraphs>
  <Slides>10</Slides>
  <Notes>10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Inter Medium</vt:lpstr>
      <vt:lpstr>Inter</vt:lpstr>
      <vt:lpstr>Inter SemiBold</vt:lpstr>
      <vt:lpstr>Arial</vt:lpstr>
      <vt:lpstr>Simple Light</vt:lpstr>
      <vt:lpstr>BLOC 4 – Deep Learning AT&amp;T project</vt:lpstr>
      <vt:lpstr>Objectifs pédagogiques du projet </vt:lpstr>
      <vt:lpstr>Protéger les utilisateurs d’AT&amp;T contre les SPAMs</vt:lpstr>
      <vt:lpstr>Atteindre cet objectif grâce au Deep Learning</vt:lpstr>
      <vt:lpstr>Une préparation rapide des données</vt:lpstr>
      <vt:lpstr># 1 : TF-IDF + Réseau de neurones</vt:lpstr>
      <vt:lpstr># 2 : Couche d’intégration + Réseau de neurones</vt:lpstr>
      <vt:lpstr># 3 : Apprentissage par transfert - BERT</vt:lpstr>
      <vt:lpstr>Bilan et perspectives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10</cp:revision>
  <dcterms:modified xsi:type="dcterms:W3CDTF">2025-08-19T08:13:18Z</dcterms:modified>
</cp:coreProperties>
</file>