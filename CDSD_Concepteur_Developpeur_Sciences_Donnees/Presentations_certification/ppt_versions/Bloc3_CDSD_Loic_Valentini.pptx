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8" r:id="rId3"/>
    <p:sldId id="263" r:id="rId4"/>
    <p:sldId id="264" r:id="rId5"/>
    <p:sldId id="281" r:id="rId6"/>
    <p:sldId id="280" r:id="rId7"/>
    <p:sldId id="282" r:id="rId8"/>
    <p:sldId id="283" r:id="rId9"/>
    <p:sldId id="284" r:id="rId10"/>
    <p:sldId id="285" r:id="rId11"/>
    <p:sldId id="262" r:id="rId12"/>
  </p:sldIdLst>
  <p:sldSz cx="9144000" cy="5143500" type="screen16x9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Medium" panose="020B0604020202020204" charset="0"/>
      <p:regular r:id="rId18"/>
      <p:bold r:id="rId19"/>
      <p:italic r:id="rId20"/>
      <p:boldItalic r:id="rId21"/>
    </p:embeddedFont>
    <p:embeddedFont>
      <p:font typeface="Inter SemiBold" panose="020B0604020202020204" charset="0"/>
      <p:regular r:id="rId22"/>
      <p:bold r:id="rId23"/>
      <p:italic r:id="rId24"/>
      <p:boldItalic r:id="rId25"/>
    </p:embeddedFont>
    <p:embeddedFont>
      <p:font typeface="Lucida Console" panose="020B0609040504020204" pitchFamily="49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6" d="100"/>
          <a:sy n="106" d="100"/>
        </p:scale>
        <p:origin x="1686" y="5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2135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4528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0898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10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2521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43108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1521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3 – Machine Learning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North Face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Juillet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Traiter les données structurées en créant un pipeline de traitement avec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Scikit-Learn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encoder, normaliser et découper les données, rendant ainsi les données prêtes pour l'apprentissage automatique.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Réaliser des analyses prédictives avec des algorithmes supervisés pour automatiser les prédictions et guider les décisions.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Développer des modèles non supervisés pour segmenter les données ou réduire leur dimensionnalité, facilitant ainsi la visualisation et l’analyse granulaire.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Évaluer la performance des modèles en analysant l'influence des variables, afin d'optimiser les algorithmes et de démontrer leur valeur aux équipes métiers.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9852" y="140897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1" y="22473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7603" y="286140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57603" y="354341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3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BC1F7913-09BC-9AFD-6ADA-0FEA9AF99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acOS Sierra Wallpaper 4K, Mountain, Peak, Sunset, Evening">
            <a:extLst>
              <a:ext uri="{FF2B5EF4-FFF2-40B4-BE49-F238E27FC236}">
                <a16:creationId xmlns:a16="http://schemas.microsoft.com/office/drawing/2014/main" id="{7DA96F6E-67CA-6FC3-12C5-6FAFAEFD6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Optimiser l’offre produit e-commerce grâce au Machine Learning non supervisé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Structurer l’offre produit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Regrouper les articles similaires via analyse de texte (descriptions produits)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Identifier des familles homogènes pour simplifier la navigation et le merchandising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Améliorer l’expérience utilisateur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Proposer des recommandations plus pertinentes entre produits similaires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Faciliter les parcours d’achat grâce à une segmentation plus intuitive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Appuyer les décisions marketing et commerciales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Mieux comprendre la diversité de l’offre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Identifier les segments sous-exploités ou à fort potentiel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Explorer des méthodes avancées de Machine Learning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Utiliser le clustering (DBSCAN) pour regrouper les produits sans a priori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Appliquer la réduction de dimension (LSA) pour extraire les thèmes dominants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050" dirty="0">
                <a:latin typeface="Inter Medium" panose="020B0604020202020204" charset="0"/>
                <a:ea typeface="Inter Medium" panose="020B0604020202020204" charset="0"/>
              </a:rPr>
              <a:t>Expérimenter des techniques de topic modeling pour enrichir la compréhension produit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66300" y="212397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0" y="288317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2;p15">
            <a:extLst>
              <a:ext uri="{FF2B5EF4-FFF2-40B4-BE49-F238E27FC236}">
                <a16:creationId xmlns:a16="http://schemas.microsoft.com/office/drawing/2014/main" id="{4A90B45F-BA0F-4387-91B1-C2764DAA586A}"/>
              </a:ext>
            </a:extLst>
          </p:cNvPr>
          <p:cNvSpPr/>
          <p:nvPr/>
        </p:nvSpPr>
        <p:spPr>
          <a:xfrm rot="21244006">
            <a:off x="566300" y="367100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2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FA8B4447-E737-AEBC-00EF-C6C56443C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4" descr="macOS Sierra Wallpaper 4K, Mountain, Peak, Sunset, Evening">
            <a:extLst>
              <a:ext uri="{FF2B5EF4-FFF2-40B4-BE49-F238E27FC236}">
                <a16:creationId xmlns:a16="http://schemas.microsoft.com/office/drawing/2014/main" id="{22D032D5-37C8-2680-3E0C-1B3B54C42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Base de données très simple : 500 produits textile, chacun identifié par un ID unique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Une seule colonne exploitable : description, combinant nom du produit et description marketing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Données Produits e-commerce (NLP)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50" y="118364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8" y="159664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2B8C7E4-AF82-4F01-DC47-852E034835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8472" y="2101711"/>
            <a:ext cx="6739200" cy="105644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4629C51-2E86-BAB1-DD4B-EF2990CE0B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6392" y="3376652"/>
            <a:ext cx="2403381" cy="939368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F6327E3-DF9D-0A26-70FE-2E6CD456DC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9773" y="3169865"/>
            <a:ext cx="2801042" cy="157594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9001059-7D68-9DFE-F435-BB71451A2F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552" y="3155741"/>
            <a:ext cx="1383840" cy="1597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42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The North Face Wallpapers - Wallpaper Cave">
            <a:extLst>
              <a:ext uri="{FF2B5EF4-FFF2-40B4-BE49-F238E27FC236}">
                <a16:creationId xmlns:a16="http://schemas.microsoft.com/office/drawing/2014/main" id="{0C058ECA-10DB-EDF3-2F25-D27A97CEC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46400" y="-385904"/>
            <a:ext cx="11390400" cy="640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Mise en minuscule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caractères spéciaux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Tokenisation /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Lemmatization</a:t>
            </a: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tokens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nombres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tokens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de 2 lettres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Exclusion des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tokens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Stop_Words</a:t>
            </a: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Techniques de nettoyage et préparation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40489" y="139324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8" y="18336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4CDA439F-A6AC-2CBE-7AA9-84A7F1146C57}"/>
              </a:ext>
            </a:extLst>
          </p:cNvPr>
          <p:cNvSpPr/>
          <p:nvPr/>
        </p:nvSpPr>
        <p:spPr>
          <a:xfrm rot="21244006">
            <a:off x="634448" y="220051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2;p15">
            <a:extLst>
              <a:ext uri="{FF2B5EF4-FFF2-40B4-BE49-F238E27FC236}">
                <a16:creationId xmlns:a16="http://schemas.microsoft.com/office/drawing/2014/main" id="{75E9384F-E6BD-372B-1506-2EF25D07AFC5}"/>
              </a:ext>
            </a:extLst>
          </p:cNvPr>
          <p:cNvSpPr/>
          <p:nvPr/>
        </p:nvSpPr>
        <p:spPr>
          <a:xfrm rot="21244006">
            <a:off x="646805" y="267053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9B30A0D4-F70D-2076-B374-DBD4C1947C93}"/>
              </a:ext>
            </a:extLst>
          </p:cNvPr>
          <p:cNvSpPr/>
          <p:nvPr/>
        </p:nvSpPr>
        <p:spPr>
          <a:xfrm rot="21244006">
            <a:off x="634449" y="311320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D2E56BA8-5530-D26C-5F60-F3F252EE9D6B}"/>
              </a:ext>
            </a:extLst>
          </p:cNvPr>
          <p:cNvSpPr/>
          <p:nvPr/>
        </p:nvSpPr>
        <p:spPr>
          <a:xfrm rot="21244006">
            <a:off x="634449" y="351912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B36AAE-BE95-3FDB-5205-D24BBF306B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325" y="2187137"/>
            <a:ext cx="3727133" cy="1039721"/>
          </a:xfrm>
          <a:prstGeom prst="rect">
            <a:avLst/>
          </a:prstGeom>
        </p:spPr>
      </p:pic>
      <p:sp>
        <p:nvSpPr>
          <p:cNvPr id="11" name="Accolade fermante 10">
            <a:extLst>
              <a:ext uri="{FF2B5EF4-FFF2-40B4-BE49-F238E27FC236}">
                <a16:creationId xmlns:a16="http://schemas.microsoft.com/office/drawing/2014/main" id="{401F5B48-1D9E-7B79-78AE-895E90EA2818}"/>
              </a:ext>
            </a:extLst>
          </p:cNvPr>
          <p:cNvSpPr/>
          <p:nvPr/>
        </p:nvSpPr>
        <p:spPr>
          <a:xfrm>
            <a:off x="4041128" y="1319846"/>
            <a:ext cx="333375" cy="2496529"/>
          </a:xfrm>
          <a:prstGeom prst="rightBrace">
            <a:avLst>
              <a:gd name="adj1" fmla="val 170075"/>
              <a:gd name="adj2" fmla="val 54578"/>
            </a:avLst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84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Advanced Mountain Kit The North Face – Alpine Mag">
            <a:extLst>
              <a:ext uri="{FF2B5EF4-FFF2-40B4-BE49-F238E27FC236}">
                <a16:creationId xmlns:a16="http://schemas.microsoft.com/office/drawing/2014/main" id="{F4C8F69A-0C5E-2730-76C2-AB5115BD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163" y="0"/>
            <a:ext cx="9344025" cy="62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 : 10 à 20 groupes d’au moins 6 produits en minimisant les </a:t>
            </a:r>
            <a:r>
              <a:rPr lang="fr-FR" sz="1400" b="1" dirty="0" err="1">
                <a:latin typeface="Inter Medium" panose="020B0604020202020204" charset="0"/>
                <a:ea typeface="Inter Medium" panose="020B0604020202020204" charset="0"/>
              </a:rPr>
              <a:t>outliers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Méthode de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clusterisation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DBSCAN en optimisant les paramètres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12 clusters réels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Un 13</a:t>
            </a:r>
            <a:r>
              <a:rPr lang="fr-FR" sz="1400" baseline="30000" dirty="0">
                <a:latin typeface="Inter Medium" panose="020B0604020202020204" charset="0"/>
                <a:ea typeface="Inter Medium" panose="020B0604020202020204" charset="0"/>
              </a:rPr>
              <a:t>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cluster regroupant les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outliers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(91 références)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-&gt; Taille médiane des clusters réels : 12 références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Regroupement de produits similaires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40489" y="139324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8" y="183362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A6F17EF-7F6E-A036-A2B0-D31A4FBF0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062" y="2794197"/>
            <a:ext cx="6619875" cy="108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81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Advanced Mountain Kit The North Face – Alpine Mag">
            <a:extLst>
              <a:ext uri="{FF2B5EF4-FFF2-40B4-BE49-F238E27FC236}">
                <a16:creationId xmlns:a16="http://schemas.microsoft.com/office/drawing/2014/main" id="{F4C8F69A-0C5E-2730-76C2-AB5115BD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163" y="0"/>
            <a:ext cx="9344025" cy="62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Exemple d‘utilisation pratique des clusters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Entrer un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ID référence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et trouver 5 autres produits faisant partie du même cluster via une simple boucle Python -&gt; système de recommandation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Système de recommandation produit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49" y="163712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395364A-103F-18E8-C821-8318475043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56" y="2031959"/>
            <a:ext cx="8080937" cy="233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8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Advanced Mountain Kit The North Face – Alpine Mag">
            <a:extLst>
              <a:ext uri="{FF2B5EF4-FFF2-40B4-BE49-F238E27FC236}">
                <a16:creationId xmlns:a16="http://schemas.microsoft.com/office/drawing/2014/main" id="{F4C8F69A-0C5E-2730-76C2-AB5115BDF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163" y="0"/>
            <a:ext cx="9344025" cy="62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Méthodologie utilisée :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TF-IDF : conversion des textes en vecteurs pondérés</a:t>
            </a:r>
          </a:p>
          <a:p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200" dirty="0" err="1">
                <a:latin typeface="Inter Medium" panose="020B0604020202020204" charset="0"/>
                <a:ea typeface="Inter Medium" panose="020B0604020202020204" charset="0"/>
              </a:rPr>
              <a:t>Truncated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SVD (LSA) : réduction de dimension et extraction des composantes latentes</a:t>
            </a:r>
          </a:p>
          <a:p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	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Chaque composante ≈ un thème dominant dans les descriptions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Thèmes identifiés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Analyse sémantique – Identification des thèmes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634450" y="220197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87F2533-46B4-A2CE-5199-727FDE00C9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514" y="2121152"/>
            <a:ext cx="5858753" cy="245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08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North Face: Summit Series combines performance with International">
            <a:extLst>
              <a:ext uri="{FF2B5EF4-FFF2-40B4-BE49-F238E27FC236}">
                <a16:creationId xmlns:a16="http://schemas.microsoft.com/office/drawing/2014/main" id="{F0274232-31D0-4CB9-7854-EBA84F0F8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Résultats obtenus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Identification de groupes de produits similaires via analyse textuelle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Extraction de thématiques clés à partir des description marketing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Méthodologie scalable, automatisable, et sans supervision humaine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Piste concrète pour structurer l’offre et guider les recommandations produit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Limites actuelles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Impact opérationnel limité en l’état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      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Résultats difficilement exploitables sans croisement avec d’autres sources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Volume de données restreint (500 produits)</a:t>
            </a: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          </a:t>
            </a:r>
            <a:r>
              <a:rPr lang="fr-FR" sz="1400" dirty="0">
                <a:latin typeface="Lucida Console" panose="020B0609040504020204" pitchFamily="49" charset="0"/>
              </a:rPr>
              <a:t>►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Limite la robustesse des regroupements</a:t>
            </a:r>
          </a:p>
          <a:p>
            <a:endParaRPr lang="fr-FR" sz="1400" b="1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b="1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Bilan du projet – Analyse Produit e-commerce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D3771469-123A-87E8-BECE-11A02942ABEE}"/>
              </a:ext>
            </a:extLst>
          </p:cNvPr>
          <p:cNvSpPr/>
          <p:nvPr/>
        </p:nvSpPr>
        <p:spPr>
          <a:xfrm rot="21244006">
            <a:off x="655788" y="270417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981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e North Face: Summit Series combines performance with International">
            <a:extLst>
              <a:ext uri="{FF2B5EF4-FFF2-40B4-BE49-F238E27FC236}">
                <a16:creationId xmlns:a16="http://schemas.microsoft.com/office/drawing/2014/main" id="{F0274232-31D0-4CB9-7854-EBA84F0F8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69;p15">
            <a:extLst>
              <a:ext uri="{FF2B5EF4-FFF2-40B4-BE49-F238E27FC236}">
                <a16:creationId xmlns:a16="http://schemas.microsoft.com/office/drawing/2014/main" id="{A0CD5257-B2C0-BE76-7384-AD5EABBFC35C}"/>
              </a:ext>
            </a:extLst>
          </p:cNvPr>
          <p:cNvSpPr txBox="1">
            <a:spLocks/>
          </p:cNvSpPr>
          <p:nvPr/>
        </p:nvSpPr>
        <p:spPr>
          <a:xfrm>
            <a:off x="897364" y="794026"/>
            <a:ext cx="8030636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Coupler avec des données comportementales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(navigation, clic, ventes, taux de  conversion…) pour affiner la pertinence business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Etendre le périmètre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à un catalogue produit plus large pour renforcer l’analyse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Elargir l’analyse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avec des données descriptives (prix, collection…) et visuelles (images, couleurs, styles…)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Enrichir avec une couche de validation métier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(experts, merchandising…) pour lier au commerce physique</a:t>
            </a:r>
          </a:p>
          <a:p>
            <a:endParaRPr lang="fr-FR" sz="1400" b="1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</a:t>
            </a: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Recommandations ciblées pour progresser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634448" y="1188083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10</a:t>
            </a:fld>
            <a:endParaRPr lang="fr-FR" sz="1600" b="1" dirty="0"/>
          </a:p>
        </p:txBody>
      </p:sp>
      <p:pic>
        <p:nvPicPr>
          <p:cNvPr id="4" name="Picture 2" descr="The North Face Logo : histoire, signification de l'emblème">
            <a:extLst>
              <a:ext uri="{FF2B5EF4-FFF2-40B4-BE49-F238E27FC236}">
                <a16:creationId xmlns:a16="http://schemas.microsoft.com/office/drawing/2014/main" id="{84EBDE60-576F-2A80-AB3D-B1DD85BDF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5" y="4353886"/>
            <a:ext cx="1404167" cy="78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D3771469-123A-87E8-BECE-11A02942ABEE}"/>
              </a:ext>
            </a:extLst>
          </p:cNvPr>
          <p:cNvSpPr/>
          <p:nvPr/>
        </p:nvSpPr>
        <p:spPr>
          <a:xfrm rot="21244006">
            <a:off x="634448" y="288258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2;p15">
            <a:extLst>
              <a:ext uri="{FF2B5EF4-FFF2-40B4-BE49-F238E27FC236}">
                <a16:creationId xmlns:a16="http://schemas.microsoft.com/office/drawing/2014/main" id="{EEE7E815-8321-965B-DDA5-97B0F386869B}"/>
              </a:ext>
            </a:extLst>
          </p:cNvPr>
          <p:cNvSpPr/>
          <p:nvPr/>
        </p:nvSpPr>
        <p:spPr>
          <a:xfrm rot="21244006">
            <a:off x="629948" y="183402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D733E56F-D388-DEA7-DD1A-53E28B58E571}"/>
              </a:ext>
            </a:extLst>
          </p:cNvPr>
          <p:cNvSpPr/>
          <p:nvPr/>
        </p:nvSpPr>
        <p:spPr>
          <a:xfrm rot="21244006">
            <a:off x="629949" y="2270134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49" name="Picture 5" descr="The North Face Ups Its Stake in New York City">
            <a:extLst>
              <a:ext uri="{FF2B5EF4-FFF2-40B4-BE49-F238E27FC236}">
                <a16:creationId xmlns:a16="http://schemas.microsoft.com/office/drawing/2014/main" id="{A2E33CFE-9F6F-8D1A-9692-B6EDE48E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236" y="3250237"/>
            <a:ext cx="2581251" cy="145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75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661</Words>
  <Application>Microsoft Office PowerPoint</Application>
  <PresentationFormat>Affichage à l'écran (16:9)</PresentationFormat>
  <Paragraphs>110</Paragraphs>
  <Slides>11</Slides>
  <Notes>11</Notes>
  <HiddenSlides>1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Inter SemiBold</vt:lpstr>
      <vt:lpstr>Lucida Console</vt:lpstr>
      <vt:lpstr>Arial</vt:lpstr>
      <vt:lpstr>Inter</vt:lpstr>
      <vt:lpstr>Inter Medium</vt:lpstr>
      <vt:lpstr>Simple Light</vt:lpstr>
      <vt:lpstr>BLOC 3 – Machine Learning North Face project</vt:lpstr>
      <vt:lpstr>Objectifs pédagogiques du projet </vt:lpstr>
      <vt:lpstr>Optimiser l’offre produit e-commerce grâce au Machine Learning non supervisé</vt:lpstr>
      <vt:lpstr>Données Produits e-commerce (NLP)</vt:lpstr>
      <vt:lpstr>Techniques de nettoyage et préparation</vt:lpstr>
      <vt:lpstr>Regroupement de produits similaires</vt:lpstr>
      <vt:lpstr>Système de recommandation produit</vt:lpstr>
      <vt:lpstr>Analyse sémantique – Identification des thèmes</vt:lpstr>
      <vt:lpstr>Bilan du projet – Analyse Produit e-commerce</vt:lpstr>
      <vt:lpstr>Recommandations ciblées pour progresser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6</cp:revision>
  <dcterms:modified xsi:type="dcterms:W3CDTF">2025-07-21T09:20:14Z</dcterms:modified>
</cp:coreProperties>
</file>