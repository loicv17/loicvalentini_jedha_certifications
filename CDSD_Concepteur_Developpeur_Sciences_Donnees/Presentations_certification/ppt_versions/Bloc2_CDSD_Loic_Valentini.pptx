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3" r:id="rId4"/>
    <p:sldId id="264" r:id="rId5"/>
    <p:sldId id="274" r:id="rId6"/>
    <p:sldId id="276" r:id="rId7"/>
    <p:sldId id="277" r:id="rId8"/>
    <p:sldId id="278" r:id="rId9"/>
    <p:sldId id="279" r:id="rId10"/>
    <p:sldId id="262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8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213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2932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15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619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699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340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2 – Analyse statistique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Tinder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Juillet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Effectuer des analyses statistiques descriptives et inférentielles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en utilisant des outils comme Pandas et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Numpy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organiser, nettoyer et normaliser les données.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Réaliser des analyses univariées et multivariées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identifier des relations significatives entre les variables et comprendre leur impact sur les résultats.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Présenter les résultats des analyses de manière claire et visuelle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avec des graphiques interactifs pour une meilleure interprétation des insights et faciliter la prise de décisions.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Adapter les conclusions statistiques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pour qu'elles soient compréhensibles et exploitables par un public non spécialiste, afin de soutenir les actions opérationnelles du projet.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9852" y="140897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1" y="202937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9102" y="268539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59102" y="330465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1026" name="Picture 2" descr="Tinder Newsroom - Ressources">
            <a:extLst>
              <a:ext uri="{FF2B5EF4-FFF2-40B4-BE49-F238E27FC236}">
                <a16:creationId xmlns:a16="http://schemas.microsoft.com/office/drawing/2014/main" id="{338810C4-121C-0D7C-9B2F-E3CA0F2B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 descr="Participez au Speed Dating avec des moins de 30 ans">
            <a:extLst>
              <a:ext uri="{FF2B5EF4-FFF2-40B4-BE49-F238E27FC236}">
                <a16:creationId xmlns:a16="http://schemas.microsoft.com/office/drawing/2014/main" id="{0935B7DC-CEF9-B366-5672-7804F4FA4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6" r="4579"/>
          <a:stretch/>
        </p:blipFill>
        <p:spPr bwMode="auto">
          <a:xfrm>
            <a:off x="-1" y="0"/>
            <a:ext cx="9593478" cy="493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Comprendre ce qui crée l’alchimie entre deux profils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Répondre à la baisse des matchs en identifiant les leviers d’attraction.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Mieux cerner les préférences réelles des utilisateurs.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Exploiter les données d’un test grandeur nature (speed dating).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Optimiser l’algorithme de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matching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avec des critères pertinents.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Comprendre l’écart entre intentions et comportements réels.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Booster la personnalisation, l’engagement et la rétention.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2" y="158215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299" y="205470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299" y="247422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299" y="289375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8964D3B4-17A9-B594-18E8-B2727928ABF0}"/>
              </a:ext>
            </a:extLst>
          </p:cNvPr>
          <p:cNvSpPr/>
          <p:nvPr/>
        </p:nvSpPr>
        <p:spPr>
          <a:xfrm rot="21244006">
            <a:off x="566300" y="331327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0DD362E5-286D-E441-E67B-BA0612A13DC5}"/>
              </a:ext>
            </a:extLst>
          </p:cNvPr>
          <p:cNvSpPr/>
          <p:nvPr/>
        </p:nvSpPr>
        <p:spPr>
          <a:xfrm rot="21244006">
            <a:off x="566301" y="37208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2" descr="Tinder Newsroom - Ressources">
            <a:extLst>
              <a:ext uri="{FF2B5EF4-FFF2-40B4-BE49-F238E27FC236}">
                <a16:creationId xmlns:a16="http://schemas.microsoft.com/office/drawing/2014/main" id="{01F70574-0F15-B5BE-906A-E7B4A2DA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Plus de 8000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rendez-vous réels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entre deux personnes à analyser.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données structurées, croisées, exploitables.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profils complets :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valeurs, intérêts, ressentis mutuels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Près de 200 variables pour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capturer toute la complexité des interactions humaines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avec des décisions de match enregistrées des deux côtés.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/>
              <a:t>Un levier fort </a:t>
            </a:r>
            <a:r>
              <a:rPr lang="fr-FR" sz="1400" dirty="0"/>
              <a:t>pour améliorer l’algorithme de recommandation.</a:t>
            </a: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3074" name="Picture 2" descr="Synthwave Neon Background. Code Binary Backdrop. Big Data Vector  Illustration. Bright Pink Glowing. Blue vibrant round Light. Digital  wallpaper, print, poster, banner, cover, flyer, brochure Template Stock  Vector | Adobe Stock">
            <a:extLst>
              <a:ext uri="{FF2B5EF4-FFF2-40B4-BE49-F238E27FC236}">
                <a16:creationId xmlns:a16="http://schemas.microsoft.com/office/drawing/2014/main" id="{24D15CBA-0C96-427E-AD58-C050F307B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745" y="-100800"/>
            <a:ext cx="9673195" cy="544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 de données riche pour décrypter l’affinité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2944" y="162294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2945" y="202974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632944" y="248182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4DFB8A2C-6FDA-1008-0BBD-23B159B9A344}"/>
              </a:ext>
            </a:extLst>
          </p:cNvPr>
          <p:cNvSpPr/>
          <p:nvPr/>
        </p:nvSpPr>
        <p:spPr>
          <a:xfrm rot="21244006">
            <a:off x="632944" y="28978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93F1123A-2F1F-F073-376B-0B186364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129AC02A-A995-F381-EAD8-55E156A84D17}"/>
              </a:ext>
            </a:extLst>
          </p:cNvPr>
          <p:cNvSpPr/>
          <p:nvPr/>
        </p:nvSpPr>
        <p:spPr>
          <a:xfrm rot="21244006">
            <a:off x="632943" y="352845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42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de l’impact de l’écart d’âge sur les matchs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762616" y="199133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762615" y="303192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6038239" y="1784904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 petit écart d’âge augmente nettement les chances de match.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Regrouper les profils par tranche d’âge peut améliorer les taux de succès.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17D630A-6F6B-2EFA-CEFC-1C8D05A4A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99" y="1106794"/>
            <a:ext cx="5377861" cy="321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83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Lien entre auto-évaluation et retours positifs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535682" y="147837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5873298" y="1259101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Légère corrélation positive entre l’auto-perception et les retours positifs des autres participants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166B441-771F-2480-5718-09F96C26EB81}"/>
              </a:ext>
            </a:extLst>
          </p:cNvPr>
          <p:cNvSpPr txBox="1"/>
          <p:nvPr/>
        </p:nvSpPr>
        <p:spPr>
          <a:xfrm>
            <a:off x="2456943" y="4364294"/>
            <a:ext cx="21252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Inter Medium" panose="020B0604020202020204" charset="0"/>
                <a:ea typeface="Inter Medium" panose="020B0604020202020204" charset="0"/>
              </a:rPr>
              <a:t>Auto-perception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6FAFA4-ABB6-5B99-BB70-350FD1DDB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83" y="1072014"/>
            <a:ext cx="5006542" cy="3105324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EB358D30-1F59-6E8F-0EDC-61D9AEC7D7C9}"/>
              </a:ext>
            </a:extLst>
          </p:cNvPr>
          <p:cNvSpPr/>
          <p:nvPr/>
        </p:nvSpPr>
        <p:spPr>
          <a:xfrm>
            <a:off x="408451" y="4195126"/>
            <a:ext cx="4885874" cy="197495"/>
          </a:xfrm>
          <a:prstGeom prst="rightArrow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00B050"/>
              </a:gs>
            </a:gsLst>
            <a:lin ang="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3D5301AE-6070-8040-5422-57905872B90C}"/>
              </a:ext>
            </a:extLst>
          </p:cNvPr>
          <p:cNvSpPr/>
          <p:nvPr/>
        </p:nvSpPr>
        <p:spPr>
          <a:xfrm rot="21244006">
            <a:off x="5542612" y="251162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69;p15">
            <a:extLst>
              <a:ext uri="{FF2B5EF4-FFF2-40B4-BE49-F238E27FC236}">
                <a16:creationId xmlns:a16="http://schemas.microsoft.com/office/drawing/2014/main" id="{00CF8456-4541-4578-3BAA-DE6579BC5B7C}"/>
              </a:ext>
            </a:extLst>
          </p:cNvPr>
          <p:cNvSpPr txBox="1">
            <a:spLocks/>
          </p:cNvSpPr>
          <p:nvPr/>
        </p:nvSpPr>
        <p:spPr>
          <a:xfrm>
            <a:off x="5873297" y="2348360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Critères les plus favorables (dans l’ordre) :</a:t>
            </a:r>
          </a:p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Attr3_1 -&gt;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Attractivité</a:t>
            </a:r>
          </a:p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Fun3_1 -&gt;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Sens de l’humour</a:t>
            </a:r>
          </a:p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Amb3_1 -&gt;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Ambition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2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Rôle des hobbies partagés dans le matching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157889" y="329704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478801" y="3087875"/>
            <a:ext cx="3197368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hobbies communs favorisent (faiblement) les matchs sur les classes majoritaires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65B96A6-2954-EC2A-F786-059A47379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831" y="974997"/>
            <a:ext cx="5178816" cy="219978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5B0D9AE-724A-010A-D09D-4C68D1FBB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353" y="898658"/>
            <a:ext cx="3411816" cy="2118872"/>
          </a:xfrm>
          <a:prstGeom prst="rect">
            <a:avLst/>
          </a:prstGeom>
        </p:spPr>
      </p:pic>
      <p:sp>
        <p:nvSpPr>
          <p:cNvPr id="19" name="Google Shape;72;p15">
            <a:extLst>
              <a:ext uri="{FF2B5EF4-FFF2-40B4-BE49-F238E27FC236}">
                <a16:creationId xmlns:a16="http://schemas.microsoft.com/office/drawing/2014/main" id="{438F7A0B-B48D-64DB-32DD-3C9C3717804D}"/>
              </a:ext>
            </a:extLst>
          </p:cNvPr>
          <p:cNvSpPr/>
          <p:nvPr/>
        </p:nvSpPr>
        <p:spPr>
          <a:xfrm rot="21244006">
            <a:off x="157890" y="415396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69;p15">
            <a:extLst>
              <a:ext uri="{FF2B5EF4-FFF2-40B4-BE49-F238E27FC236}">
                <a16:creationId xmlns:a16="http://schemas.microsoft.com/office/drawing/2014/main" id="{4576270D-8F96-CEF4-C17D-FE8743D9E38E}"/>
              </a:ext>
            </a:extLst>
          </p:cNvPr>
          <p:cNvSpPr txBox="1">
            <a:spLocks/>
          </p:cNvSpPr>
          <p:nvPr/>
        </p:nvSpPr>
        <p:spPr>
          <a:xfrm>
            <a:off x="477752" y="3954023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 manière surprenante, les matchs « parfaits » (4 ou 5) ont des taux plus faibles 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21" name="Google Shape;72;p15">
            <a:extLst>
              <a:ext uri="{FF2B5EF4-FFF2-40B4-BE49-F238E27FC236}">
                <a16:creationId xmlns:a16="http://schemas.microsoft.com/office/drawing/2014/main" id="{A39D3111-5793-CCBA-87D2-3EEA94319AD0}"/>
              </a:ext>
            </a:extLst>
          </p:cNvPr>
          <p:cNvSpPr/>
          <p:nvPr/>
        </p:nvSpPr>
        <p:spPr>
          <a:xfrm rot="21244006">
            <a:off x="4011089" y="326029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69;p15">
            <a:extLst>
              <a:ext uri="{FF2B5EF4-FFF2-40B4-BE49-F238E27FC236}">
                <a16:creationId xmlns:a16="http://schemas.microsoft.com/office/drawing/2014/main" id="{E37B919A-8E62-A090-CC28-A1008C5A0F8B}"/>
              </a:ext>
            </a:extLst>
          </p:cNvPr>
          <p:cNvSpPr txBox="1">
            <a:spLocks/>
          </p:cNvSpPr>
          <p:nvPr/>
        </p:nvSpPr>
        <p:spPr>
          <a:xfrm>
            <a:off x="4274004" y="3081501"/>
            <a:ext cx="4198453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Quelques hobbies en communs semblent les plus favorables : yoga, randonnées,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clubbing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exercice ou musique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61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Effet de la fatigue au fil des rendez-vous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 flipV="1">
            <a:off x="5388860" y="1620420"/>
            <a:ext cx="261199" cy="48779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5651881" y="1460041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Very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early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1 à 6</a:t>
            </a:r>
          </a:p>
          <a:p>
            <a:pPr algn="just"/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Early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7 à 12</a:t>
            </a:r>
          </a:p>
          <a:p>
            <a:pPr algn="just"/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Mid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13 à 16</a:t>
            </a:r>
          </a:p>
          <a:p>
            <a:pPr algn="just"/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Late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rdv &gt;17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2" name="Picture 2" descr="Tinder Newsroom - Ressources">
            <a:extLst>
              <a:ext uri="{FF2B5EF4-FFF2-40B4-BE49-F238E27FC236}">
                <a16:creationId xmlns:a16="http://schemas.microsoft.com/office/drawing/2014/main" id="{449F33C8-AA0B-3AC1-A24B-F49AD2328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51E5AD8-31FB-295F-DEBD-90162F693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90" y="1078110"/>
            <a:ext cx="4329158" cy="3295746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EE930898-EE4A-2A1E-40F8-F0C2CD404924}"/>
              </a:ext>
            </a:extLst>
          </p:cNvPr>
          <p:cNvSpPr/>
          <p:nvPr/>
        </p:nvSpPr>
        <p:spPr>
          <a:xfrm>
            <a:off x="777490" y="965599"/>
            <a:ext cx="2167310" cy="198640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408BFECB-100B-AFDA-8E73-839A38D5FD5E}"/>
              </a:ext>
            </a:extLst>
          </p:cNvPr>
          <p:cNvSpPr/>
          <p:nvPr/>
        </p:nvSpPr>
        <p:spPr>
          <a:xfrm rot="21244006" flipV="1">
            <a:off x="5388861" y="2773946"/>
            <a:ext cx="261199" cy="48779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69;p15">
            <a:extLst>
              <a:ext uri="{FF2B5EF4-FFF2-40B4-BE49-F238E27FC236}">
                <a16:creationId xmlns:a16="http://schemas.microsoft.com/office/drawing/2014/main" id="{7575AADD-8F79-44A2-FA81-2188D4E9D430}"/>
              </a:ext>
            </a:extLst>
          </p:cNvPr>
          <p:cNvSpPr txBox="1">
            <a:spLocks/>
          </p:cNvSpPr>
          <p:nvPr/>
        </p:nvSpPr>
        <p:spPr>
          <a:xfrm>
            <a:off x="5651881" y="2587539"/>
            <a:ext cx="298291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Les meilleurs taux de match sont observés lorsque les rendez-vous ont lieu très tôt dans la session.</a:t>
            </a:r>
          </a:p>
          <a:p>
            <a:pPr algn="just"/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pPr algn="just"/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585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Tinder owner bets on 'summer of love' to lift revenue as curbs ease |  Reuters">
            <a:extLst>
              <a:ext uri="{FF2B5EF4-FFF2-40B4-BE49-F238E27FC236}">
                <a16:creationId xmlns:a16="http://schemas.microsoft.com/office/drawing/2014/main" id="{1BD294FB-8583-EF7E-B155-6E28E7B50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05" y="-921601"/>
            <a:ext cx="9331200" cy="6218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Synthèse des recommandations principales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85351" y="1347605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Constituer des groupes par tranches d’âge homogènes.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Placer les rencontres clés en début de session.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Mettre en avant les centres d’intérêt compatibles.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Valoriser la confiance en soi à travers les profils.</a:t>
            </a:r>
            <a:br>
              <a:rPr lang="fr-FR" sz="10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88459" y="175411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92655" y="230732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88459" y="288284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pic>
        <p:nvPicPr>
          <p:cNvPr id="5" name="Picture 2" descr="Tinder Newsroom - Ressources">
            <a:extLst>
              <a:ext uri="{FF2B5EF4-FFF2-40B4-BE49-F238E27FC236}">
                <a16:creationId xmlns:a16="http://schemas.microsoft.com/office/drawing/2014/main" id="{01F70574-0F15-B5BE-906A-E7B4A2DA3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7454"/>
            <a:ext cx="1554983" cy="96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6ED69904-A3AC-483E-94BE-27691C4AF81C}"/>
              </a:ext>
            </a:extLst>
          </p:cNvPr>
          <p:cNvSpPr/>
          <p:nvPr/>
        </p:nvSpPr>
        <p:spPr>
          <a:xfrm rot="21244006">
            <a:off x="588459" y="348253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924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539</Words>
  <Application>Microsoft Office PowerPoint</Application>
  <PresentationFormat>Affichage à l'écran (16:9)</PresentationFormat>
  <Paragraphs>68</Paragraphs>
  <Slides>10</Slides>
  <Notes>10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Inter Medium</vt:lpstr>
      <vt:lpstr>Inter</vt:lpstr>
      <vt:lpstr>Inter SemiBold</vt:lpstr>
      <vt:lpstr>Arial</vt:lpstr>
      <vt:lpstr>Simple Light</vt:lpstr>
      <vt:lpstr>BLOC 2 – Analyse statistique Tinder project</vt:lpstr>
      <vt:lpstr>Objectifs pédagogiques du projet </vt:lpstr>
      <vt:lpstr>Comprendre ce qui crée l’alchimie entre deux profils</vt:lpstr>
      <vt:lpstr>Base de données riche pour décrypter l’affinité </vt:lpstr>
      <vt:lpstr>Analyse de l’impact de l’écart d’âge sur les matchs</vt:lpstr>
      <vt:lpstr>Lien entre auto-évaluation et retours positifs</vt:lpstr>
      <vt:lpstr>Rôle des hobbies partagés dans le matching</vt:lpstr>
      <vt:lpstr>Effet de la fatigue au fil des rendez-vous</vt:lpstr>
      <vt:lpstr>Synthèse des recommandations principales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4</cp:revision>
  <dcterms:modified xsi:type="dcterms:W3CDTF">2025-09-10T09:03:51Z</dcterms:modified>
</cp:coreProperties>
</file>