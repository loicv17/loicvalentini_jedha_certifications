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8" r:id="rId3"/>
    <p:sldId id="263" r:id="rId4"/>
    <p:sldId id="264" r:id="rId5"/>
    <p:sldId id="274" r:id="rId6"/>
    <p:sldId id="276" r:id="rId7"/>
    <p:sldId id="277" r:id="rId8"/>
    <p:sldId id="278" r:id="rId9"/>
    <p:sldId id="279" r:id="rId10"/>
    <p:sldId id="262" r:id="rId11"/>
  </p:sldIdLst>
  <p:sldSz cx="9144000" cy="5143500" type="screen16x9"/>
  <p:notesSz cx="6858000" cy="9144000"/>
  <p:embeddedFontLst>
    <p:embeddedFont>
      <p:font typeface="Inter" panose="020B0604020202020204" charset="0"/>
      <p:regular r:id="rId13"/>
      <p:bold r:id="rId14"/>
      <p:italic r:id="rId15"/>
      <p:boldItalic r:id="rId16"/>
    </p:embeddedFont>
    <p:embeddedFont>
      <p:font typeface="Inter Medium" panose="020B0604020202020204" charset="0"/>
      <p:regular r:id="rId17"/>
      <p:bold r:id="rId18"/>
      <p:italic r:id="rId19"/>
      <p:boldItalic r:id="rId20"/>
    </p:embeddedFont>
    <p:embeddedFont>
      <p:font typeface="Inter SemiBold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9" d="100"/>
          <a:sy n="129" d="100"/>
        </p:scale>
        <p:origin x="168" y="17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7af7a6a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7af7a6af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56175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22135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29325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2152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56192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66998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63400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77ed9f117a_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77ed9f117a_2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DAD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735474" y="2062825"/>
            <a:ext cx="8012525" cy="61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2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BLOC 2 – Analyse statistique</a:t>
            </a:r>
            <a:br>
              <a:rPr lang="fr" sz="32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</a:br>
            <a:r>
              <a:rPr lang="fr" sz="3200" i="1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Tinder project</a:t>
            </a:r>
            <a:endParaRPr sz="3200" i="1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5550" y="2595750"/>
            <a:ext cx="3818450" cy="25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0550" y="787375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202664" y="4356125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dirty="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CDSD - Loic Valentini – Juillet 2025</a:t>
            </a:r>
            <a:endParaRPr sz="1800" dirty="0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921B91B-F36A-9DD0-A880-2FD685970C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1</a:t>
            </a:fld>
            <a:endParaRPr lang="fr-FR" sz="1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Objectifs pédagogiques du projet 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897364" y="1202551"/>
            <a:ext cx="7944236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Effectuer des analyses statistiques descriptives et inférentielles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, en utilisant des outils comme Pandas et 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Numpy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pour organiser, nettoyer et normaliser les données.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Réaliser des analyses univariées et multivariées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pour identifier des relations significatives entre les variables et comprendre leur impact sur les résultats.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Présenter les résultats des analyses de manière claire et visuelle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, avec des graphiques interactifs pour une meilleure interprétation des insights et faciliter la prise de décisions.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Adapter les conclusions statistiques 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pour qu'elles soient compréhensibles et exploitables par un public non spécialiste, afin de soutenir les actions opérationnelles du projet.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45031"/>
            <a:ext cx="9144000" cy="39839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72;p15">
            <a:extLst>
              <a:ext uri="{FF2B5EF4-FFF2-40B4-BE49-F238E27FC236}">
                <a16:creationId xmlns:a16="http://schemas.microsoft.com/office/drawing/2014/main" id="{9B66071D-AD28-9136-454D-9B33ECE99FA8}"/>
              </a:ext>
            </a:extLst>
          </p:cNvPr>
          <p:cNvSpPr/>
          <p:nvPr/>
        </p:nvSpPr>
        <p:spPr>
          <a:xfrm rot="21244006">
            <a:off x="559852" y="1408979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72;p15">
            <a:extLst>
              <a:ext uri="{FF2B5EF4-FFF2-40B4-BE49-F238E27FC236}">
                <a16:creationId xmlns:a16="http://schemas.microsoft.com/office/drawing/2014/main" id="{0A92A33E-5C0D-9471-660D-EEF056D7FEEB}"/>
              </a:ext>
            </a:extLst>
          </p:cNvPr>
          <p:cNvSpPr/>
          <p:nvPr/>
        </p:nvSpPr>
        <p:spPr>
          <a:xfrm rot="21244006">
            <a:off x="566301" y="2029379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559102" y="2685394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72;p15">
            <a:extLst>
              <a:ext uri="{FF2B5EF4-FFF2-40B4-BE49-F238E27FC236}">
                <a16:creationId xmlns:a16="http://schemas.microsoft.com/office/drawing/2014/main" id="{081DBEE9-5635-AACD-58A1-43551D1D74EC}"/>
              </a:ext>
            </a:extLst>
          </p:cNvPr>
          <p:cNvSpPr/>
          <p:nvPr/>
        </p:nvSpPr>
        <p:spPr>
          <a:xfrm rot="21244006">
            <a:off x="559102" y="3304659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37854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2</a:t>
            </a:fld>
            <a:endParaRPr lang="fr-FR" sz="1600" b="1" dirty="0"/>
          </a:p>
        </p:txBody>
      </p:sp>
      <p:pic>
        <p:nvPicPr>
          <p:cNvPr id="1026" name="Picture 2" descr="Tinder Newsroom - Ressources">
            <a:extLst>
              <a:ext uri="{FF2B5EF4-FFF2-40B4-BE49-F238E27FC236}">
                <a16:creationId xmlns:a16="http://schemas.microsoft.com/office/drawing/2014/main" id="{338810C4-121C-0D7C-9B2F-E3CA0F2B2C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7454"/>
            <a:ext cx="1554983" cy="966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3" name="Picture 5" descr="Participez au Speed Dating avec des moins de 30 ans">
            <a:extLst>
              <a:ext uri="{FF2B5EF4-FFF2-40B4-BE49-F238E27FC236}">
                <a16:creationId xmlns:a16="http://schemas.microsoft.com/office/drawing/2014/main" id="{0935B7DC-CEF9-B366-5672-7804F4FA4D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16" r="4579"/>
          <a:stretch/>
        </p:blipFill>
        <p:spPr bwMode="auto">
          <a:xfrm>
            <a:off x="-1" y="0"/>
            <a:ext cx="9593478" cy="4930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Comprendre ce qui crée l’alchimie entre deux profils</a:t>
            </a:r>
          </a:p>
        </p:txBody>
      </p:sp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897364" y="1202551"/>
            <a:ext cx="7944236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Répondre à la baisse des matchs en identifiant les leviers d’attraction.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Mieux cerner les préférences réelles des utilisateurs.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Exploiter les données d’un test grandeur nature (speed dating).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Optimiser l’algorithme de 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matching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avec des critères pertinents.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Comprendre l’écart entre intentions et comportements réels.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Booster la personnalisation, l’engagement et la rétention.</a:t>
            </a: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72;p15">
            <a:extLst>
              <a:ext uri="{FF2B5EF4-FFF2-40B4-BE49-F238E27FC236}">
                <a16:creationId xmlns:a16="http://schemas.microsoft.com/office/drawing/2014/main" id="{0A92A33E-5C0D-9471-660D-EEF056D7FEEB}"/>
              </a:ext>
            </a:extLst>
          </p:cNvPr>
          <p:cNvSpPr/>
          <p:nvPr/>
        </p:nvSpPr>
        <p:spPr>
          <a:xfrm rot="21244006">
            <a:off x="566302" y="1582159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566299" y="2054703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72;p15">
            <a:extLst>
              <a:ext uri="{FF2B5EF4-FFF2-40B4-BE49-F238E27FC236}">
                <a16:creationId xmlns:a16="http://schemas.microsoft.com/office/drawing/2014/main" id="{081DBEE9-5635-AACD-58A1-43551D1D74EC}"/>
              </a:ext>
            </a:extLst>
          </p:cNvPr>
          <p:cNvSpPr/>
          <p:nvPr/>
        </p:nvSpPr>
        <p:spPr>
          <a:xfrm rot="21244006">
            <a:off x="566299" y="2474227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72;p15">
            <a:extLst>
              <a:ext uri="{FF2B5EF4-FFF2-40B4-BE49-F238E27FC236}">
                <a16:creationId xmlns:a16="http://schemas.microsoft.com/office/drawing/2014/main" id="{4A90B45F-BA0F-4387-91B1-C2764DAA586A}"/>
              </a:ext>
            </a:extLst>
          </p:cNvPr>
          <p:cNvSpPr/>
          <p:nvPr/>
        </p:nvSpPr>
        <p:spPr>
          <a:xfrm rot="21244006">
            <a:off x="566299" y="2893751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3</a:t>
            </a:fld>
            <a:endParaRPr lang="fr-FR" sz="1600" b="1" dirty="0"/>
          </a:p>
        </p:txBody>
      </p:sp>
      <p:sp>
        <p:nvSpPr>
          <p:cNvPr id="3" name="Google Shape;72;p15">
            <a:extLst>
              <a:ext uri="{FF2B5EF4-FFF2-40B4-BE49-F238E27FC236}">
                <a16:creationId xmlns:a16="http://schemas.microsoft.com/office/drawing/2014/main" id="{8964D3B4-17A9-B594-18E8-B2727928ABF0}"/>
              </a:ext>
            </a:extLst>
          </p:cNvPr>
          <p:cNvSpPr/>
          <p:nvPr/>
        </p:nvSpPr>
        <p:spPr>
          <a:xfrm rot="21244006">
            <a:off x="566300" y="3313275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72;p15">
            <a:extLst>
              <a:ext uri="{FF2B5EF4-FFF2-40B4-BE49-F238E27FC236}">
                <a16:creationId xmlns:a16="http://schemas.microsoft.com/office/drawing/2014/main" id="{0DD362E5-286D-E441-E67B-BA0612A13DC5}"/>
              </a:ext>
            </a:extLst>
          </p:cNvPr>
          <p:cNvSpPr/>
          <p:nvPr/>
        </p:nvSpPr>
        <p:spPr>
          <a:xfrm rot="21244006">
            <a:off x="566301" y="3720860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Picture 2" descr="Tinder Newsroom - Ressources">
            <a:extLst>
              <a:ext uri="{FF2B5EF4-FFF2-40B4-BE49-F238E27FC236}">
                <a16:creationId xmlns:a16="http://schemas.microsoft.com/office/drawing/2014/main" id="{01F70574-0F15-B5BE-906A-E7B4A2DA3D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7454"/>
            <a:ext cx="1554983" cy="966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1548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69;p15">
            <a:extLst>
              <a:ext uri="{FF2B5EF4-FFF2-40B4-BE49-F238E27FC236}">
                <a16:creationId xmlns:a16="http://schemas.microsoft.com/office/drawing/2014/main" id="{A0CD5257-B2C0-BE76-7384-AD5EABBFC35C}"/>
              </a:ext>
            </a:extLst>
          </p:cNvPr>
          <p:cNvSpPr txBox="1">
            <a:spLocks/>
          </p:cNvSpPr>
          <p:nvPr/>
        </p:nvSpPr>
        <p:spPr>
          <a:xfrm>
            <a:off x="897364" y="794026"/>
            <a:ext cx="8030636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Plus de 8000 </a:t>
            </a:r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rendez-vous réels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entre deux personnes à analyser.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Des données structurées, croisées, exploitables.</a:t>
            </a: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Des profils complets : </a:t>
            </a:r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valeurs, intérêts, ressentis mutuels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Près de 200 variables pour </a:t>
            </a:r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capturer toute la complexité des interactions humaines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, avec des décisions de match enregistrées des deux côtés.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b="1" dirty="0"/>
              <a:t>Un levier fort </a:t>
            </a:r>
            <a:r>
              <a:rPr lang="fr-FR" sz="1400" dirty="0"/>
              <a:t>pour améliorer l’algorithme de recommandation.</a:t>
            </a:r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3074" name="Picture 2" descr="Synthwave Neon Background. Code Binary Backdrop. Big Data Vector  Illustration. Bright Pink Glowing. Blue vibrant round Light. Digital  wallpaper, print, poster, banner, cover, flyer, brochure Template Stock  Vector | Adobe Stock">
            <a:extLst>
              <a:ext uri="{FF2B5EF4-FFF2-40B4-BE49-F238E27FC236}">
                <a16:creationId xmlns:a16="http://schemas.microsoft.com/office/drawing/2014/main" id="{24D15CBA-0C96-427E-AD58-C050F307B6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08745" y="-100800"/>
            <a:ext cx="9673195" cy="544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Base de données riche pour décrypter l’affinité 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632944" y="1622944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72;p15">
            <a:extLst>
              <a:ext uri="{FF2B5EF4-FFF2-40B4-BE49-F238E27FC236}">
                <a16:creationId xmlns:a16="http://schemas.microsoft.com/office/drawing/2014/main" id="{081DBEE9-5635-AACD-58A1-43551D1D74EC}"/>
              </a:ext>
            </a:extLst>
          </p:cNvPr>
          <p:cNvSpPr/>
          <p:nvPr/>
        </p:nvSpPr>
        <p:spPr>
          <a:xfrm rot="21244006">
            <a:off x="632945" y="2029744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72;p15">
            <a:extLst>
              <a:ext uri="{FF2B5EF4-FFF2-40B4-BE49-F238E27FC236}">
                <a16:creationId xmlns:a16="http://schemas.microsoft.com/office/drawing/2014/main" id="{4A90B45F-BA0F-4387-91B1-C2764DAA586A}"/>
              </a:ext>
            </a:extLst>
          </p:cNvPr>
          <p:cNvSpPr/>
          <p:nvPr/>
        </p:nvSpPr>
        <p:spPr>
          <a:xfrm rot="21244006">
            <a:off x="632944" y="2481820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4</a:t>
            </a:fld>
            <a:endParaRPr lang="fr-FR" sz="1600" b="1" dirty="0"/>
          </a:p>
        </p:txBody>
      </p:sp>
      <p:sp>
        <p:nvSpPr>
          <p:cNvPr id="15" name="Google Shape;72;p15">
            <a:extLst>
              <a:ext uri="{FF2B5EF4-FFF2-40B4-BE49-F238E27FC236}">
                <a16:creationId xmlns:a16="http://schemas.microsoft.com/office/drawing/2014/main" id="{4DFB8A2C-6FDA-1008-0BBD-23B159B9A344}"/>
              </a:ext>
            </a:extLst>
          </p:cNvPr>
          <p:cNvSpPr/>
          <p:nvPr/>
        </p:nvSpPr>
        <p:spPr>
          <a:xfrm rot="21244006">
            <a:off x="632944" y="2897860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2" descr="Tinder Newsroom - Ressources">
            <a:extLst>
              <a:ext uri="{FF2B5EF4-FFF2-40B4-BE49-F238E27FC236}">
                <a16:creationId xmlns:a16="http://schemas.microsoft.com/office/drawing/2014/main" id="{93F1123A-2F1F-F073-376B-0B18636493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7454"/>
            <a:ext cx="1554983" cy="966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72;p15">
            <a:extLst>
              <a:ext uri="{FF2B5EF4-FFF2-40B4-BE49-F238E27FC236}">
                <a16:creationId xmlns:a16="http://schemas.microsoft.com/office/drawing/2014/main" id="{129AC02A-A995-F381-EAD8-55E156A84D17}"/>
              </a:ext>
            </a:extLst>
          </p:cNvPr>
          <p:cNvSpPr/>
          <p:nvPr/>
        </p:nvSpPr>
        <p:spPr>
          <a:xfrm rot="21244006">
            <a:off x="632943" y="3528456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3427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Analyse de l’impact de l’écart d’âge sur les matchs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72;p15">
            <a:extLst>
              <a:ext uri="{FF2B5EF4-FFF2-40B4-BE49-F238E27FC236}">
                <a16:creationId xmlns:a16="http://schemas.microsoft.com/office/drawing/2014/main" id="{0A92A33E-5C0D-9471-660D-EEF056D7FEEB}"/>
              </a:ext>
            </a:extLst>
          </p:cNvPr>
          <p:cNvSpPr/>
          <p:nvPr/>
        </p:nvSpPr>
        <p:spPr>
          <a:xfrm rot="21244006">
            <a:off x="5762616" y="1991333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5762615" y="3031924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5</a:t>
            </a:fld>
            <a:endParaRPr lang="fr-FR" sz="1600" b="1" dirty="0"/>
          </a:p>
        </p:txBody>
      </p:sp>
      <p:sp>
        <p:nvSpPr>
          <p:cNvPr id="14" name="Google Shape;69;p15">
            <a:extLst>
              <a:ext uri="{FF2B5EF4-FFF2-40B4-BE49-F238E27FC236}">
                <a16:creationId xmlns:a16="http://schemas.microsoft.com/office/drawing/2014/main" id="{A0CD5257-B2C0-BE76-7384-AD5EABBFC35C}"/>
              </a:ext>
            </a:extLst>
          </p:cNvPr>
          <p:cNvSpPr txBox="1">
            <a:spLocks/>
          </p:cNvSpPr>
          <p:nvPr/>
        </p:nvSpPr>
        <p:spPr>
          <a:xfrm>
            <a:off x="6038239" y="1784904"/>
            <a:ext cx="2982919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Un petit écart d’âge augmente nettement les chances de match.</a:t>
            </a:r>
          </a:p>
          <a:p>
            <a:pPr algn="just"/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pPr algn="just"/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Regrouper les profils par tranche d’âge peut améliorer les taux de succès.</a:t>
            </a: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2" name="Picture 2" descr="Tinder Newsroom - Ressources">
            <a:extLst>
              <a:ext uri="{FF2B5EF4-FFF2-40B4-BE49-F238E27FC236}">
                <a16:creationId xmlns:a16="http://schemas.microsoft.com/office/drawing/2014/main" id="{449F33C8-AA0B-3AC1-A24B-F49AD2328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7454"/>
            <a:ext cx="1554983" cy="966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17D630A-6F6B-2EFA-CEFC-1C8D05A4A5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799" y="1106794"/>
            <a:ext cx="5377861" cy="3213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083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Lien entre auto-évaluation et retours positifs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72;p15">
            <a:extLst>
              <a:ext uri="{FF2B5EF4-FFF2-40B4-BE49-F238E27FC236}">
                <a16:creationId xmlns:a16="http://schemas.microsoft.com/office/drawing/2014/main" id="{0A92A33E-5C0D-9471-660D-EEF056D7FEEB}"/>
              </a:ext>
            </a:extLst>
          </p:cNvPr>
          <p:cNvSpPr/>
          <p:nvPr/>
        </p:nvSpPr>
        <p:spPr>
          <a:xfrm rot="21244006">
            <a:off x="5535682" y="1478376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6</a:t>
            </a:fld>
            <a:endParaRPr lang="fr-FR" sz="1600" b="1" dirty="0"/>
          </a:p>
        </p:txBody>
      </p:sp>
      <p:sp>
        <p:nvSpPr>
          <p:cNvPr id="14" name="Google Shape;69;p15">
            <a:extLst>
              <a:ext uri="{FF2B5EF4-FFF2-40B4-BE49-F238E27FC236}">
                <a16:creationId xmlns:a16="http://schemas.microsoft.com/office/drawing/2014/main" id="{A0CD5257-B2C0-BE76-7384-AD5EABBFC35C}"/>
              </a:ext>
            </a:extLst>
          </p:cNvPr>
          <p:cNvSpPr txBox="1">
            <a:spLocks/>
          </p:cNvSpPr>
          <p:nvPr/>
        </p:nvSpPr>
        <p:spPr>
          <a:xfrm>
            <a:off x="5873298" y="1259101"/>
            <a:ext cx="2982919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Légère corrélation positive entre l’auto-perception et les retours positifs des autres participants</a:t>
            </a:r>
          </a:p>
          <a:p>
            <a:pPr algn="just"/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pPr algn="just"/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2" name="Picture 2" descr="Tinder Newsroom - Ressources">
            <a:extLst>
              <a:ext uri="{FF2B5EF4-FFF2-40B4-BE49-F238E27FC236}">
                <a16:creationId xmlns:a16="http://schemas.microsoft.com/office/drawing/2014/main" id="{449F33C8-AA0B-3AC1-A24B-F49AD2328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7454"/>
            <a:ext cx="1554983" cy="966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4166B441-771F-2480-5718-09F96C26EB81}"/>
              </a:ext>
            </a:extLst>
          </p:cNvPr>
          <p:cNvSpPr txBox="1"/>
          <p:nvPr/>
        </p:nvSpPr>
        <p:spPr>
          <a:xfrm>
            <a:off x="2456943" y="4364294"/>
            <a:ext cx="21252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Inter Medium" panose="020B0604020202020204" charset="0"/>
                <a:ea typeface="Inter Medium" panose="020B0604020202020204" charset="0"/>
              </a:rPr>
              <a:t>Auto-perception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66FAFA4-ABB6-5B99-BB70-350FD1DDB0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783" y="1072014"/>
            <a:ext cx="5006542" cy="3105324"/>
          </a:xfrm>
          <a:prstGeom prst="rect">
            <a:avLst/>
          </a:prstGeom>
        </p:spPr>
      </p:pic>
      <p:sp>
        <p:nvSpPr>
          <p:cNvPr id="9" name="Flèche : droite 8">
            <a:extLst>
              <a:ext uri="{FF2B5EF4-FFF2-40B4-BE49-F238E27FC236}">
                <a16:creationId xmlns:a16="http://schemas.microsoft.com/office/drawing/2014/main" id="{EB358D30-1F59-6E8F-0EDC-61D9AEC7D7C9}"/>
              </a:ext>
            </a:extLst>
          </p:cNvPr>
          <p:cNvSpPr/>
          <p:nvPr/>
        </p:nvSpPr>
        <p:spPr>
          <a:xfrm>
            <a:off x="408451" y="4195126"/>
            <a:ext cx="4885874" cy="197495"/>
          </a:xfrm>
          <a:prstGeom prst="rightArrow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00B050"/>
              </a:gs>
            </a:gsLst>
            <a:lin ang="0" scaled="1"/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Google Shape;72;p15">
            <a:extLst>
              <a:ext uri="{FF2B5EF4-FFF2-40B4-BE49-F238E27FC236}">
                <a16:creationId xmlns:a16="http://schemas.microsoft.com/office/drawing/2014/main" id="{3D5301AE-6070-8040-5422-57905872B90C}"/>
              </a:ext>
            </a:extLst>
          </p:cNvPr>
          <p:cNvSpPr/>
          <p:nvPr/>
        </p:nvSpPr>
        <p:spPr>
          <a:xfrm rot="21244006">
            <a:off x="5542612" y="2511628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69;p15">
            <a:extLst>
              <a:ext uri="{FF2B5EF4-FFF2-40B4-BE49-F238E27FC236}">
                <a16:creationId xmlns:a16="http://schemas.microsoft.com/office/drawing/2014/main" id="{00CF8456-4541-4578-3BAA-DE6579BC5B7C}"/>
              </a:ext>
            </a:extLst>
          </p:cNvPr>
          <p:cNvSpPr txBox="1">
            <a:spLocks/>
          </p:cNvSpPr>
          <p:nvPr/>
        </p:nvSpPr>
        <p:spPr>
          <a:xfrm>
            <a:off x="5873297" y="2348360"/>
            <a:ext cx="2982919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Critères les plus favorables (dans l’ordre) :</a:t>
            </a:r>
          </a:p>
          <a:p>
            <a:pPr algn="just"/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Attr3_1 -&gt; </a:t>
            </a:r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Attractivité</a:t>
            </a:r>
          </a:p>
          <a:p>
            <a:pPr algn="just"/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Fun3_1 -&gt; </a:t>
            </a:r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Sens de l’humour</a:t>
            </a:r>
          </a:p>
          <a:p>
            <a:pPr algn="just"/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Amb3_1 -&gt; </a:t>
            </a:r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Ambition</a:t>
            </a:r>
          </a:p>
          <a:p>
            <a:pPr algn="just"/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pPr algn="just"/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pPr algn="just"/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2526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Rôle des hobbies partagés dans le matching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72;p15">
            <a:extLst>
              <a:ext uri="{FF2B5EF4-FFF2-40B4-BE49-F238E27FC236}">
                <a16:creationId xmlns:a16="http://schemas.microsoft.com/office/drawing/2014/main" id="{0A92A33E-5C0D-9471-660D-EEF056D7FEEB}"/>
              </a:ext>
            </a:extLst>
          </p:cNvPr>
          <p:cNvSpPr/>
          <p:nvPr/>
        </p:nvSpPr>
        <p:spPr>
          <a:xfrm rot="21244006">
            <a:off x="157889" y="3297044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7</a:t>
            </a:fld>
            <a:endParaRPr lang="fr-FR" sz="1600" b="1" dirty="0"/>
          </a:p>
        </p:txBody>
      </p:sp>
      <p:sp>
        <p:nvSpPr>
          <p:cNvPr id="14" name="Google Shape;69;p15">
            <a:extLst>
              <a:ext uri="{FF2B5EF4-FFF2-40B4-BE49-F238E27FC236}">
                <a16:creationId xmlns:a16="http://schemas.microsoft.com/office/drawing/2014/main" id="{A0CD5257-B2C0-BE76-7384-AD5EABBFC35C}"/>
              </a:ext>
            </a:extLst>
          </p:cNvPr>
          <p:cNvSpPr txBox="1">
            <a:spLocks/>
          </p:cNvSpPr>
          <p:nvPr/>
        </p:nvSpPr>
        <p:spPr>
          <a:xfrm>
            <a:off x="478801" y="3087875"/>
            <a:ext cx="3197368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Des hobbies communs favorisent (faiblement) les matchs sur les classes majoritaires</a:t>
            </a:r>
          </a:p>
          <a:p>
            <a:pPr algn="just"/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pPr algn="just"/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pPr algn="just"/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2" name="Picture 2" descr="Tinder Newsroom - Ressources">
            <a:extLst>
              <a:ext uri="{FF2B5EF4-FFF2-40B4-BE49-F238E27FC236}">
                <a16:creationId xmlns:a16="http://schemas.microsoft.com/office/drawing/2014/main" id="{449F33C8-AA0B-3AC1-A24B-F49AD2328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7454"/>
            <a:ext cx="1554983" cy="966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B65B96A6-2954-EC2A-F786-059A473792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0831" y="974997"/>
            <a:ext cx="5178816" cy="2199785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05B0D9AE-724A-010A-D09D-4C68D1FBBB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4353" y="898658"/>
            <a:ext cx="3411816" cy="2118872"/>
          </a:xfrm>
          <a:prstGeom prst="rect">
            <a:avLst/>
          </a:prstGeom>
        </p:spPr>
      </p:pic>
      <p:sp>
        <p:nvSpPr>
          <p:cNvPr id="19" name="Google Shape;72;p15">
            <a:extLst>
              <a:ext uri="{FF2B5EF4-FFF2-40B4-BE49-F238E27FC236}">
                <a16:creationId xmlns:a16="http://schemas.microsoft.com/office/drawing/2014/main" id="{438F7A0B-B48D-64DB-32DD-3C9C3717804D}"/>
              </a:ext>
            </a:extLst>
          </p:cNvPr>
          <p:cNvSpPr/>
          <p:nvPr/>
        </p:nvSpPr>
        <p:spPr>
          <a:xfrm rot="21244006">
            <a:off x="157890" y="4153965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69;p15">
            <a:extLst>
              <a:ext uri="{FF2B5EF4-FFF2-40B4-BE49-F238E27FC236}">
                <a16:creationId xmlns:a16="http://schemas.microsoft.com/office/drawing/2014/main" id="{4576270D-8F96-CEF4-C17D-FE8743D9E38E}"/>
              </a:ext>
            </a:extLst>
          </p:cNvPr>
          <p:cNvSpPr txBox="1">
            <a:spLocks/>
          </p:cNvSpPr>
          <p:nvPr/>
        </p:nvSpPr>
        <p:spPr>
          <a:xfrm>
            <a:off x="477752" y="3954023"/>
            <a:ext cx="2982919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De manière surprenante, les matchs « parfaits » (4 ou 5) ont des taux plus faibles </a:t>
            </a:r>
          </a:p>
          <a:p>
            <a:pPr algn="just"/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pPr algn="just"/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pPr algn="just"/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sp>
        <p:nvSpPr>
          <p:cNvPr id="21" name="Google Shape;72;p15">
            <a:extLst>
              <a:ext uri="{FF2B5EF4-FFF2-40B4-BE49-F238E27FC236}">
                <a16:creationId xmlns:a16="http://schemas.microsoft.com/office/drawing/2014/main" id="{A39D3111-5793-CCBA-87D2-3EEA94319AD0}"/>
              </a:ext>
            </a:extLst>
          </p:cNvPr>
          <p:cNvSpPr/>
          <p:nvPr/>
        </p:nvSpPr>
        <p:spPr>
          <a:xfrm rot="21244006">
            <a:off x="4011089" y="3260295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69;p15">
            <a:extLst>
              <a:ext uri="{FF2B5EF4-FFF2-40B4-BE49-F238E27FC236}">
                <a16:creationId xmlns:a16="http://schemas.microsoft.com/office/drawing/2014/main" id="{E37B919A-8E62-A090-CC28-A1008C5A0F8B}"/>
              </a:ext>
            </a:extLst>
          </p:cNvPr>
          <p:cNvSpPr txBox="1">
            <a:spLocks/>
          </p:cNvSpPr>
          <p:nvPr/>
        </p:nvSpPr>
        <p:spPr>
          <a:xfrm>
            <a:off x="4274004" y="3081501"/>
            <a:ext cx="4198453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Quelques hobbies en communs semblent les plus favorables : yoga, randonnées, 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clubbing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, exercice ou musique</a:t>
            </a:r>
          </a:p>
          <a:p>
            <a:pPr algn="just"/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pPr algn="just"/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pPr algn="just"/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3618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Effet de la fatigue au fil des rendez-vous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72;p15">
            <a:extLst>
              <a:ext uri="{FF2B5EF4-FFF2-40B4-BE49-F238E27FC236}">
                <a16:creationId xmlns:a16="http://schemas.microsoft.com/office/drawing/2014/main" id="{0A92A33E-5C0D-9471-660D-EEF056D7FEEB}"/>
              </a:ext>
            </a:extLst>
          </p:cNvPr>
          <p:cNvSpPr/>
          <p:nvPr/>
        </p:nvSpPr>
        <p:spPr>
          <a:xfrm rot="21244006" flipV="1">
            <a:off x="5388860" y="1620420"/>
            <a:ext cx="261199" cy="48779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8</a:t>
            </a:fld>
            <a:endParaRPr lang="fr-FR" sz="1600" b="1" dirty="0"/>
          </a:p>
        </p:txBody>
      </p:sp>
      <p:sp>
        <p:nvSpPr>
          <p:cNvPr id="14" name="Google Shape;69;p15">
            <a:extLst>
              <a:ext uri="{FF2B5EF4-FFF2-40B4-BE49-F238E27FC236}">
                <a16:creationId xmlns:a16="http://schemas.microsoft.com/office/drawing/2014/main" id="{A0CD5257-B2C0-BE76-7384-AD5EABBFC35C}"/>
              </a:ext>
            </a:extLst>
          </p:cNvPr>
          <p:cNvSpPr txBox="1">
            <a:spLocks/>
          </p:cNvSpPr>
          <p:nvPr/>
        </p:nvSpPr>
        <p:spPr>
          <a:xfrm>
            <a:off x="5651881" y="1460041"/>
            <a:ext cx="2982919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Very 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early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: rdv 1 à 6</a:t>
            </a:r>
          </a:p>
          <a:p>
            <a:pPr algn="just"/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Early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: rdv 7 à 12</a:t>
            </a:r>
          </a:p>
          <a:p>
            <a:pPr algn="just"/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Mid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: rdv 13 à 16</a:t>
            </a:r>
          </a:p>
          <a:p>
            <a:pPr algn="just"/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Late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: rdv &gt;17</a:t>
            </a:r>
          </a:p>
          <a:p>
            <a:pPr algn="just"/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pPr algn="just"/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pPr algn="just"/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2" name="Picture 2" descr="Tinder Newsroom - Ressources">
            <a:extLst>
              <a:ext uri="{FF2B5EF4-FFF2-40B4-BE49-F238E27FC236}">
                <a16:creationId xmlns:a16="http://schemas.microsoft.com/office/drawing/2014/main" id="{449F33C8-AA0B-3AC1-A24B-F49AD2328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7454"/>
            <a:ext cx="1554983" cy="966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51E5AD8-31FB-295F-DEBD-90162F693B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490" y="1078110"/>
            <a:ext cx="4329158" cy="3295746"/>
          </a:xfrm>
          <a:prstGeom prst="rect">
            <a:avLst/>
          </a:prstGeom>
        </p:spPr>
      </p:pic>
      <p:sp>
        <p:nvSpPr>
          <p:cNvPr id="9" name="Ellipse 8">
            <a:extLst>
              <a:ext uri="{FF2B5EF4-FFF2-40B4-BE49-F238E27FC236}">
                <a16:creationId xmlns:a16="http://schemas.microsoft.com/office/drawing/2014/main" id="{EE930898-EE4A-2A1E-40F8-F0C2CD404924}"/>
              </a:ext>
            </a:extLst>
          </p:cNvPr>
          <p:cNvSpPr/>
          <p:nvPr/>
        </p:nvSpPr>
        <p:spPr>
          <a:xfrm>
            <a:off x="777490" y="965599"/>
            <a:ext cx="2167310" cy="198640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Google Shape;72;p15">
            <a:extLst>
              <a:ext uri="{FF2B5EF4-FFF2-40B4-BE49-F238E27FC236}">
                <a16:creationId xmlns:a16="http://schemas.microsoft.com/office/drawing/2014/main" id="{408BFECB-100B-AFDA-8E73-839A38D5FD5E}"/>
              </a:ext>
            </a:extLst>
          </p:cNvPr>
          <p:cNvSpPr/>
          <p:nvPr/>
        </p:nvSpPr>
        <p:spPr>
          <a:xfrm rot="21244006" flipV="1">
            <a:off x="5388861" y="2773946"/>
            <a:ext cx="261199" cy="48779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69;p15">
            <a:extLst>
              <a:ext uri="{FF2B5EF4-FFF2-40B4-BE49-F238E27FC236}">
                <a16:creationId xmlns:a16="http://schemas.microsoft.com/office/drawing/2014/main" id="{7575AADD-8F79-44A2-FA81-2188D4E9D430}"/>
              </a:ext>
            </a:extLst>
          </p:cNvPr>
          <p:cNvSpPr txBox="1">
            <a:spLocks/>
          </p:cNvSpPr>
          <p:nvPr/>
        </p:nvSpPr>
        <p:spPr>
          <a:xfrm>
            <a:off x="5651881" y="2587539"/>
            <a:ext cx="2982919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Les meilleurs taux de match sont observés lorsque les rendez-vous ont lieu très tôt dans la session.</a:t>
            </a:r>
          </a:p>
          <a:p>
            <a:pPr algn="just"/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pPr algn="just"/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9585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Tinder owner bets on 'summer of love' to lift revenue as curbs ease |  Reuters">
            <a:extLst>
              <a:ext uri="{FF2B5EF4-FFF2-40B4-BE49-F238E27FC236}">
                <a16:creationId xmlns:a16="http://schemas.microsoft.com/office/drawing/2014/main" id="{1BD294FB-8583-EF7E-B155-6E28E7B507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05" y="-921601"/>
            <a:ext cx="9331200" cy="6218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Synthèse des recommandations principales</a:t>
            </a:r>
          </a:p>
        </p:txBody>
      </p:sp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985351" y="861107"/>
            <a:ext cx="7944236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Constituer des groupes par tranches d’âge homogènes.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0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Placer les rencontres clés en début de session.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0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Mettre en avant les centres d’intérêt compatibles.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0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0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Segmenter par métier ou centres d’intérêt.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0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Réduire la fatigue grâce à un design de rotation équilibré.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0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Valoriser la confiance en soi à travers les profils.</a:t>
            </a:r>
            <a:br>
              <a:rPr lang="fr-FR" sz="10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72;p15">
            <a:extLst>
              <a:ext uri="{FF2B5EF4-FFF2-40B4-BE49-F238E27FC236}">
                <a16:creationId xmlns:a16="http://schemas.microsoft.com/office/drawing/2014/main" id="{0A92A33E-5C0D-9471-660D-EEF056D7FEEB}"/>
              </a:ext>
            </a:extLst>
          </p:cNvPr>
          <p:cNvSpPr/>
          <p:nvPr/>
        </p:nvSpPr>
        <p:spPr>
          <a:xfrm rot="21244006">
            <a:off x="646892" y="1271130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651088" y="1824336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72;p15">
            <a:extLst>
              <a:ext uri="{FF2B5EF4-FFF2-40B4-BE49-F238E27FC236}">
                <a16:creationId xmlns:a16="http://schemas.microsoft.com/office/drawing/2014/main" id="{081DBEE9-5635-AACD-58A1-43551D1D74EC}"/>
              </a:ext>
            </a:extLst>
          </p:cNvPr>
          <p:cNvSpPr/>
          <p:nvPr/>
        </p:nvSpPr>
        <p:spPr>
          <a:xfrm rot="21244006">
            <a:off x="646892" y="2399853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72;p15">
            <a:extLst>
              <a:ext uri="{FF2B5EF4-FFF2-40B4-BE49-F238E27FC236}">
                <a16:creationId xmlns:a16="http://schemas.microsoft.com/office/drawing/2014/main" id="{4A90B45F-BA0F-4387-91B1-C2764DAA586A}"/>
              </a:ext>
            </a:extLst>
          </p:cNvPr>
          <p:cNvSpPr/>
          <p:nvPr/>
        </p:nvSpPr>
        <p:spPr>
          <a:xfrm rot="21244006">
            <a:off x="646891" y="2919409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9</a:t>
            </a:fld>
            <a:endParaRPr lang="fr-FR" sz="1600" b="1" dirty="0"/>
          </a:p>
        </p:txBody>
      </p:sp>
      <p:sp>
        <p:nvSpPr>
          <p:cNvPr id="3" name="Google Shape;72;p15">
            <a:extLst>
              <a:ext uri="{FF2B5EF4-FFF2-40B4-BE49-F238E27FC236}">
                <a16:creationId xmlns:a16="http://schemas.microsoft.com/office/drawing/2014/main" id="{8964D3B4-17A9-B594-18E8-B2727928ABF0}"/>
              </a:ext>
            </a:extLst>
          </p:cNvPr>
          <p:cNvSpPr/>
          <p:nvPr/>
        </p:nvSpPr>
        <p:spPr>
          <a:xfrm rot="21244006">
            <a:off x="646891" y="3504893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Picture 2" descr="Tinder Newsroom - Ressources">
            <a:extLst>
              <a:ext uri="{FF2B5EF4-FFF2-40B4-BE49-F238E27FC236}">
                <a16:creationId xmlns:a16="http://schemas.microsoft.com/office/drawing/2014/main" id="{01F70574-0F15-B5BE-906A-E7B4A2DA3D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7454"/>
            <a:ext cx="1554983" cy="966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72;p15">
            <a:extLst>
              <a:ext uri="{FF2B5EF4-FFF2-40B4-BE49-F238E27FC236}">
                <a16:creationId xmlns:a16="http://schemas.microsoft.com/office/drawing/2014/main" id="{6ED69904-A3AC-483E-94BE-27691C4AF81C}"/>
              </a:ext>
            </a:extLst>
          </p:cNvPr>
          <p:cNvSpPr/>
          <p:nvPr/>
        </p:nvSpPr>
        <p:spPr>
          <a:xfrm rot="21244006">
            <a:off x="646891" y="4094614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9242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DBD0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>
            <a:spLocks noGrp="1"/>
          </p:cNvSpPr>
          <p:nvPr>
            <p:ph type="ctrTitle" idx="4294967295"/>
          </p:nvPr>
        </p:nvSpPr>
        <p:spPr>
          <a:xfrm>
            <a:off x="1235600" y="1742168"/>
            <a:ext cx="5315100" cy="6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56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Merci !</a:t>
            </a:r>
            <a:endParaRPr sz="56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8625" y="3006625"/>
            <a:ext cx="4599299" cy="213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3E3B375-4397-CD72-E602-C59A61DC41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10</a:t>
            </a:fld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563</Words>
  <Application>Microsoft Office PowerPoint</Application>
  <PresentationFormat>Affichage à l'écran (16:9)</PresentationFormat>
  <Paragraphs>68</Paragraphs>
  <Slides>10</Slides>
  <Notes>10</Notes>
  <HiddenSlides>1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Inter SemiBold</vt:lpstr>
      <vt:lpstr>Inter</vt:lpstr>
      <vt:lpstr>Arial</vt:lpstr>
      <vt:lpstr>Inter Medium</vt:lpstr>
      <vt:lpstr>Simple Light</vt:lpstr>
      <vt:lpstr>BLOC 2 – Analyse statistique Tinder project</vt:lpstr>
      <vt:lpstr>Objectifs pédagogiques du projet </vt:lpstr>
      <vt:lpstr>Comprendre ce qui crée l’alchimie entre deux profils</vt:lpstr>
      <vt:lpstr>Base de données riche pour décrypter l’affinité </vt:lpstr>
      <vt:lpstr>Analyse de l’impact de l’écart d’âge sur les matchs</vt:lpstr>
      <vt:lpstr>Lien entre auto-évaluation et retours positifs</vt:lpstr>
      <vt:lpstr>Rôle des hobbies partagés dans le matching</vt:lpstr>
      <vt:lpstr>Effet de la fatigue au fil des rendez-vous</vt:lpstr>
      <vt:lpstr>Synthèse des recommandations principales</vt:lpstr>
      <vt:lpstr>Merci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Loic Valentini</dc:creator>
  <cp:lastModifiedBy>Loic Valentini</cp:lastModifiedBy>
  <cp:revision>3</cp:revision>
  <dcterms:modified xsi:type="dcterms:W3CDTF">2025-07-10T14:32:26Z</dcterms:modified>
</cp:coreProperties>
</file>