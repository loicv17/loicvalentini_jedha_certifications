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8" r:id="rId3"/>
    <p:sldId id="263" r:id="rId4"/>
    <p:sldId id="264" r:id="rId5"/>
    <p:sldId id="266" r:id="rId6"/>
    <p:sldId id="267" r:id="rId7"/>
    <p:sldId id="268" r:id="rId8"/>
    <p:sldId id="269" r:id="rId9"/>
    <p:sldId id="270" r:id="rId10"/>
    <p:sldId id="271" r:id="rId11"/>
    <p:sldId id="262" r:id="rId12"/>
  </p:sldIdLst>
  <p:sldSz cx="9144000" cy="5143500" type="screen16x9"/>
  <p:notesSz cx="6858000" cy="9144000"/>
  <p:embeddedFontLst>
    <p:embeddedFont>
      <p:font typeface="Inter" panose="020B0604020202020204" charset="0"/>
      <p:regular r:id="rId14"/>
      <p:bold r:id="rId15"/>
      <p:italic r:id="rId16"/>
      <p:boldItalic r:id="rId17"/>
    </p:embeddedFont>
    <p:embeddedFont>
      <p:font typeface="Inter Medium" panose="020B0604020202020204" charset="0"/>
      <p:regular r:id="rId18"/>
      <p:bold r:id="rId19"/>
      <p:italic r:id="rId20"/>
      <p:boldItalic r:id="rId21"/>
    </p:embeddedFont>
    <p:embeddedFont>
      <p:font typeface="Inter SemiBold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7af7a6a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7af7a6af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56175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22135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06795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08001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21057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85697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19878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45036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77ed9f117a_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77ed9f117a_2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DAD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735474" y="2062825"/>
            <a:ext cx="8012525" cy="61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2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BLOC 1 – Infrastructure données</a:t>
            </a:r>
            <a:br>
              <a:rPr lang="fr" sz="32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</a:br>
            <a:r>
              <a:rPr lang="fr" sz="3200" i="1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Kayak project</a:t>
            </a:r>
            <a:endParaRPr sz="3200" i="1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5550" y="2595750"/>
            <a:ext cx="3818450" cy="254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0550" y="787375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202664" y="4356125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dirty="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CDSD - Loic Valentini – Juillet 2025</a:t>
            </a:r>
            <a:endParaRPr sz="1800" dirty="0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7921B91B-F36A-9DD0-A880-2FD685970C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1</a:t>
            </a:fld>
            <a:endParaRPr lang="fr-FR" sz="1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Objectifs pédagogiques du projet 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897364" y="1202551"/>
            <a:ext cx="7944236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Concevoir une architecture de données complète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, de la collecte à la visualisation, en environnement cloud.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Automatiser la collecte de données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issues d’API (géographiques et météorologiques) et de sites web (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scraping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hôtelier).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Stocker et structurer les données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dans un </a:t>
            </a:r>
            <a:r>
              <a:rPr lang="fr-FR" sz="1400" i="1" dirty="0">
                <a:latin typeface="Inter Medium" panose="020B0604020202020204" charset="0"/>
                <a:ea typeface="Inter Medium" panose="020B0604020202020204" charset="0"/>
              </a:rPr>
              <a:t>data </a:t>
            </a:r>
            <a:r>
              <a:rPr lang="fr-FR" sz="1400" i="1" dirty="0" err="1">
                <a:latin typeface="Inter Medium" panose="020B0604020202020204" charset="0"/>
                <a:ea typeface="Inter Medium" panose="020B0604020202020204" charset="0"/>
              </a:rPr>
              <a:t>lake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(AWS S3) puis un entrepôt relationnel (PostgreSQL).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Nettoyer, enrichir et analyser les données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à l’aide de Python (pandas, 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NumPy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) pour en tirer des insights décisionnels.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Développer un pipeline reproductible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permettant une analyse scalable sur d'autres villes ou types de services (PostgreSQL, RDS)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45031"/>
            <a:ext cx="9144000" cy="39839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72;p15">
            <a:extLst>
              <a:ext uri="{FF2B5EF4-FFF2-40B4-BE49-F238E27FC236}">
                <a16:creationId xmlns:a16="http://schemas.microsoft.com/office/drawing/2014/main" id="{9B66071D-AD28-9136-454D-9B33ECE99FA8}"/>
              </a:ext>
            </a:extLst>
          </p:cNvPr>
          <p:cNvSpPr/>
          <p:nvPr/>
        </p:nvSpPr>
        <p:spPr>
          <a:xfrm rot="21244006">
            <a:off x="559852" y="1408979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72;p15">
            <a:extLst>
              <a:ext uri="{FF2B5EF4-FFF2-40B4-BE49-F238E27FC236}">
                <a16:creationId xmlns:a16="http://schemas.microsoft.com/office/drawing/2014/main" id="{0A92A33E-5C0D-9471-660D-EEF056D7FEEB}"/>
              </a:ext>
            </a:extLst>
          </p:cNvPr>
          <p:cNvSpPr/>
          <p:nvPr/>
        </p:nvSpPr>
        <p:spPr>
          <a:xfrm rot="21244006">
            <a:off x="566301" y="2029379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559102" y="2685394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72;p15">
            <a:extLst>
              <a:ext uri="{FF2B5EF4-FFF2-40B4-BE49-F238E27FC236}">
                <a16:creationId xmlns:a16="http://schemas.microsoft.com/office/drawing/2014/main" id="{081DBEE9-5635-AACD-58A1-43551D1D74EC}"/>
              </a:ext>
            </a:extLst>
          </p:cNvPr>
          <p:cNvSpPr/>
          <p:nvPr/>
        </p:nvSpPr>
        <p:spPr>
          <a:xfrm rot="21244006">
            <a:off x="559102" y="3304659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72;p15">
            <a:extLst>
              <a:ext uri="{FF2B5EF4-FFF2-40B4-BE49-F238E27FC236}">
                <a16:creationId xmlns:a16="http://schemas.microsoft.com/office/drawing/2014/main" id="{4A90B45F-BA0F-4387-91B1-C2764DAA586A}"/>
              </a:ext>
            </a:extLst>
          </p:cNvPr>
          <p:cNvSpPr/>
          <p:nvPr/>
        </p:nvSpPr>
        <p:spPr>
          <a:xfrm rot="21244006">
            <a:off x="566301" y="3961809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37854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2</a:t>
            </a:fld>
            <a:endParaRPr lang="fr-FR" sz="1600" b="1" dirty="0"/>
          </a:p>
        </p:txBody>
      </p:sp>
      <p:pic>
        <p:nvPicPr>
          <p:cNvPr id="1029" name="Picture 5">
            <a:extLst>
              <a:ext uri="{FF2B5EF4-FFF2-40B4-BE49-F238E27FC236}">
                <a16:creationId xmlns:a16="http://schemas.microsoft.com/office/drawing/2014/main" id="{01156D19-051B-B19C-871A-BA3068B7C2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4745031"/>
            <a:ext cx="2014295" cy="386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Améliorer la stratégie d’implantation hôtelière via l’analyse de données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897364" y="1202551"/>
            <a:ext cx="7944236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600" dirty="0">
                <a:latin typeface="Inter Medium" panose="020B0604020202020204" charset="0"/>
                <a:ea typeface="Inter Medium" panose="020B0604020202020204" charset="0"/>
              </a:rPr>
              <a:t>Forte concurrence dans le secteur hôtelier.</a:t>
            </a: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600" dirty="0">
                <a:latin typeface="Inter Medium" panose="020B0604020202020204" charset="0"/>
                <a:ea typeface="Inter Medium" panose="020B0604020202020204" charset="0"/>
              </a:rPr>
              <a:t>Besoin de décisions data-</a:t>
            </a:r>
            <a:r>
              <a:rPr lang="fr-FR" sz="1600" dirty="0" err="1">
                <a:latin typeface="Inter Medium" panose="020B0604020202020204" charset="0"/>
                <a:ea typeface="Inter Medium" panose="020B0604020202020204" charset="0"/>
              </a:rPr>
              <a:t>driven</a:t>
            </a:r>
            <a:r>
              <a:rPr lang="fr-FR" sz="1600" dirty="0">
                <a:latin typeface="Inter Medium" panose="020B0604020202020204" charset="0"/>
                <a:ea typeface="Inter Medium" panose="020B0604020202020204" charset="0"/>
              </a:rPr>
              <a:t> pour choisir des emplacements rentables.</a:t>
            </a: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600" dirty="0">
                <a:latin typeface="Inter Medium" panose="020B0604020202020204" charset="0"/>
                <a:ea typeface="Inter Medium" panose="020B0604020202020204" charset="0"/>
              </a:rPr>
              <a:t>Nécessité d’un système automatisé combinant météo, géographie et offres existantes.</a:t>
            </a: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600" dirty="0">
                <a:latin typeface="Inter Medium" panose="020B0604020202020204" charset="0"/>
                <a:ea typeface="Inter Medium" panose="020B0604020202020204" charset="0"/>
              </a:rPr>
              <a:t>Volonté de fiabiliser les décisions en croisant plusieurs sources de données hétérogènes.</a:t>
            </a: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72;p15">
            <a:extLst>
              <a:ext uri="{FF2B5EF4-FFF2-40B4-BE49-F238E27FC236}">
                <a16:creationId xmlns:a16="http://schemas.microsoft.com/office/drawing/2014/main" id="{0A92A33E-5C0D-9471-660D-EEF056D7FEEB}"/>
              </a:ext>
            </a:extLst>
          </p:cNvPr>
          <p:cNvSpPr/>
          <p:nvPr/>
        </p:nvSpPr>
        <p:spPr>
          <a:xfrm rot="21244006">
            <a:off x="566301" y="1865592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566301" y="2377378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72;p15">
            <a:extLst>
              <a:ext uri="{FF2B5EF4-FFF2-40B4-BE49-F238E27FC236}">
                <a16:creationId xmlns:a16="http://schemas.microsoft.com/office/drawing/2014/main" id="{081DBEE9-5635-AACD-58A1-43551D1D74EC}"/>
              </a:ext>
            </a:extLst>
          </p:cNvPr>
          <p:cNvSpPr/>
          <p:nvPr/>
        </p:nvSpPr>
        <p:spPr>
          <a:xfrm rot="21244006">
            <a:off x="566300" y="2852415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72;p15">
            <a:extLst>
              <a:ext uri="{FF2B5EF4-FFF2-40B4-BE49-F238E27FC236}">
                <a16:creationId xmlns:a16="http://schemas.microsoft.com/office/drawing/2014/main" id="{4A90B45F-BA0F-4387-91B1-C2764DAA586A}"/>
              </a:ext>
            </a:extLst>
          </p:cNvPr>
          <p:cNvSpPr/>
          <p:nvPr/>
        </p:nvSpPr>
        <p:spPr>
          <a:xfrm rot="21244006">
            <a:off x="566300" y="3570519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3</a:t>
            </a:fld>
            <a:endParaRPr lang="fr-FR" sz="1600" b="1" dirty="0"/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0AB7643A-97FA-6A60-C933-81D84E5F17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4" y="4773277"/>
            <a:ext cx="1929453" cy="370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1548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Architecture technique : pipeline end-to-end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72;p15">
            <a:extLst>
              <a:ext uri="{FF2B5EF4-FFF2-40B4-BE49-F238E27FC236}">
                <a16:creationId xmlns:a16="http://schemas.microsoft.com/office/drawing/2014/main" id="{0A92A33E-5C0D-9471-660D-EEF056D7FEEB}"/>
              </a:ext>
            </a:extLst>
          </p:cNvPr>
          <p:cNvSpPr/>
          <p:nvPr/>
        </p:nvSpPr>
        <p:spPr>
          <a:xfrm rot="21244006">
            <a:off x="632950" y="973199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632950" y="1484985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72;p15">
            <a:extLst>
              <a:ext uri="{FF2B5EF4-FFF2-40B4-BE49-F238E27FC236}">
                <a16:creationId xmlns:a16="http://schemas.microsoft.com/office/drawing/2014/main" id="{081DBEE9-5635-AACD-58A1-43551D1D74EC}"/>
              </a:ext>
            </a:extLst>
          </p:cNvPr>
          <p:cNvSpPr/>
          <p:nvPr/>
        </p:nvSpPr>
        <p:spPr>
          <a:xfrm rot="21244006">
            <a:off x="632946" y="1968192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72;p15">
            <a:extLst>
              <a:ext uri="{FF2B5EF4-FFF2-40B4-BE49-F238E27FC236}">
                <a16:creationId xmlns:a16="http://schemas.microsoft.com/office/drawing/2014/main" id="{4A90B45F-BA0F-4387-91B1-C2764DAA586A}"/>
              </a:ext>
            </a:extLst>
          </p:cNvPr>
          <p:cNvSpPr/>
          <p:nvPr/>
        </p:nvSpPr>
        <p:spPr>
          <a:xfrm rot="21244006">
            <a:off x="632945" y="2691640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4</a:t>
            </a:fld>
            <a:endParaRPr lang="fr-FR" sz="1600" b="1" dirty="0"/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0AB7643A-97FA-6A60-C933-81D84E5F17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4" y="4773277"/>
            <a:ext cx="1929453" cy="370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Google Shape;69;p15">
            <a:extLst>
              <a:ext uri="{FF2B5EF4-FFF2-40B4-BE49-F238E27FC236}">
                <a16:creationId xmlns:a16="http://schemas.microsoft.com/office/drawing/2014/main" id="{A0CD5257-B2C0-BE76-7384-AD5EABBFC35C}"/>
              </a:ext>
            </a:extLst>
          </p:cNvPr>
          <p:cNvSpPr txBox="1">
            <a:spLocks/>
          </p:cNvSpPr>
          <p:nvPr/>
        </p:nvSpPr>
        <p:spPr>
          <a:xfrm>
            <a:off x="897364" y="794026"/>
            <a:ext cx="8030636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600" b="1" dirty="0">
                <a:latin typeface="Inter Medium" panose="020B0604020202020204" charset="0"/>
                <a:ea typeface="Inter Medium" panose="020B0604020202020204" charset="0"/>
              </a:rPr>
              <a:t>Sélection</a:t>
            </a:r>
            <a:r>
              <a:rPr lang="fr-FR" sz="1600" dirty="0">
                <a:latin typeface="Inter Medium" panose="020B0604020202020204" charset="0"/>
                <a:ea typeface="Inter Medium" panose="020B0604020202020204" charset="0"/>
              </a:rPr>
              <a:t> initiale de 35 villes proposées par les équipes métiers.</a:t>
            </a: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600" b="1" dirty="0">
                <a:latin typeface="Inter Medium" panose="020B0604020202020204" charset="0"/>
                <a:ea typeface="Inter Medium" panose="020B0604020202020204" charset="0"/>
              </a:rPr>
              <a:t>Géocodage</a:t>
            </a:r>
            <a:r>
              <a:rPr lang="fr-FR" sz="1600" dirty="0">
                <a:latin typeface="Inter Medium" panose="020B0604020202020204" charset="0"/>
                <a:ea typeface="Inter Medium" panose="020B0604020202020204" charset="0"/>
              </a:rPr>
              <a:t> des villes via </a:t>
            </a:r>
            <a:r>
              <a:rPr lang="fr-FR" sz="1600" dirty="0" err="1">
                <a:latin typeface="Inter Medium" panose="020B0604020202020204" charset="0"/>
                <a:ea typeface="Inter Medium" panose="020B0604020202020204" charset="0"/>
              </a:rPr>
              <a:t>geopy</a:t>
            </a:r>
            <a:r>
              <a:rPr lang="fr-FR" sz="1600" dirty="0">
                <a:latin typeface="Inter Medium" panose="020B0604020202020204" charset="0"/>
                <a:ea typeface="Inter Medium" panose="020B0604020202020204" charset="0"/>
              </a:rPr>
              <a:t> (</a:t>
            </a:r>
            <a:r>
              <a:rPr lang="fr-FR" sz="1600" dirty="0" err="1">
                <a:latin typeface="Inter Medium" panose="020B0604020202020204" charset="0"/>
                <a:ea typeface="Inter Medium" panose="020B0604020202020204" charset="0"/>
              </a:rPr>
              <a:t>Nominatim</a:t>
            </a:r>
            <a:r>
              <a:rPr lang="fr-FR" sz="1600" dirty="0">
                <a:latin typeface="Inter Medium" panose="020B0604020202020204" charset="0"/>
                <a:ea typeface="Inter Medium" panose="020B0604020202020204" charset="0"/>
              </a:rPr>
              <a:t>) pour obtenir les coordonnées GPS.</a:t>
            </a: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600" b="1" dirty="0">
                <a:latin typeface="Inter Medium" panose="020B0604020202020204" charset="0"/>
                <a:ea typeface="Inter Medium" panose="020B0604020202020204" charset="0"/>
              </a:rPr>
              <a:t>Collecte</a:t>
            </a:r>
            <a:r>
              <a:rPr lang="fr-FR" sz="1600" dirty="0">
                <a:latin typeface="Inter Medium" panose="020B0604020202020204" charset="0"/>
                <a:ea typeface="Inter Medium" panose="020B0604020202020204" charset="0"/>
              </a:rPr>
              <a:t> des données climatiques (T°, pluie, vent, ensoleillement…) via l’API </a:t>
            </a:r>
            <a:r>
              <a:rPr lang="fr-FR" sz="1600" dirty="0" err="1">
                <a:latin typeface="Inter Medium" panose="020B0604020202020204" charset="0"/>
                <a:ea typeface="Inter Medium" panose="020B0604020202020204" charset="0"/>
              </a:rPr>
              <a:t>WeatherAPI</a:t>
            </a:r>
            <a:r>
              <a:rPr lang="fr-FR" sz="1600" dirty="0">
                <a:latin typeface="Inter Medium" panose="020B0604020202020204" charset="0"/>
                <a:ea typeface="Inter Medium" panose="020B0604020202020204" charset="0"/>
              </a:rPr>
              <a:t>.</a:t>
            </a: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600" b="1" dirty="0">
                <a:latin typeface="Inter Medium" panose="020B0604020202020204" charset="0"/>
                <a:ea typeface="Inter Medium" panose="020B0604020202020204" charset="0"/>
              </a:rPr>
              <a:t>Filtrage</a:t>
            </a:r>
            <a:r>
              <a:rPr lang="fr-FR" sz="1600" dirty="0">
                <a:latin typeface="Inter Medium" panose="020B0604020202020204" charset="0"/>
                <a:ea typeface="Inter Medium" panose="020B0604020202020204" charset="0"/>
              </a:rPr>
              <a:t> des 5 villes aux conditions météo les plus favorables.</a:t>
            </a:r>
          </a:p>
          <a:p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sz="1600" b="1" dirty="0" err="1">
                <a:latin typeface="Inter Medium" panose="020B0604020202020204" charset="0"/>
                <a:ea typeface="Inter Medium" panose="020B0604020202020204" charset="0"/>
              </a:rPr>
              <a:t>Scraping</a:t>
            </a:r>
            <a:r>
              <a:rPr lang="fr-FR" sz="1600" dirty="0">
                <a:latin typeface="Inter Medium" panose="020B0604020202020204" charset="0"/>
                <a:ea typeface="Inter Medium" panose="020B0604020202020204" charset="0"/>
              </a:rPr>
              <a:t> ciblé sur booking.com pour récupérer les données hôtelières (prix, notes…) via </a:t>
            </a:r>
            <a:r>
              <a:rPr lang="fr-FR" sz="1600" dirty="0" err="1">
                <a:latin typeface="Inter Medium" panose="020B0604020202020204" charset="0"/>
                <a:ea typeface="Inter Medium" panose="020B0604020202020204" charset="0"/>
              </a:rPr>
              <a:t>requests</a:t>
            </a:r>
            <a:r>
              <a:rPr lang="fr-FR" sz="1600" dirty="0">
                <a:latin typeface="Inter Medium" panose="020B0604020202020204" charset="0"/>
                <a:ea typeface="Inter Medium" panose="020B0604020202020204" charset="0"/>
              </a:rPr>
              <a:t>.</a:t>
            </a:r>
          </a:p>
          <a:p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sz="1600" b="1" dirty="0">
                <a:latin typeface="Inter Medium" panose="020B0604020202020204" charset="0"/>
                <a:ea typeface="Inter Medium" panose="020B0604020202020204" charset="0"/>
              </a:rPr>
              <a:t>Nettoyage, traitement, agrégation et visualisation </a:t>
            </a:r>
            <a:r>
              <a:rPr lang="fr-FR" sz="1600" dirty="0">
                <a:latin typeface="Inter Medium" panose="020B0604020202020204" charset="0"/>
                <a:ea typeface="Inter Medium" panose="020B0604020202020204" charset="0"/>
              </a:rPr>
              <a:t>sous notebook </a:t>
            </a:r>
            <a:r>
              <a:rPr lang="fr-FR" sz="1600" dirty="0" err="1">
                <a:latin typeface="Inter Medium" panose="020B0604020202020204" charset="0"/>
                <a:ea typeface="Inter Medium" panose="020B0604020202020204" charset="0"/>
              </a:rPr>
              <a:t>Jupyter</a:t>
            </a:r>
            <a:r>
              <a:rPr lang="fr-FR" sz="1600" dirty="0">
                <a:latin typeface="Inter Medium" panose="020B0604020202020204" charset="0"/>
                <a:ea typeface="Inter Medium" panose="020B0604020202020204" charset="0"/>
              </a:rPr>
              <a:t>.</a:t>
            </a:r>
          </a:p>
          <a:p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sz="1600" b="1" dirty="0">
                <a:latin typeface="Inter Medium" panose="020B0604020202020204" charset="0"/>
                <a:ea typeface="Inter Medium" panose="020B0604020202020204" charset="0"/>
              </a:rPr>
              <a:t>Stockage et mise à disposition </a:t>
            </a:r>
            <a:r>
              <a:rPr lang="fr-FR" sz="1600" dirty="0">
                <a:latin typeface="Inter Medium" panose="020B0604020202020204" charset="0"/>
                <a:ea typeface="Inter Medium" panose="020B0604020202020204" charset="0"/>
              </a:rPr>
              <a:t>avec AWS S3, et base PostgreSQL sur AWS RDS</a:t>
            </a: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sp>
        <p:nvSpPr>
          <p:cNvPr id="15" name="Google Shape;72;p15">
            <a:extLst>
              <a:ext uri="{FF2B5EF4-FFF2-40B4-BE49-F238E27FC236}">
                <a16:creationId xmlns:a16="http://schemas.microsoft.com/office/drawing/2014/main" id="{4DFB8A2C-6FDA-1008-0BBD-23B159B9A344}"/>
              </a:ext>
            </a:extLst>
          </p:cNvPr>
          <p:cNvSpPr/>
          <p:nvPr/>
        </p:nvSpPr>
        <p:spPr>
          <a:xfrm rot="21244006">
            <a:off x="632945" y="3201087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72;p15">
            <a:extLst>
              <a:ext uri="{FF2B5EF4-FFF2-40B4-BE49-F238E27FC236}">
                <a16:creationId xmlns:a16="http://schemas.microsoft.com/office/drawing/2014/main" id="{BD969769-51B9-38AC-02CC-1BB9D99155C1}"/>
              </a:ext>
            </a:extLst>
          </p:cNvPr>
          <p:cNvSpPr/>
          <p:nvPr/>
        </p:nvSpPr>
        <p:spPr>
          <a:xfrm rot="21244006">
            <a:off x="632944" y="3912969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72;p15">
            <a:extLst>
              <a:ext uri="{FF2B5EF4-FFF2-40B4-BE49-F238E27FC236}">
                <a16:creationId xmlns:a16="http://schemas.microsoft.com/office/drawing/2014/main" id="{D64255EC-C225-B162-F9D9-64FC69E2720C}"/>
              </a:ext>
            </a:extLst>
          </p:cNvPr>
          <p:cNvSpPr/>
          <p:nvPr/>
        </p:nvSpPr>
        <p:spPr>
          <a:xfrm rot="21244006">
            <a:off x="632944" y="4424093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3427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Intervention des équipes business dans le projet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72;p15">
            <a:extLst>
              <a:ext uri="{FF2B5EF4-FFF2-40B4-BE49-F238E27FC236}">
                <a16:creationId xmlns:a16="http://schemas.microsoft.com/office/drawing/2014/main" id="{0A92A33E-5C0D-9471-660D-EEF056D7FEEB}"/>
              </a:ext>
            </a:extLst>
          </p:cNvPr>
          <p:cNvSpPr/>
          <p:nvPr/>
        </p:nvSpPr>
        <p:spPr>
          <a:xfrm rot="21244006">
            <a:off x="712035" y="1511655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4376911" y="1511654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5</a:t>
            </a:fld>
            <a:endParaRPr lang="fr-FR" sz="1600" b="1" dirty="0"/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0AB7643A-97FA-6A60-C933-81D84E5F17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4" y="4773277"/>
            <a:ext cx="1929453" cy="370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Google Shape;69;p15">
            <a:extLst>
              <a:ext uri="{FF2B5EF4-FFF2-40B4-BE49-F238E27FC236}">
                <a16:creationId xmlns:a16="http://schemas.microsoft.com/office/drawing/2014/main" id="{A0CD5257-B2C0-BE76-7384-AD5EABBFC35C}"/>
              </a:ext>
            </a:extLst>
          </p:cNvPr>
          <p:cNvSpPr txBox="1">
            <a:spLocks/>
          </p:cNvSpPr>
          <p:nvPr/>
        </p:nvSpPr>
        <p:spPr>
          <a:xfrm>
            <a:off x="974950" y="1305226"/>
            <a:ext cx="8030636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600" b="1" dirty="0">
                <a:latin typeface="Inter Medium" panose="020B0604020202020204" charset="0"/>
                <a:ea typeface="Inter Medium" panose="020B0604020202020204" charset="0"/>
              </a:rPr>
              <a:t>Sélection</a:t>
            </a:r>
            <a:r>
              <a:rPr lang="fr-FR" sz="1600" dirty="0">
                <a:latin typeface="Inter Medium" panose="020B0604020202020204" charset="0"/>
                <a:ea typeface="Inter Medium" panose="020B0604020202020204" charset="0"/>
              </a:rPr>
              <a:t> initiale de 35 villes                 </a:t>
            </a:r>
            <a:r>
              <a:rPr lang="fr-FR" sz="1600" b="1" dirty="0">
                <a:latin typeface="Inter Medium" panose="020B0604020202020204" charset="0"/>
                <a:ea typeface="Inter Medium" panose="020B0604020202020204" charset="0"/>
              </a:rPr>
              <a:t>Critères de sélection</a:t>
            </a: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  <a:p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383F991-AB9B-D002-35B8-09FDDA980A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2234" y="1838326"/>
            <a:ext cx="2033749" cy="2535407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FB5A8DA4-46F3-AD8F-0C35-17F128EF0571}"/>
              </a:ext>
            </a:extLst>
          </p:cNvPr>
          <p:cNvSpPr txBox="1"/>
          <p:nvPr/>
        </p:nvSpPr>
        <p:spPr>
          <a:xfrm>
            <a:off x="4507510" y="1846022"/>
            <a:ext cx="386609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  <a:p>
            <a:pPr marL="285750" indent="-285750" algn="just">
              <a:buFontTx/>
              <a:buChar char="-"/>
            </a:pPr>
            <a:r>
              <a:rPr lang="fr-FR" dirty="0">
                <a:latin typeface="Inter Medium" panose="020B0604020202020204" charset="0"/>
                <a:ea typeface="Inter Medium" panose="020B0604020202020204" charset="0"/>
              </a:rPr>
              <a:t>Définition des critères pour obtenir le </a:t>
            </a:r>
            <a:r>
              <a:rPr lang="fr-FR" b="1" dirty="0">
                <a:latin typeface="Inter Medium" panose="020B0604020202020204" charset="0"/>
                <a:ea typeface="Inter Medium" panose="020B0604020202020204" charset="0"/>
              </a:rPr>
              <a:t>TOP 5 des villes </a:t>
            </a:r>
            <a:r>
              <a:rPr lang="fr-FR" dirty="0">
                <a:latin typeface="Inter Medium" panose="020B0604020202020204" charset="0"/>
                <a:ea typeface="Inter Medium" panose="020B0604020202020204" charset="0"/>
              </a:rPr>
              <a:t>à retenir (pluie, ensoleillement, températures)</a:t>
            </a:r>
          </a:p>
          <a:p>
            <a:pPr algn="just"/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  <a:p>
            <a:pPr marL="285750" indent="-285750" algn="just">
              <a:buFontTx/>
              <a:buChar char="-"/>
            </a:pPr>
            <a:r>
              <a:rPr lang="fr-FR" dirty="0">
                <a:latin typeface="Inter Medium" panose="020B0604020202020204" charset="0"/>
                <a:ea typeface="Inter Medium" panose="020B0604020202020204" charset="0"/>
              </a:rPr>
              <a:t>Définition des critères pour obtenir le </a:t>
            </a:r>
            <a:r>
              <a:rPr lang="fr-FR" b="1" dirty="0">
                <a:latin typeface="Inter Medium" panose="020B0604020202020204" charset="0"/>
                <a:ea typeface="Inter Medium" panose="020B0604020202020204" charset="0"/>
              </a:rPr>
              <a:t>TOP 20 des hôtels </a:t>
            </a:r>
            <a:r>
              <a:rPr lang="fr-FR" dirty="0">
                <a:latin typeface="Inter Medium" panose="020B0604020202020204" charset="0"/>
                <a:ea typeface="Inter Medium" panose="020B0604020202020204" charset="0"/>
              </a:rPr>
              <a:t>à conserver (notes)</a:t>
            </a:r>
          </a:p>
          <a:p>
            <a:pPr marL="285750" indent="-285750">
              <a:buFontTx/>
              <a:buChar char="-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21559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Résultats – sélection des villes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6</a:t>
            </a:fld>
            <a:endParaRPr lang="fr-FR" sz="1600" b="1" dirty="0"/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0AB7643A-97FA-6A60-C933-81D84E5F17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4" y="4773277"/>
            <a:ext cx="1929453" cy="370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217CB2AC-7811-6A45-FFD1-568D1D50CB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200" y="858150"/>
            <a:ext cx="4246312" cy="339705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FB1BC98D-455D-5678-1DF1-8D1B7D151D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3512" y="888300"/>
            <a:ext cx="4218245" cy="3374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774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Résultats – visualisation des hôtels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7</a:t>
            </a:fld>
            <a:endParaRPr lang="fr-FR" sz="1600" b="1" dirty="0"/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0AB7643A-97FA-6A60-C933-81D84E5F17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4" y="4773277"/>
            <a:ext cx="1929453" cy="370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0A051BE4-C4D2-F426-D188-A64DB5FBF8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835" y="880604"/>
            <a:ext cx="4096677" cy="3277342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761AD8A1-06BA-5AFC-DCB7-5485FFED59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880604"/>
            <a:ext cx="4032000" cy="322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100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Résultats – disponibilité des données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8</a:t>
            </a:fld>
            <a:endParaRPr lang="fr-FR" sz="1600" b="1" dirty="0"/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0AB7643A-97FA-6A60-C933-81D84E5F17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4" y="4773277"/>
            <a:ext cx="1929453" cy="370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7D6314C-D3C3-0349-18B4-BD9DD02A0D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410" y="838438"/>
            <a:ext cx="6623789" cy="3466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448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Une aide concrète à la décision stratégique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897364" y="1202551"/>
            <a:ext cx="7944236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600" dirty="0">
                <a:latin typeface="Inter Medium" panose="020B0604020202020204" charset="0"/>
                <a:ea typeface="Inter Medium" panose="020B0604020202020204" charset="0"/>
              </a:rPr>
              <a:t>Priorisation objective des villes à fort potentiel grâce à des critères combinés</a:t>
            </a: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600" dirty="0">
                <a:latin typeface="Inter Medium" panose="020B0604020202020204" charset="0"/>
                <a:ea typeface="Inter Medium" panose="020B0604020202020204" charset="0"/>
              </a:rPr>
              <a:t>Réduction du risque d’implantation en basant les choix sur des données fiables plutôt que sur l’intuition seule</a:t>
            </a: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600" dirty="0">
                <a:latin typeface="Inter Medium" panose="020B0604020202020204" charset="0"/>
                <a:ea typeface="Inter Medium" panose="020B0604020202020204" charset="0"/>
              </a:rPr>
              <a:t>Optimisation du plan d’expansion via une analyse comparative automatisée et reproductible</a:t>
            </a: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600" dirty="0">
                <a:latin typeface="Inter Medium" panose="020B0604020202020204" charset="0"/>
                <a:ea typeface="Inter Medium" panose="020B0604020202020204" charset="0"/>
              </a:rPr>
              <a:t>Modèle duplicable pour d’autres zones géographiques, d’autres segments, d’autres critères de décision…</a:t>
            </a: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72;p15">
            <a:extLst>
              <a:ext uri="{FF2B5EF4-FFF2-40B4-BE49-F238E27FC236}">
                <a16:creationId xmlns:a16="http://schemas.microsoft.com/office/drawing/2014/main" id="{0A92A33E-5C0D-9471-660D-EEF056D7FEEB}"/>
              </a:ext>
            </a:extLst>
          </p:cNvPr>
          <p:cNvSpPr/>
          <p:nvPr/>
        </p:nvSpPr>
        <p:spPr>
          <a:xfrm rot="21244006">
            <a:off x="566301" y="1639119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566300" y="2171060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72;p15">
            <a:extLst>
              <a:ext uri="{FF2B5EF4-FFF2-40B4-BE49-F238E27FC236}">
                <a16:creationId xmlns:a16="http://schemas.microsoft.com/office/drawing/2014/main" id="{081DBEE9-5635-AACD-58A1-43551D1D74EC}"/>
              </a:ext>
            </a:extLst>
          </p:cNvPr>
          <p:cNvSpPr/>
          <p:nvPr/>
        </p:nvSpPr>
        <p:spPr>
          <a:xfrm rot="21244006">
            <a:off x="566300" y="2834042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72;p15">
            <a:extLst>
              <a:ext uri="{FF2B5EF4-FFF2-40B4-BE49-F238E27FC236}">
                <a16:creationId xmlns:a16="http://schemas.microsoft.com/office/drawing/2014/main" id="{4A90B45F-BA0F-4387-91B1-C2764DAA586A}"/>
              </a:ext>
            </a:extLst>
          </p:cNvPr>
          <p:cNvSpPr/>
          <p:nvPr/>
        </p:nvSpPr>
        <p:spPr>
          <a:xfrm rot="21244006">
            <a:off x="566301" y="3584265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9</a:t>
            </a:fld>
            <a:endParaRPr lang="fr-FR" sz="1600" b="1" dirty="0"/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0AB7643A-97FA-6A60-C933-81D84E5F17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4" y="4773277"/>
            <a:ext cx="1929453" cy="370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1999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9D63BE12-ECDA-0C81-1ABC-7D2B31C071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7530164"/>
              </p:ext>
            </p:extLst>
          </p:nvPr>
        </p:nvGraphicFramePr>
        <p:xfrm>
          <a:off x="213600" y="1164978"/>
          <a:ext cx="8807560" cy="3399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200">
                  <a:extLst>
                    <a:ext uri="{9D8B030D-6E8A-4147-A177-3AD203B41FA5}">
                      <a16:colId xmlns:a16="http://schemas.microsoft.com/office/drawing/2014/main" val="3702961653"/>
                    </a:ext>
                  </a:extLst>
                </a:gridCol>
                <a:gridCol w="3434400">
                  <a:extLst>
                    <a:ext uri="{9D8B030D-6E8A-4147-A177-3AD203B41FA5}">
                      <a16:colId xmlns:a16="http://schemas.microsoft.com/office/drawing/2014/main" val="2268628068"/>
                    </a:ext>
                  </a:extLst>
                </a:gridCol>
                <a:gridCol w="741600">
                  <a:extLst>
                    <a:ext uri="{9D8B030D-6E8A-4147-A177-3AD203B41FA5}">
                      <a16:colId xmlns:a16="http://schemas.microsoft.com/office/drawing/2014/main" val="448072340"/>
                    </a:ext>
                  </a:extLst>
                </a:gridCol>
                <a:gridCol w="4204360">
                  <a:extLst>
                    <a:ext uri="{9D8B030D-6E8A-4147-A177-3AD203B41FA5}">
                      <a16:colId xmlns:a16="http://schemas.microsoft.com/office/drawing/2014/main" val="2671405406"/>
                    </a:ext>
                  </a:extLst>
                </a:gridCol>
              </a:tblGrid>
              <a:tr h="849956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b="0" dirty="0">
                          <a:solidFill>
                            <a:schemeClr val="tx1"/>
                          </a:solidFill>
                          <a:latin typeface="Inter Medium" panose="020B0604020202020204" charset="0"/>
                          <a:ea typeface="Inter Medium" panose="020B0604020202020204" charset="0"/>
                        </a:rPr>
                        <a:t>Données météo limitées à quelques jours seulement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b="0" dirty="0">
                        <a:solidFill>
                          <a:schemeClr val="tx1"/>
                        </a:solidFill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b="0" dirty="0">
                          <a:solidFill>
                            <a:schemeClr val="tx1"/>
                          </a:solidFill>
                          <a:latin typeface="Inter Medium" panose="020B0604020202020204" charset="0"/>
                          <a:ea typeface="Inter Medium" panose="020B0604020202020204" charset="0"/>
                        </a:rPr>
                        <a:t>Intégrer des historiques saisonniers pour une analyse plus régulière et robuste (API payante)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9075419"/>
                  </a:ext>
                </a:extLst>
              </a:tr>
              <a:tr h="849956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err="1">
                          <a:solidFill>
                            <a:schemeClr val="tx1"/>
                          </a:solidFill>
                          <a:latin typeface="Inter Medium" panose="020B0604020202020204" charset="0"/>
                          <a:ea typeface="Inter Medium" panose="020B0604020202020204" charset="0"/>
                        </a:rPr>
                        <a:t>Scraping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Inter Medium" panose="020B0604020202020204" charset="0"/>
                          <a:ea typeface="Inter Medium" panose="020B0604020202020204" charset="0"/>
                        </a:rPr>
                        <a:t> fragile par nature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tx1"/>
                          </a:solidFill>
                          <a:latin typeface="Inter Medium" panose="020B0604020202020204" charset="0"/>
                          <a:ea typeface="Inter Medium" panose="020B0604020202020204" charset="0"/>
                        </a:rPr>
                        <a:t>Veiller régulièrement la structure HTML de booking.com pour assurer le fonctionnement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249258"/>
                  </a:ext>
                </a:extLst>
              </a:tr>
              <a:tr h="849956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tx1"/>
                          </a:solidFill>
                          <a:latin typeface="Inter Medium" panose="020B0604020202020204" charset="0"/>
                          <a:ea typeface="Inter Medium" panose="020B0604020202020204" charset="0"/>
                        </a:rPr>
                        <a:t>Analyse uniquement en notebook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tx1"/>
                          </a:solidFill>
                          <a:latin typeface="Inter Medium" panose="020B0604020202020204" charset="0"/>
                          <a:ea typeface="Inter Medium" panose="020B0604020202020204" charset="0"/>
                        </a:rPr>
                        <a:t>Restituer des tableaux de bord interactifs via 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  <a:latin typeface="Inter Medium" panose="020B0604020202020204" charset="0"/>
                          <a:ea typeface="Inter Medium" panose="020B0604020202020204" charset="0"/>
                        </a:rPr>
                        <a:t>Streamlit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Inter Medium" panose="020B0604020202020204" charset="0"/>
                          <a:ea typeface="Inter Medium" panose="020B0604020202020204" charset="0"/>
                        </a:rPr>
                        <a:t>, 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  <a:latin typeface="Inter Medium" panose="020B0604020202020204" charset="0"/>
                          <a:ea typeface="Inter Medium" panose="020B0604020202020204" charset="0"/>
                        </a:rPr>
                        <a:t>PowerBI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Inter Medium" panose="020B0604020202020204" charset="0"/>
                          <a:ea typeface="Inter Medium" panose="020B0604020202020204" charset="0"/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3636"/>
                  </a:ext>
                </a:extLst>
              </a:tr>
              <a:tr h="849956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tx1"/>
                          </a:solidFill>
                          <a:latin typeface="Inter Medium" panose="020B0604020202020204" charset="0"/>
                          <a:ea typeface="Inter Medium" panose="020B0604020202020204" charset="0"/>
                        </a:rPr>
                        <a:t>Nombreux enjeux terrains non évoqués (financiers, stratégiques…)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tx1"/>
                          </a:solidFill>
                          <a:latin typeface="Inter Medium" panose="020B0604020202020204" charset="0"/>
                          <a:ea typeface="Inter Medium" panose="020B0604020202020204" charset="0"/>
                        </a:rPr>
                        <a:t>Partager le projet totalement au sein de l’entreprise pour une décision éclairée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5497203"/>
                  </a:ext>
                </a:extLst>
              </a:tr>
            </a:tbl>
          </a:graphicData>
        </a:graphic>
      </p:graphicFrame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Vers une version productionnelle et plus robuste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72;p15">
            <a:extLst>
              <a:ext uri="{FF2B5EF4-FFF2-40B4-BE49-F238E27FC236}">
                <a16:creationId xmlns:a16="http://schemas.microsoft.com/office/drawing/2014/main" id="{0A92A33E-5C0D-9471-660D-EEF056D7FEEB}"/>
              </a:ext>
            </a:extLst>
          </p:cNvPr>
          <p:cNvSpPr/>
          <p:nvPr/>
        </p:nvSpPr>
        <p:spPr>
          <a:xfrm rot="21244006">
            <a:off x="292567" y="1560631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286451" y="2447414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72;p15">
            <a:extLst>
              <a:ext uri="{FF2B5EF4-FFF2-40B4-BE49-F238E27FC236}">
                <a16:creationId xmlns:a16="http://schemas.microsoft.com/office/drawing/2014/main" id="{081DBEE9-5635-AACD-58A1-43551D1D74EC}"/>
              </a:ext>
            </a:extLst>
          </p:cNvPr>
          <p:cNvSpPr/>
          <p:nvPr/>
        </p:nvSpPr>
        <p:spPr>
          <a:xfrm rot="21244006">
            <a:off x="286452" y="3268919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72;p15">
            <a:extLst>
              <a:ext uri="{FF2B5EF4-FFF2-40B4-BE49-F238E27FC236}">
                <a16:creationId xmlns:a16="http://schemas.microsoft.com/office/drawing/2014/main" id="{4A90B45F-BA0F-4387-91B1-C2764DAA586A}"/>
              </a:ext>
            </a:extLst>
          </p:cNvPr>
          <p:cNvSpPr/>
          <p:nvPr/>
        </p:nvSpPr>
        <p:spPr>
          <a:xfrm rot="21244006">
            <a:off x="286451" y="4127172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10</a:t>
            </a:fld>
            <a:endParaRPr lang="fr-FR" sz="1600" b="1" dirty="0"/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0AB7643A-97FA-6A60-C933-81D84E5F17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4" y="4773277"/>
            <a:ext cx="1929453" cy="370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Button Arrow Right Icon | Flat Cute Arrows Iconpack | Custom Icon Design">
            <a:extLst>
              <a:ext uri="{FF2B5EF4-FFF2-40B4-BE49-F238E27FC236}">
                <a16:creationId xmlns:a16="http://schemas.microsoft.com/office/drawing/2014/main" id="{11058DE5-0CDE-3CE1-A44C-5691EBE6E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1850" y="1332529"/>
            <a:ext cx="502950" cy="50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Button Arrow Right Icon | Flat Cute Arrows Iconpack | Custom Icon Design">
            <a:extLst>
              <a:ext uri="{FF2B5EF4-FFF2-40B4-BE49-F238E27FC236}">
                <a16:creationId xmlns:a16="http://schemas.microsoft.com/office/drawing/2014/main" id="{4D1DBE7B-509B-A74F-5A29-7125AD0FD9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1850" y="2154529"/>
            <a:ext cx="502950" cy="50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Button Arrow Right Icon | Flat Cute Arrows Iconpack | Custom Icon Design">
            <a:extLst>
              <a:ext uri="{FF2B5EF4-FFF2-40B4-BE49-F238E27FC236}">
                <a16:creationId xmlns:a16="http://schemas.microsoft.com/office/drawing/2014/main" id="{A54181FD-6580-C596-9EFF-48879BCF5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230" y="3042514"/>
            <a:ext cx="502950" cy="50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Button Arrow Right Icon | Flat Cute Arrows Iconpack | Custom Icon Design">
            <a:extLst>
              <a:ext uri="{FF2B5EF4-FFF2-40B4-BE49-F238E27FC236}">
                <a16:creationId xmlns:a16="http://schemas.microsoft.com/office/drawing/2014/main" id="{5BA9F053-556C-A2EE-8BC0-DD52C0FE99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230" y="3904018"/>
            <a:ext cx="502950" cy="50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1996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DBD0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>
            <a:spLocks noGrp="1"/>
          </p:cNvSpPr>
          <p:nvPr>
            <p:ph type="ctrTitle" idx="4294967295"/>
          </p:nvPr>
        </p:nvSpPr>
        <p:spPr>
          <a:xfrm>
            <a:off x="1235600" y="1742168"/>
            <a:ext cx="5315100" cy="6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56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Merci !</a:t>
            </a:r>
            <a:endParaRPr sz="5600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8625" y="3006625"/>
            <a:ext cx="4599299" cy="213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93E3B375-4397-CD72-E602-C59A61DC41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11</a:t>
            </a:fld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531</Words>
  <Application>Microsoft Office PowerPoint</Application>
  <PresentationFormat>Affichage à l'écran (16:9)</PresentationFormat>
  <Paragraphs>47</Paragraphs>
  <Slides>11</Slides>
  <Notes>11</Notes>
  <HiddenSlides>1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Arial</vt:lpstr>
      <vt:lpstr>Inter SemiBold</vt:lpstr>
      <vt:lpstr>Inter</vt:lpstr>
      <vt:lpstr>Inter Medium</vt:lpstr>
      <vt:lpstr>Simple Light</vt:lpstr>
      <vt:lpstr>BLOC 1 – Infrastructure données Kayak project</vt:lpstr>
      <vt:lpstr>Objectifs pédagogiques du projet </vt:lpstr>
      <vt:lpstr>  Forte concurrence dans le secteur hôtelier.  Besoin de décisions data-driven pour choisir des emplacements rentables.  Nécessité d’un système automatisé combinant météo, géographie et offres existantes.  Volonté de fiabiliser les décisions en croisant plusieurs sources de données hétérogènes. </vt:lpstr>
      <vt:lpstr>Architecture technique : pipeline end-to-end</vt:lpstr>
      <vt:lpstr>Intervention des équipes business dans le projet</vt:lpstr>
      <vt:lpstr>Résultats – sélection des villes</vt:lpstr>
      <vt:lpstr>Résultats – visualisation des hôtels</vt:lpstr>
      <vt:lpstr>Résultats – disponibilité des données</vt:lpstr>
      <vt:lpstr>Une aide concrète à la décision stratégique</vt:lpstr>
      <vt:lpstr>Vers une version productionnelle et plus robuste</vt:lpstr>
      <vt:lpstr>Merci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Loic Valentini</dc:creator>
  <cp:lastModifiedBy>Loic Valentini</cp:lastModifiedBy>
  <cp:revision>1</cp:revision>
  <dcterms:modified xsi:type="dcterms:W3CDTF">2025-06-26T09:34:12Z</dcterms:modified>
</cp:coreProperties>
</file>