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63" r:id="rId4"/>
    <p:sldId id="286" r:id="rId5"/>
    <p:sldId id="287" r:id="rId6"/>
    <p:sldId id="289" r:id="rId7"/>
    <p:sldId id="291" r:id="rId8"/>
    <p:sldId id="293" r:id="rId9"/>
    <p:sldId id="264" r:id="rId10"/>
    <p:sldId id="281" r:id="rId11"/>
    <p:sldId id="280" r:id="rId12"/>
    <p:sldId id="282" r:id="rId13"/>
    <p:sldId id="283" r:id="rId14"/>
    <p:sldId id="284" r:id="rId15"/>
    <p:sldId id="285" r:id="rId16"/>
    <p:sldId id="262" r:id="rId17"/>
  </p:sldIdLst>
  <p:sldSz cx="9144000" cy="5143500" type="screen16x9"/>
  <p:notesSz cx="68580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Lucida Console" panose="020B0609040504020204" pitchFamily="49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525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480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5424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021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343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213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528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898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10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521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310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521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e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4 – Deep Learning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AT&amp;T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993725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Traiter des données non-structurées (image, texte, audio) en utilisant des librairies comme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TensorFlow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ou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Numpy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les transformer en matrices exploitables par des algorithmes d'apprentissage profond.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Développer des réseaux de neurones (classiques, convolutifs, récurrents) avec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TensorFlow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analyser ces données et détecter des signaux significatifs.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Créer un modèle robuste en configurant un réseau de neurones pré-entraîné pour traiter des volumes massifs de données et effectuer des prédictions.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Générer des données non-structurées en élaborant des réseaux de neurones adverses pour créer de nouvelles bases d’entraînement pour l’IA.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Évaluer la performance des modèles en analysant des indicateurs sur les données d’entraînement et de validation, afin d'industrialiser leur déploiement.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7603" y="118693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2" y="20411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7603" y="26932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1" y="33224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26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64818EF9-1BD6-CF7E-32A9-0EE503380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BE4B7121-09B0-A0B8-3142-39D040C17D46}"/>
              </a:ext>
            </a:extLst>
          </p:cNvPr>
          <p:cNvSpPr/>
          <p:nvPr/>
        </p:nvSpPr>
        <p:spPr>
          <a:xfrm rot="21244006">
            <a:off x="566302" y="394657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A Blue Logo With A Spiral On It Wallpaper | Wallpapers.com">
            <a:extLst>
              <a:ext uri="{FF2B5EF4-FFF2-40B4-BE49-F238E27FC236}">
                <a16:creationId xmlns:a16="http://schemas.microsoft.com/office/drawing/2014/main" id="{E94D30DD-6F0D-5842-965F-709671AA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Protéger les utilisateurs d’AT&amp;T contre les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SPAMs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AT&amp;T, leader mondial des télécommunications, sert des millions d’utilisateurs mobiles aux Etats-Unis.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Les clients sont massivement exposés aux SMS SPAM, ce qui nuit à la confiance et à l’expérience utilisateur.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Objectif : développer un modèle automatique capable d’identifier les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SPAMs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à partir du contenu du message.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Impact stratégique : renforcer la sécurité perçue, améliorer la qualité du service, protéger la réputation d’AT&amp;T.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12397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2" y="268180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1" y="333319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A Blue Logo With A Spiral On It Wallpaper | Wallpapers.com">
            <a:extLst>
              <a:ext uri="{FF2B5EF4-FFF2-40B4-BE49-F238E27FC236}">
                <a16:creationId xmlns:a16="http://schemas.microsoft.com/office/drawing/2014/main" id="{E94D30DD-6F0D-5842-965F-709671AA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Atteindre cet objectif grâce au Deep Learning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Base de données : 5572 SMS classés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SPAMs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(13%) ou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HAMs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(87%), classes très déséquilibrées.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3 modèles « simples » de Deep Learning testés pour identifier le plus performant.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∙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TF-IDF + Réseau de neurones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∙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Couche d’intégration (</a:t>
            </a:r>
            <a:r>
              <a:rPr lang="fr-FR" sz="1400" i="1" dirty="0" err="1">
                <a:latin typeface="Inter Medium" panose="020B0604020202020204" charset="0"/>
                <a:ea typeface="Inter Medium" panose="020B0604020202020204" charset="0"/>
              </a:rPr>
              <a:t>Embedding</a:t>
            </a:r>
            <a:r>
              <a:rPr lang="fr-FR" sz="1400" i="1" dirty="0">
                <a:latin typeface="Inter Medium" panose="020B0604020202020204" charset="0"/>
                <a:ea typeface="Inter Medium" panose="020B0604020202020204" charset="0"/>
              </a:rPr>
              <a:t> Layer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)+ Réseau de neurones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∙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Apprentissage par Transfert (</a:t>
            </a:r>
            <a:r>
              <a:rPr lang="fr-FR" sz="1400" i="1" dirty="0">
                <a:latin typeface="Inter Medium" panose="020B0604020202020204" charset="0"/>
                <a:ea typeface="Inter Medium" panose="020B0604020202020204" charset="0"/>
              </a:rPr>
              <a:t>Transfer Learning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avec modèle BERT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Performances mesurées au travers de la matrice de confusion : Exactitude (</a:t>
            </a:r>
            <a:r>
              <a:rPr lang="fr-FR" sz="1400" i="1" dirty="0" err="1">
                <a:latin typeface="Inter Medium" panose="020B0604020202020204" charset="0"/>
                <a:ea typeface="Inter Medium" panose="020B0604020202020204" charset="0"/>
              </a:rPr>
              <a:t>Accuracy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), Précision (</a:t>
            </a:r>
            <a:r>
              <a:rPr lang="fr-FR" sz="1400" i="1" dirty="0" err="1">
                <a:latin typeface="Inter Medium" panose="020B0604020202020204" charset="0"/>
                <a:ea typeface="Inter Medium" panose="020B0604020202020204" charset="0"/>
              </a:rPr>
              <a:t>Precision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et Rappel (</a:t>
            </a:r>
            <a:r>
              <a:rPr lang="fr-FR" sz="1400" i="1" dirty="0" err="1">
                <a:latin typeface="Inter Medium" panose="020B0604020202020204" charset="0"/>
                <a:ea typeface="Inter Medium" panose="020B0604020202020204" charset="0"/>
              </a:rPr>
              <a:t>Recall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2" y="204044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1EF11A3D-6A8A-4349-517B-5016433973CC}"/>
              </a:ext>
            </a:extLst>
          </p:cNvPr>
          <p:cNvSpPr/>
          <p:nvPr/>
        </p:nvSpPr>
        <p:spPr>
          <a:xfrm rot="21244006">
            <a:off x="566302" y="352401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0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T&amp;T 3G shuts down today: How it'll impact you">
            <a:extLst>
              <a:ext uri="{FF2B5EF4-FFF2-40B4-BE49-F238E27FC236}">
                <a16:creationId xmlns:a16="http://schemas.microsoft.com/office/drawing/2014/main" id="{023B6B62-0B3E-F6D0-31EE-4BF3BD953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Une préparation rapide des données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Nettoyage classique des données textes (lemmatisation, élimination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Stop_words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tokenisation, suppression des ponctuations…)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Sur-échantillonnage (</a:t>
            </a:r>
            <a:r>
              <a:rPr lang="fr-FR" sz="1400" i="1" dirty="0" err="1">
                <a:latin typeface="Inter Medium" panose="020B0604020202020204" charset="0"/>
                <a:ea typeface="Inter Medium" panose="020B0604020202020204" charset="0"/>
              </a:rPr>
              <a:t>Oversampling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par duplication pour équilibrer les classes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dataset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exploitable de 9650 éléments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contenant autant de SPAM que de HAM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639879" y="15646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9880" y="220604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059EB05-45E8-BD07-1DDD-66CAF559F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082" y="3001333"/>
            <a:ext cx="2057687" cy="800212"/>
          </a:xfrm>
          <a:prstGeom prst="rect">
            <a:avLst/>
          </a:prstGeom>
        </p:spPr>
      </p:pic>
      <p:pic>
        <p:nvPicPr>
          <p:cNvPr id="5" name="Picture 2" descr="Button Arrow Right Icon | Flat Cute Arrows Iconpack | Custom Icon Design">
            <a:extLst>
              <a:ext uri="{FF2B5EF4-FFF2-40B4-BE49-F238E27FC236}">
                <a16:creationId xmlns:a16="http://schemas.microsoft.com/office/drawing/2014/main" id="{923AF93D-E11C-F547-457E-8937AD2C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001444" y="2443418"/>
            <a:ext cx="502950" cy="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37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pam Email Detection Using Artificial Intelligence">
            <a:extLst>
              <a:ext uri="{FF2B5EF4-FFF2-40B4-BE49-F238E27FC236}">
                <a16:creationId xmlns:a16="http://schemas.microsoft.com/office/drawing/2014/main" id="{7D6FC4C9-5791-EA1C-1B7D-F027EB55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 1 : TF-IDF + Réseau de neurones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AFFBFAC-3474-0A9A-664B-3CFCB2A3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041342"/>
              </p:ext>
            </p:extLst>
          </p:nvPr>
        </p:nvGraphicFramePr>
        <p:xfrm>
          <a:off x="511200" y="956582"/>
          <a:ext cx="8200799" cy="35846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602900338"/>
                    </a:ext>
                  </a:extLst>
                </a:gridCol>
                <a:gridCol w="2822400">
                  <a:extLst>
                    <a:ext uri="{9D8B030D-6E8A-4147-A177-3AD203B41FA5}">
                      <a16:colId xmlns:a16="http://schemas.microsoft.com/office/drawing/2014/main" val="1095576492"/>
                    </a:ext>
                  </a:extLst>
                </a:gridCol>
                <a:gridCol w="302400">
                  <a:extLst>
                    <a:ext uri="{9D8B030D-6E8A-4147-A177-3AD203B41FA5}">
                      <a16:colId xmlns:a16="http://schemas.microsoft.com/office/drawing/2014/main" val="3168533783"/>
                    </a:ext>
                  </a:extLst>
                </a:gridCol>
                <a:gridCol w="1864800">
                  <a:extLst>
                    <a:ext uri="{9D8B030D-6E8A-4147-A177-3AD203B41FA5}">
                      <a16:colId xmlns:a16="http://schemas.microsoft.com/office/drawing/2014/main" val="3854246308"/>
                    </a:ext>
                  </a:extLst>
                </a:gridCol>
                <a:gridCol w="2059199">
                  <a:extLst>
                    <a:ext uri="{9D8B030D-6E8A-4147-A177-3AD203B41FA5}">
                      <a16:colId xmlns:a16="http://schemas.microsoft.com/office/drawing/2014/main" val="1141781311"/>
                    </a:ext>
                  </a:extLst>
                </a:gridCol>
              </a:tblGrid>
              <a:tr h="32607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Paramètres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Résultats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3428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Séparation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60% train / 20% val / 20%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Durée d’entraînement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Inter Medium" panose="020B0604020202020204" charset="0"/>
                          <a:ea typeface="Inter Medium" panose="020B0604020202020204" charset="0"/>
                          <a:cs typeface="+mn-cs"/>
                          <a:sym typeface="Arial"/>
                        </a:rPr>
                        <a:t>≈ 1 minute</a:t>
                      </a:r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59694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Taille du 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Exactitude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69834"/>
                  </a:ext>
                </a:extLst>
              </a:tr>
              <a:tr h="15161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Réseau de neurones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Précision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02457"/>
                  </a:ext>
                </a:extLst>
              </a:tr>
              <a:tr h="345208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Rappel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21196"/>
                  </a:ext>
                </a:extLst>
              </a:tr>
              <a:tr h="326070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Matrice de confusion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87649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Epochs</a:t>
                      </a:r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0331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Optimiseur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Adam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3692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6565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85391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Poids du modèle (.h5)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12 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86097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15FD7926-F1C4-D650-5976-B108A7C73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3999" y="1989703"/>
            <a:ext cx="2541601" cy="77804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B8E247D-7867-7162-9959-3CA97A910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3458" y="2648184"/>
            <a:ext cx="1694587" cy="151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2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pam Email Detection Using Artificial Intelligence">
            <a:extLst>
              <a:ext uri="{FF2B5EF4-FFF2-40B4-BE49-F238E27FC236}">
                <a16:creationId xmlns:a16="http://schemas.microsoft.com/office/drawing/2014/main" id="{7D6FC4C9-5791-EA1C-1B7D-F027EB55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 2 : Couche d’intégration + Réseau de neurones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AFFBFAC-3474-0A9A-664B-3CFCB2A3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774144"/>
              </p:ext>
            </p:extLst>
          </p:nvPr>
        </p:nvGraphicFramePr>
        <p:xfrm>
          <a:off x="511200" y="956582"/>
          <a:ext cx="8200799" cy="35846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418400">
                  <a:extLst>
                    <a:ext uri="{9D8B030D-6E8A-4147-A177-3AD203B41FA5}">
                      <a16:colId xmlns:a16="http://schemas.microsoft.com/office/drawing/2014/main" val="2602900338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1095576492"/>
                    </a:ext>
                  </a:extLst>
                </a:gridCol>
                <a:gridCol w="302400">
                  <a:extLst>
                    <a:ext uri="{9D8B030D-6E8A-4147-A177-3AD203B41FA5}">
                      <a16:colId xmlns:a16="http://schemas.microsoft.com/office/drawing/2014/main" val="3168533783"/>
                    </a:ext>
                  </a:extLst>
                </a:gridCol>
                <a:gridCol w="1864800">
                  <a:extLst>
                    <a:ext uri="{9D8B030D-6E8A-4147-A177-3AD203B41FA5}">
                      <a16:colId xmlns:a16="http://schemas.microsoft.com/office/drawing/2014/main" val="3854246308"/>
                    </a:ext>
                  </a:extLst>
                </a:gridCol>
                <a:gridCol w="2059199">
                  <a:extLst>
                    <a:ext uri="{9D8B030D-6E8A-4147-A177-3AD203B41FA5}">
                      <a16:colId xmlns:a16="http://schemas.microsoft.com/office/drawing/2014/main" val="1141781311"/>
                    </a:ext>
                  </a:extLst>
                </a:gridCol>
              </a:tblGrid>
              <a:tr h="32607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Paramètres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Résultats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3428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Mots conservés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Tous (8172)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Durée d’entraînement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Inter Medium" panose="020B0604020202020204" charset="0"/>
                          <a:ea typeface="Inter Medium" panose="020B0604020202020204" charset="0"/>
                          <a:cs typeface="+mn-cs"/>
                          <a:sym typeface="Arial"/>
                        </a:rPr>
                        <a:t>≈ 2 minutes</a:t>
                      </a:r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586771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Séparation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60% train / 20% val / 20%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Exactitude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59694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Taille du 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Précision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69834"/>
                  </a:ext>
                </a:extLst>
              </a:tr>
              <a:tr h="15161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Réseau de neurones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Rappel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02457"/>
                  </a:ext>
                </a:extLst>
              </a:tr>
              <a:tr h="345208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Matrice de confusion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21196"/>
                  </a:ext>
                </a:extLst>
              </a:tr>
              <a:tr h="326070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87649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Epochs</a:t>
                      </a:r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0331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Optimiseur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Adam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3692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6565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Poids du modèle (.h5)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 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86097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320D2804-79C9-3237-C375-CF9B5D516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8400" y="2318231"/>
            <a:ext cx="2452814" cy="82039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B676EB9-C718-BB00-FAD5-B83F5BDB2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200" y="2595622"/>
            <a:ext cx="1780987" cy="159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8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Spam Email Detection Using Artificial Intelligence">
            <a:extLst>
              <a:ext uri="{FF2B5EF4-FFF2-40B4-BE49-F238E27FC236}">
                <a16:creationId xmlns:a16="http://schemas.microsoft.com/office/drawing/2014/main" id="{7D6FC4C9-5791-EA1C-1B7D-F027EB55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 3 : Apprentissage par transfert - BERT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18964" y="1385712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pic>
        <p:nvPicPr>
          <p:cNvPr id="3" name="Picture 2" descr="AT&amp;T Logo PNG Transparent &amp; SVG Vector - Freebie Supply">
            <a:extLst>
              <a:ext uri="{FF2B5EF4-FFF2-40B4-BE49-F238E27FC236}">
                <a16:creationId xmlns:a16="http://schemas.microsoft.com/office/drawing/2014/main" id="{5BA66A1D-0382-8060-AF06-090E54AC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75" y="4737854"/>
            <a:ext cx="1015200" cy="4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AFFBFAC-3474-0A9A-664B-3CFCB2A3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780398"/>
              </p:ext>
            </p:extLst>
          </p:nvPr>
        </p:nvGraphicFramePr>
        <p:xfrm>
          <a:off x="511200" y="956582"/>
          <a:ext cx="8200799" cy="358463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602900338"/>
                    </a:ext>
                  </a:extLst>
                </a:gridCol>
                <a:gridCol w="2822400">
                  <a:extLst>
                    <a:ext uri="{9D8B030D-6E8A-4147-A177-3AD203B41FA5}">
                      <a16:colId xmlns:a16="http://schemas.microsoft.com/office/drawing/2014/main" val="1095576492"/>
                    </a:ext>
                  </a:extLst>
                </a:gridCol>
                <a:gridCol w="302400">
                  <a:extLst>
                    <a:ext uri="{9D8B030D-6E8A-4147-A177-3AD203B41FA5}">
                      <a16:colId xmlns:a16="http://schemas.microsoft.com/office/drawing/2014/main" val="3168533783"/>
                    </a:ext>
                  </a:extLst>
                </a:gridCol>
                <a:gridCol w="1864800">
                  <a:extLst>
                    <a:ext uri="{9D8B030D-6E8A-4147-A177-3AD203B41FA5}">
                      <a16:colId xmlns:a16="http://schemas.microsoft.com/office/drawing/2014/main" val="3854246308"/>
                    </a:ext>
                  </a:extLst>
                </a:gridCol>
                <a:gridCol w="2059199">
                  <a:extLst>
                    <a:ext uri="{9D8B030D-6E8A-4147-A177-3AD203B41FA5}">
                      <a16:colId xmlns:a16="http://schemas.microsoft.com/office/drawing/2014/main" val="1141781311"/>
                    </a:ext>
                  </a:extLst>
                </a:gridCol>
              </a:tblGrid>
              <a:tr h="32607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Paramètres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Résultats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3428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Séparation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60% train / 20% val / 20%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Durée d’entraînement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Inter Medium" panose="020B0604020202020204" charset="0"/>
                          <a:ea typeface="Inter Medium" panose="020B0604020202020204" charset="0"/>
                          <a:cs typeface="+mn-cs"/>
                          <a:sym typeface="Arial"/>
                        </a:rPr>
                        <a:t>&gt; 2 heures</a:t>
                      </a:r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59694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Taille du 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Exactitude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369834"/>
                  </a:ext>
                </a:extLst>
              </a:tr>
              <a:tr h="15161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Modèle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« </a:t>
                      </a:r>
                      <a:r>
                        <a:rPr lang="fr-FR" sz="1200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distilbert</a:t>
                      </a:r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-base-</a:t>
                      </a:r>
                      <a:r>
                        <a:rPr lang="fr-FR" sz="1200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uncased</a:t>
                      </a:r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 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Précision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0.998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02457"/>
                  </a:ext>
                </a:extLst>
              </a:tr>
              <a:tr h="345208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Rappel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21196"/>
                  </a:ext>
                </a:extLst>
              </a:tr>
              <a:tr h="326070">
                <a:tc vMerge="1">
                  <a:txBody>
                    <a:bodyPr/>
                    <a:lstStyle/>
                    <a:p>
                      <a:pPr algn="ctr"/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Matrice de confusion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87649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Epochs</a:t>
                      </a:r>
                      <a:endParaRPr lang="fr-FR" sz="1200" b="1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03318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Optimiseur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Adam, taux d’apprentissage 2e-5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93692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76565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85391"/>
                  </a:ext>
                </a:extLst>
              </a:tr>
              <a:tr h="326070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Inter Medium" panose="020B0604020202020204" charset="0"/>
                          <a:ea typeface="Inter Medium" panose="020B0604020202020204" charset="0"/>
                        </a:rPr>
                        <a:t>Poids du modèle (.h5)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261 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86097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BB9126D7-445F-43C3-0CCD-08FB7AF89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658" y="2702355"/>
            <a:ext cx="1612800" cy="144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macOS Sierra Wallpaper 4K, Mountain, Peak, Sunset, Evening">
            <a:extLst>
              <a:ext uri="{FF2B5EF4-FFF2-40B4-BE49-F238E27FC236}">
                <a16:creationId xmlns:a16="http://schemas.microsoft.com/office/drawing/2014/main" id="{22D032D5-37C8-2680-3E0C-1B3B54C42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Base de données très simple : 500 produits textile, chacun identifié par un ID unique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Une seule colonne exploitable : description, combinant nom du produit et description marketing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Données Produits e-commerce (NLP)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50" y="118364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8" y="159664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2B8C7E4-AF82-4F01-DC47-852E03483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472" y="2101711"/>
            <a:ext cx="6739200" cy="105644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4629C51-2E86-BAB1-DD4B-EF2990CE0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392" y="3376652"/>
            <a:ext cx="2403381" cy="93936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F6327E3-DF9D-0A26-70FE-2E6CD456DC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773" y="3169865"/>
            <a:ext cx="2801042" cy="157594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9001059-7D68-9DFE-F435-BB71451A2F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552" y="3155741"/>
            <a:ext cx="1383840" cy="159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2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The North Face Wallpapers - Wallpaper Cave">
            <a:extLst>
              <a:ext uri="{FF2B5EF4-FFF2-40B4-BE49-F238E27FC236}">
                <a16:creationId xmlns:a16="http://schemas.microsoft.com/office/drawing/2014/main" id="{0C058ECA-10DB-EDF3-2F25-D27A97CEC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46400" y="-385904"/>
            <a:ext cx="11390400" cy="640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Mise en minuscule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caractères spéciaux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Tokenisation /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Lemmatization</a:t>
            </a: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tokens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nombres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tokens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de 2 lettres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tokens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Stop_Words</a:t>
            </a: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Techniques de nettoyage et préparation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40489" y="139324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8" y="18336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10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4CDA439F-A6AC-2CBE-7AA9-84A7F1146C57}"/>
              </a:ext>
            </a:extLst>
          </p:cNvPr>
          <p:cNvSpPr/>
          <p:nvPr/>
        </p:nvSpPr>
        <p:spPr>
          <a:xfrm rot="21244006">
            <a:off x="634448" y="220051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75E9384F-E6BD-372B-1506-2EF25D07AFC5}"/>
              </a:ext>
            </a:extLst>
          </p:cNvPr>
          <p:cNvSpPr/>
          <p:nvPr/>
        </p:nvSpPr>
        <p:spPr>
          <a:xfrm rot="21244006">
            <a:off x="646805" y="267053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9B30A0D4-F70D-2076-B374-DBD4C1947C93}"/>
              </a:ext>
            </a:extLst>
          </p:cNvPr>
          <p:cNvSpPr/>
          <p:nvPr/>
        </p:nvSpPr>
        <p:spPr>
          <a:xfrm rot="21244006">
            <a:off x="634449" y="311320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D2E56BA8-5530-D26C-5F60-F3F252EE9D6B}"/>
              </a:ext>
            </a:extLst>
          </p:cNvPr>
          <p:cNvSpPr/>
          <p:nvPr/>
        </p:nvSpPr>
        <p:spPr>
          <a:xfrm rot="21244006">
            <a:off x="634449" y="351912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B36AAE-BE95-3FDB-5205-D24BBF306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325" y="2187137"/>
            <a:ext cx="3727133" cy="1039721"/>
          </a:xfrm>
          <a:prstGeom prst="rect">
            <a:avLst/>
          </a:prstGeom>
        </p:spPr>
      </p:pic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401F5B48-1D9E-7B79-78AE-895E90EA2818}"/>
              </a:ext>
            </a:extLst>
          </p:cNvPr>
          <p:cNvSpPr/>
          <p:nvPr/>
        </p:nvSpPr>
        <p:spPr>
          <a:xfrm>
            <a:off x="4041128" y="1319846"/>
            <a:ext cx="333375" cy="2496529"/>
          </a:xfrm>
          <a:prstGeom prst="rightBrace">
            <a:avLst>
              <a:gd name="adj1" fmla="val 170075"/>
              <a:gd name="adj2" fmla="val 54578"/>
            </a:avLst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84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Advanced Mountain Kit The North Face – Alpine Mag">
            <a:extLst>
              <a:ext uri="{FF2B5EF4-FFF2-40B4-BE49-F238E27FC236}">
                <a16:creationId xmlns:a16="http://schemas.microsoft.com/office/drawing/2014/main" id="{F4C8F69A-0C5E-2730-76C2-AB5115BD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163" y="0"/>
            <a:ext cx="9344025" cy="62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 : 10 à 20 groupes d’au moins 6 produits en minimisant les </a:t>
            </a:r>
            <a:r>
              <a:rPr lang="fr-FR" sz="1400" b="1" dirty="0" err="1">
                <a:latin typeface="Inter Medium" panose="020B0604020202020204" charset="0"/>
                <a:ea typeface="Inter Medium" panose="020B0604020202020204" charset="0"/>
              </a:rPr>
              <a:t>outliers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Méthode de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clusterisation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DBSCAN en optimisant les paramètres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12 clusters réels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Un 13</a:t>
            </a:r>
            <a:r>
              <a:rPr lang="fr-FR" sz="1400" baseline="30000" dirty="0">
                <a:latin typeface="Inter Medium" panose="020B0604020202020204" charset="0"/>
                <a:ea typeface="Inter Medium" panose="020B0604020202020204" charset="0"/>
              </a:rPr>
              <a:t>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cluster regroupant les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outliers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(91 références)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Taille médiane des clusters réels : 12 références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Regroupement de produits similaires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40489" y="139324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8" y="18336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11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A6F17EF-7F6E-A036-A2B0-D31A4FBF0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062" y="2794197"/>
            <a:ext cx="6619875" cy="108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81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Advanced Mountain Kit The North Face – Alpine Mag">
            <a:extLst>
              <a:ext uri="{FF2B5EF4-FFF2-40B4-BE49-F238E27FC236}">
                <a16:creationId xmlns:a16="http://schemas.microsoft.com/office/drawing/2014/main" id="{F4C8F69A-0C5E-2730-76C2-AB5115BD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163" y="0"/>
            <a:ext cx="9344025" cy="62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Exemple d‘utilisation pratique des clusters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Entrer un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ID référence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et trouver 5 autres produits faisant partie du même cluster via une simple boucle Python -&gt; système de recommandation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Système de recommandation produit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9" y="163712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12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395364A-103F-18E8-C821-831847504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56" y="2031959"/>
            <a:ext cx="8080937" cy="233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8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Advanced Mountain Kit The North Face – Alpine Mag">
            <a:extLst>
              <a:ext uri="{FF2B5EF4-FFF2-40B4-BE49-F238E27FC236}">
                <a16:creationId xmlns:a16="http://schemas.microsoft.com/office/drawing/2014/main" id="{F4C8F69A-0C5E-2730-76C2-AB5115BD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163" y="0"/>
            <a:ext cx="9344025" cy="62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Méthodologie utilisée :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TF-IDF : conversion des textes en vecteurs pondérés</a:t>
            </a:r>
          </a:p>
          <a:p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200" dirty="0" err="1">
                <a:latin typeface="Inter Medium" panose="020B0604020202020204" charset="0"/>
                <a:ea typeface="Inter Medium" panose="020B0604020202020204" charset="0"/>
              </a:rPr>
              <a:t>Truncated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SVD (LSA) : réduction de dimension et extraction des composantes latentes</a:t>
            </a:r>
          </a:p>
          <a:p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Chaque composante ≈ un thème dominant dans les descriptions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Thèmes identifiés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sémantique – Identification des thèmes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50" y="220197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13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87F2533-46B4-A2CE-5199-727FDE00C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514" y="2121152"/>
            <a:ext cx="5858753" cy="245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0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North Face: Summit Series combines performance with International">
            <a:extLst>
              <a:ext uri="{FF2B5EF4-FFF2-40B4-BE49-F238E27FC236}">
                <a16:creationId xmlns:a16="http://schemas.microsoft.com/office/drawing/2014/main" id="{F0274232-31D0-4CB9-7854-EBA84F0F8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Résultats obtenus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Identification de groupes de produits similaires via analyse textuelle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Extraction de thématiques clés à partir des description marketing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Méthodologie scalable, automatisable, et sans supervision humaine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Piste concrète pour structurer l’offre et guider les recommandations produit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Limites actuelles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Impact opérationnel limité en l’état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      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Résultats difficilement exploitables sans croisement avec d’autres sources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Volume de données restreint (500 produits)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      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Limite la robustesse des regroupements</a:t>
            </a:r>
          </a:p>
          <a:p>
            <a:endParaRPr lang="fr-FR" sz="1400" b="1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b="1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Bilan du projet – Analyse Produit e-commerce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14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D3771469-123A-87E8-BECE-11A02942ABEE}"/>
              </a:ext>
            </a:extLst>
          </p:cNvPr>
          <p:cNvSpPr/>
          <p:nvPr/>
        </p:nvSpPr>
        <p:spPr>
          <a:xfrm rot="21244006">
            <a:off x="655788" y="270417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981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North Face: Summit Series combines performance with International">
            <a:extLst>
              <a:ext uri="{FF2B5EF4-FFF2-40B4-BE49-F238E27FC236}">
                <a16:creationId xmlns:a16="http://schemas.microsoft.com/office/drawing/2014/main" id="{F0274232-31D0-4CB9-7854-EBA84F0F8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Coupler avec des données comportementales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(navigation, clic, ventes, taux de  conversion…) pour affiner la pertinence business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Etendre le périmètre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à un catalogue produit plus large pour renforcer l’analyse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Elargir l’analyse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avec des données descriptives (prix, collection…) et visuelles (images, couleurs, styles…)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Enrichir avec une couche de validation métier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(experts, merchandising…) pour lier au commerce physique</a:t>
            </a:r>
          </a:p>
          <a:p>
            <a:endParaRPr lang="fr-FR" sz="1400" b="1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Recommandations ciblées pour progresser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15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D3771469-123A-87E8-BECE-11A02942ABEE}"/>
              </a:ext>
            </a:extLst>
          </p:cNvPr>
          <p:cNvSpPr/>
          <p:nvPr/>
        </p:nvSpPr>
        <p:spPr>
          <a:xfrm rot="21244006">
            <a:off x="634448" y="28825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EEE7E815-8321-965B-DDA5-97B0F386869B}"/>
              </a:ext>
            </a:extLst>
          </p:cNvPr>
          <p:cNvSpPr/>
          <p:nvPr/>
        </p:nvSpPr>
        <p:spPr>
          <a:xfrm rot="21244006">
            <a:off x="629948" y="183402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D733E56F-D388-DEA7-DD1A-53E28B58E571}"/>
              </a:ext>
            </a:extLst>
          </p:cNvPr>
          <p:cNvSpPr/>
          <p:nvPr/>
        </p:nvSpPr>
        <p:spPr>
          <a:xfrm rot="21244006">
            <a:off x="629949" y="227013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49" name="Picture 5" descr="The North Face Ups Its Stake in New York City">
            <a:extLst>
              <a:ext uri="{FF2B5EF4-FFF2-40B4-BE49-F238E27FC236}">
                <a16:creationId xmlns:a16="http://schemas.microsoft.com/office/drawing/2014/main" id="{A2E33CFE-9F6F-8D1A-9692-B6EDE48E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236" y="3250237"/>
            <a:ext cx="2581251" cy="145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75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991</Words>
  <Application>Microsoft Office PowerPoint</Application>
  <PresentationFormat>Affichage à l'écran (16:9)</PresentationFormat>
  <Paragraphs>194</Paragraphs>
  <Slides>16</Slides>
  <Notes>16</Notes>
  <HiddenSlides>1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Inter Medium</vt:lpstr>
      <vt:lpstr>Inter</vt:lpstr>
      <vt:lpstr>Lucida Console</vt:lpstr>
      <vt:lpstr>Arial</vt:lpstr>
      <vt:lpstr>Inter SemiBold</vt:lpstr>
      <vt:lpstr>Simple Light</vt:lpstr>
      <vt:lpstr>BLOC 4 – Deep Learning AT&amp;T project</vt:lpstr>
      <vt:lpstr>Objectifs pédagogiques du projet </vt:lpstr>
      <vt:lpstr>Protéger les utilisateurs d’AT&amp;T contre les SPAMs</vt:lpstr>
      <vt:lpstr>Atteindre cet objectif grâce au Deep Learning</vt:lpstr>
      <vt:lpstr>Une préparation rapide des données</vt:lpstr>
      <vt:lpstr># 1 : TF-IDF + Réseau de neurones</vt:lpstr>
      <vt:lpstr># 2 : Couche d’intégration + Réseau de neurones</vt:lpstr>
      <vt:lpstr># 3 : Apprentissage par transfert - BERT</vt:lpstr>
      <vt:lpstr>Données Produits e-commerce (NLP)</vt:lpstr>
      <vt:lpstr>Techniques de nettoyage et préparation</vt:lpstr>
      <vt:lpstr>Regroupement de produits similaires</vt:lpstr>
      <vt:lpstr>Système de recommandation produit</vt:lpstr>
      <vt:lpstr>Analyse sémantique – Identification des thèmes</vt:lpstr>
      <vt:lpstr>Bilan du projet – Analyse Produit e-commerce</vt:lpstr>
      <vt:lpstr>Recommandations ciblées pour progresser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8</cp:revision>
  <dcterms:modified xsi:type="dcterms:W3CDTF">2025-07-21T21:05:40Z</dcterms:modified>
</cp:coreProperties>
</file>