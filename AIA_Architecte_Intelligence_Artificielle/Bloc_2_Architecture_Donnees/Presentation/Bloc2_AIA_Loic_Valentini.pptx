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3" r:id="rId3"/>
    <p:sldId id="275" r:id="rId4"/>
    <p:sldId id="276" r:id="rId5"/>
    <p:sldId id="277" r:id="rId6"/>
    <p:sldId id="262" r:id="rId7"/>
  </p:sldIdLst>
  <p:sldSz cx="9144000" cy="5143500" type="screen16x9"/>
  <p:notesSz cx="6858000" cy="9144000"/>
  <p:embeddedFontLst>
    <p:embeddedFont>
      <p:font typeface="Inter" panose="020B0604020202020204" charset="0"/>
      <p:regular r:id="rId9"/>
      <p:bold r:id="rId10"/>
      <p:italic r:id="rId11"/>
      <p:boldItalic r:id="rId12"/>
    </p:embeddedFont>
    <p:embeddedFont>
      <p:font typeface="Inter Medium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262" autoAdjust="0"/>
  </p:normalViewPr>
  <p:slideViewPr>
    <p:cSldViewPr snapToGrid="0">
      <p:cViewPr varScale="1">
        <p:scale>
          <a:sx n="118" d="100"/>
          <a:sy n="118" d="100"/>
        </p:scale>
        <p:origin x="132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dirty="0"/>
              <a:t>“Voici l’architecture complète que j’ai conçue pour </a:t>
            </a:r>
            <a:r>
              <a:rPr lang="fr-FR" dirty="0" err="1"/>
              <a:t>Stripe</a:t>
            </a:r>
            <a:r>
              <a:rPr lang="fr-FR" dirty="0"/>
              <a:t>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Elle part à gauche des </a:t>
            </a:r>
            <a:r>
              <a:rPr lang="fr-FR" b="1" dirty="0"/>
              <a:t>systèmes de capture de données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D’un côté, la base </a:t>
            </a:r>
            <a:r>
              <a:rPr lang="fr-FR" b="1" dirty="0"/>
              <a:t>PostgreSQL OLTP</a:t>
            </a:r>
            <a:r>
              <a:rPr lang="fr-FR" dirty="0"/>
              <a:t>, qui centralise les données structurées : transactions, abonnements et factures.</a:t>
            </a:r>
            <a:br>
              <a:rPr lang="fr-FR" dirty="0"/>
            </a:br>
            <a:r>
              <a:rPr lang="fr-FR" dirty="0"/>
              <a:t>De l’autre, la base </a:t>
            </a:r>
            <a:r>
              <a:rPr lang="fr-FR" b="1" dirty="0"/>
              <a:t>MongoDB NoSQL</a:t>
            </a:r>
            <a:r>
              <a:rPr lang="fr-FR" dirty="0"/>
              <a:t>, qui stocke les données semi-structurées comme les logs de sessions ou les signaux de fraude.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Ces deux sources alimentent ensuite la zone centrale : </a:t>
            </a:r>
            <a:r>
              <a:rPr lang="fr-FR" b="1" dirty="0"/>
              <a:t>les pipelines d’intégration hybrides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On y retrouve deux types de flux :</a:t>
            </a:r>
            <a:br>
              <a:rPr lang="fr-FR" dirty="0"/>
            </a:br>
            <a:r>
              <a:rPr lang="fr-FR" dirty="0"/>
              <a:t>– d’abord un </a:t>
            </a:r>
            <a:r>
              <a:rPr lang="fr-FR" b="1" dirty="0"/>
              <a:t>pipeline batch</a:t>
            </a:r>
            <a:r>
              <a:rPr lang="fr-FR" dirty="0"/>
              <a:t>, orchestré par </a:t>
            </a:r>
            <a:r>
              <a:rPr lang="fr-FR" dirty="0" err="1"/>
              <a:t>Airflow</a:t>
            </a:r>
            <a:r>
              <a:rPr lang="fr-FR" dirty="0"/>
              <a:t> et </a:t>
            </a:r>
            <a:r>
              <a:rPr lang="fr-FR" dirty="0" err="1"/>
              <a:t>dbt</a:t>
            </a:r>
            <a:r>
              <a:rPr lang="fr-FR" dirty="0"/>
              <a:t>, qui réalise des chargements réguliers vers l’entrepôt de données analytique,</a:t>
            </a:r>
            <a:br>
              <a:rPr lang="fr-FR" dirty="0"/>
            </a:br>
            <a:r>
              <a:rPr lang="fr-FR" dirty="0"/>
              <a:t>– et en parallèle, un </a:t>
            </a:r>
            <a:r>
              <a:rPr lang="fr-FR" b="1" dirty="0"/>
              <a:t>pipeline temps réel</a:t>
            </a:r>
            <a:r>
              <a:rPr lang="fr-FR" dirty="0"/>
              <a:t>, géré par Kafka et </a:t>
            </a:r>
            <a:r>
              <a:rPr lang="fr-FR" dirty="0" err="1"/>
              <a:t>Debezium</a:t>
            </a:r>
            <a:r>
              <a:rPr lang="fr-FR" dirty="0"/>
              <a:t>, qui diffuse instantanément les événements vers MongoDB et la couche Machine Learning.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Ces pipelines garantissent la </a:t>
            </a:r>
            <a:r>
              <a:rPr lang="fr-FR" b="1" dirty="0"/>
              <a:t>continuité entre les systèmes transactionnels et les outils d’analyse et d’IA</a:t>
            </a:r>
            <a:r>
              <a:rPr lang="fr-FR" dirty="0"/>
              <a:t>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Au centre-droit, on trouve le </a:t>
            </a:r>
            <a:r>
              <a:rPr lang="fr-FR" b="1" dirty="0"/>
              <a:t>Data Warehouse OLAP</a:t>
            </a:r>
            <a:r>
              <a:rPr lang="fr-FR" dirty="0"/>
              <a:t>, basé sur </a:t>
            </a:r>
            <a:r>
              <a:rPr lang="fr-FR" dirty="0" err="1"/>
              <a:t>Snowflake</a:t>
            </a:r>
            <a:r>
              <a:rPr lang="fr-FR" dirty="0"/>
              <a:t> ou PostgreSQL DW.</a:t>
            </a:r>
            <a:br>
              <a:rPr lang="fr-FR" dirty="0"/>
            </a:br>
            <a:r>
              <a:rPr lang="fr-FR" dirty="0"/>
              <a:t>Il repose sur un modèle en étoile, avec une table de faits </a:t>
            </a:r>
            <a:r>
              <a:rPr lang="fr-FR" dirty="0" err="1"/>
              <a:t>fact_transactions</a:t>
            </a:r>
            <a:r>
              <a:rPr lang="fr-FR" dirty="0"/>
              <a:t> et six dimensions pour croiser les analyses par client, plan, moyen de paiement ou période.</a:t>
            </a:r>
            <a:br>
              <a:rPr lang="fr-FR" dirty="0"/>
            </a:br>
            <a:r>
              <a:rPr lang="fr-FR" dirty="0"/>
              <a:t>C’est ici qu’on exécute les requêtes analytiques, les agrégations et le suivi des indicateurs de performance.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Enfin, la partie droite de l’architecture intègre la </a:t>
            </a:r>
            <a:r>
              <a:rPr lang="fr-FR" b="1" dirty="0"/>
              <a:t>couche d’intelligence et de restitution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– la partie </a:t>
            </a:r>
            <a:r>
              <a:rPr lang="fr-FR" b="1" dirty="0"/>
              <a:t>Machine Learning</a:t>
            </a:r>
            <a:r>
              <a:rPr lang="fr-FR" dirty="0"/>
              <a:t>, avec </a:t>
            </a:r>
            <a:r>
              <a:rPr lang="fr-FR" dirty="0" err="1"/>
              <a:t>scikit-learn</a:t>
            </a:r>
            <a:r>
              <a:rPr lang="fr-FR" dirty="0"/>
              <a:t> et </a:t>
            </a:r>
            <a:r>
              <a:rPr lang="fr-FR" dirty="0" err="1"/>
              <a:t>MLflow</a:t>
            </a:r>
            <a:r>
              <a:rPr lang="fr-FR" dirty="0"/>
              <a:t>, dédiée à la détection de fraude et à la prédiction de </a:t>
            </a:r>
            <a:r>
              <a:rPr lang="fr-FR" dirty="0" err="1"/>
              <a:t>churn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– et la partie </a:t>
            </a:r>
            <a:r>
              <a:rPr lang="fr-FR" b="1" dirty="0"/>
              <a:t>visualisation</a:t>
            </a:r>
            <a:r>
              <a:rPr lang="fr-FR" dirty="0"/>
              <a:t>, qui expose les résultats dans Power BI et </a:t>
            </a:r>
            <a:r>
              <a:rPr lang="fr-FR" dirty="0" err="1"/>
              <a:t>Streamlit</a:t>
            </a:r>
            <a:r>
              <a:rPr lang="fr-FR" dirty="0"/>
              <a:t>, pour suivre les revenus, le DSO et les scores de fraude en temps réel.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Cette architecture offre donc à </a:t>
            </a:r>
            <a:r>
              <a:rPr lang="fr-FR" dirty="0" err="1"/>
              <a:t>Stripe</a:t>
            </a:r>
            <a:r>
              <a:rPr lang="fr-FR" dirty="0"/>
              <a:t> une </a:t>
            </a:r>
            <a:r>
              <a:rPr lang="fr-FR" b="1" dirty="0"/>
              <a:t>vision 360° unifiée</a:t>
            </a:r>
            <a:r>
              <a:rPr lang="fr-FR" dirty="0"/>
              <a:t>, capable de relier la donnée opérationnelle, analytique et prédictive, tout en garantissant la conformité et la performance à grande échelle.”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9849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“Concrètement, cette architecture a donné naissance à trois environnements complets : un système OLTP pour les transactions, un entrepôt OLAP pour l’analyse, et une base NoSQL pour les données semi-structurées.</a:t>
            </a:r>
            <a:br>
              <a:rPr lang="fr-FR" dirty="0"/>
            </a:br>
            <a:r>
              <a:rPr lang="fr-FR" dirty="0"/>
              <a:t>Les flux batch et temps réel assurent la cohérence entre ces systèmes.</a:t>
            </a:r>
            <a:br>
              <a:rPr lang="fr-FR" dirty="0"/>
            </a:br>
            <a:r>
              <a:rPr lang="fr-FR" dirty="0"/>
              <a:t>J’ai également produit des requêtes analytiques avancées, permettant de suivre les revenus, les taux de succès ou les délais de paiement, ainsi que des requêtes NoSQL pour repérer les comportements suspects.</a:t>
            </a:r>
            <a:br>
              <a:rPr lang="fr-FR" dirty="0"/>
            </a:br>
            <a:r>
              <a:rPr lang="fr-FR" dirty="0"/>
              <a:t>Enfin, une couche Machine Learning et des tableaux de bord interactifs rendent ces données exploitables en temps réel, dans un cadre conforme et évolutif.”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8734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“Pour la suite, l’objectif est d’industrialiser cette architecture sur un cloud managé comme AWS ou GCP.</a:t>
            </a:r>
            <a:br>
              <a:rPr lang="fr-FR" dirty="0"/>
            </a:br>
            <a:r>
              <a:rPr lang="fr-FR" dirty="0"/>
              <a:t>Les flux seraient automatisés grâce à </a:t>
            </a:r>
            <a:r>
              <a:rPr lang="fr-FR" dirty="0" err="1"/>
              <a:t>Airflow</a:t>
            </a:r>
            <a:r>
              <a:rPr lang="fr-FR" dirty="0"/>
              <a:t> et </a:t>
            </a:r>
            <a:r>
              <a:rPr lang="fr-FR" dirty="0" err="1"/>
              <a:t>dbt</a:t>
            </a:r>
            <a:r>
              <a:rPr lang="fr-FR" dirty="0"/>
              <a:t> Cloud, garantissant une orchestration fiable et transparente.</a:t>
            </a:r>
            <a:br>
              <a:rPr lang="fr-FR" dirty="0"/>
            </a:br>
            <a:r>
              <a:rPr lang="fr-FR" dirty="0"/>
              <a:t>La partie Machine Learning serait enrichie avec d’autres modèles — par exemple pour le </a:t>
            </a:r>
            <a:r>
              <a:rPr lang="fr-FR" dirty="0" err="1"/>
              <a:t>churn</a:t>
            </a:r>
            <a:r>
              <a:rPr lang="fr-FR" dirty="0"/>
              <a:t> ou la segmentation client.</a:t>
            </a:r>
            <a:br>
              <a:rPr lang="fr-FR" dirty="0"/>
            </a:br>
            <a:r>
              <a:rPr lang="fr-FR" dirty="0"/>
              <a:t>L’ensemble serait surveillé en continu, avec détection automatique des dérives et déclenchement de décisions en cas de fraude.</a:t>
            </a:r>
            <a:br>
              <a:rPr lang="fr-FR" dirty="0"/>
            </a:br>
            <a:r>
              <a:rPr lang="fr-FR" dirty="0"/>
              <a:t>Côté gouvernance, la création d’un Data </a:t>
            </a:r>
            <a:r>
              <a:rPr lang="fr-FR" dirty="0" err="1"/>
              <a:t>Catalog</a:t>
            </a:r>
            <a:r>
              <a:rPr lang="fr-FR" dirty="0"/>
              <a:t> et la documentation des métadonnées assureraient la conformité et la traçabilité.</a:t>
            </a:r>
            <a:br>
              <a:rPr lang="fr-FR" dirty="0"/>
            </a:br>
            <a:r>
              <a:rPr lang="fr-FR" dirty="0"/>
              <a:t>Enfin, l’entrepôt OLAP pourrait intégrer des données comportementales issues du NoSQL, avec un monitoring global et des tests automatisés pour fiabiliser la chaîne de bout en bout.”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5750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2 – Architecture données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Stripe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Décembre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tripe Payments | Solutions de paiement tout-en-un">
            <a:extLst>
              <a:ext uri="{FF2B5EF4-FFF2-40B4-BE49-F238E27FC236}">
                <a16:creationId xmlns:a16="http://schemas.microsoft.com/office/drawing/2014/main" id="{54A87282-AE02-1D48-83A6-6CFC171C6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Construire une architecture de données intégrée pour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Stripe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Une donnée en plein expansion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Stripe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traite des milliards de transactions dans 100+ pays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Des données multiples : paiements, abonnements, logs, détection de fraude…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Une complexité croissante : volumes, hétérogénéité, conformité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systèmes encore cloisonnés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OLTP, OLAP et NoSQL fonctionnent en silos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Difficulté à croiser les données transactionnelles et comportementales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Objectif de fluidifier les échanges et unifier les pipelines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Vers une architecture intégrée et temps réel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Construire un pipeline unifié (batch + streaming)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Garantir rapidité, fiabilité et analyse instantanée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Supporter fraude, analytique et pilotage client dans un même écosystème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0" y="231863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1" y="316412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6EB883E-00C8-B9E2-7388-0240E645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0" y="4806720"/>
            <a:ext cx="671542" cy="27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2" y="139201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0E52B909-FABA-7B4D-B14F-CEECD697E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61" y="101146"/>
            <a:ext cx="8152893" cy="4591783"/>
          </a:xfrm>
          <a:prstGeom prst="rect">
            <a:avLst/>
          </a:prstGeom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6EB883E-00C8-B9E2-7388-0240E645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0" y="4806720"/>
            <a:ext cx="671542" cy="27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279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tripe Payments | Solutions de paiement tout-en-un">
            <a:extLst>
              <a:ext uri="{FF2B5EF4-FFF2-40B4-BE49-F238E27FC236}">
                <a16:creationId xmlns:a16="http://schemas.microsoft.com/office/drawing/2014/main" id="{54A87282-AE02-1D48-83A6-6CFC171C6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 écosystème data unifié et opérationnel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Une modélisation complète et cohérente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3 environnements : OLTP (PostgreSQL), OLAP (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Snowflake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/ PostgreSQL DW) et NoSQL (MongoDB)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Schémas normalisés et en étoile respectant les bonnes pratiques de Data Modeling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Pipelines d’intégration fonctionnels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Airflow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+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dbt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pour charger les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batchs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quotidiens vers le Data Warehouse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Kafka +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Debezium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pour les flux temps réel entre OLTP, NoSQL et Machine Learning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Analyses et indicateurs clés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10 requêtes OLAP : revenus, succès de paiement,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churn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, croissance…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5 requêtes NoSQL : détection d’anomalies, taux d’échec, IP suspectes…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Intelligence et restitution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Intégration d’un modèle Machine Learning pour la fraude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Tableaux de bord Power BI /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Streamlit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pour suivre les KPIs en temps réel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02003" y="213831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02003" y="281111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6EB883E-00C8-B9E2-7388-0240E645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0" y="4806720"/>
            <a:ext cx="671542" cy="27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2" y="139201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7DBC875C-8339-6843-4E53-DBF108BC2F26}"/>
              </a:ext>
            </a:extLst>
          </p:cNvPr>
          <p:cNvSpPr/>
          <p:nvPr/>
        </p:nvSpPr>
        <p:spPr>
          <a:xfrm rot="21244006">
            <a:off x="602004" y="357412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3BF63FC-EBFA-35BA-1807-E435C1C019D3}"/>
              </a:ext>
            </a:extLst>
          </p:cNvPr>
          <p:cNvSpPr txBox="1"/>
          <p:nvPr/>
        </p:nvSpPr>
        <p:spPr>
          <a:xfrm>
            <a:off x="6419471" y="2694301"/>
            <a:ext cx="260168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Cohérence et scalabilité</a:t>
            </a:r>
          </a:p>
          <a:p>
            <a:pPr algn="ctr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ctr"/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Synchronisation en continu</a:t>
            </a:r>
          </a:p>
          <a:p>
            <a:pPr algn="ctr"/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pPr algn="ctr"/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Vision analytique complète</a:t>
            </a:r>
          </a:p>
          <a:p>
            <a:pPr algn="ctr"/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pPr algn="ctr"/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Production et supervision IA</a:t>
            </a:r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4B34CEAE-BD28-80A0-F305-75186F215493}"/>
              </a:ext>
            </a:extLst>
          </p:cNvPr>
          <p:cNvCxnSpPr>
            <a:cxnSpLocks/>
          </p:cNvCxnSpPr>
          <p:nvPr/>
        </p:nvCxnSpPr>
        <p:spPr>
          <a:xfrm>
            <a:off x="6360340" y="1885444"/>
            <a:ext cx="566442" cy="8088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B0ABD219-9F43-35B7-7AED-E6958A1EAF99}"/>
              </a:ext>
            </a:extLst>
          </p:cNvPr>
          <p:cNvCxnSpPr>
            <a:cxnSpLocks/>
          </p:cNvCxnSpPr>
          <p:nvPr/>
        </p:nvCxnSpPr>
        <p:spPr>
          <a:xfrm>
            <a:off x="5945342" y="2637188"/>
            <a:ext cx="536378" cy="533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BE62E4A0-7CA9-78F3-42A2-53EB8040F086}"/>
              </a:ext>
            </a:extLst>
          </p:cNvPr>
          <p:cNvCxnSpPr>
            <a:cxnSpLocks/>
          </p:cNvCxnSpPr>
          <p:nvPr/>
        </p:nvCxnSpPr>
        <p:spPr>
          <a:xfrm>
            <a:off x="5620705" y="3284468"/>
            <a:ext cx="861015" cy="3416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F208741-04A6-5F91-60F8-DDA9CB0D8C43}"/>
              </a:ext>
            </a:extLst>
          </p:cNvPr>
          <p:cNvCxnSpPr>
            <a:cxnSpLocks/>
          </p:cNvCxnSpPr>
          <p:nvPr/>
        </p:nvCxnSpPr>
        <p:spPr>
          <a:xfrm>
            <a:off x="5684378" y="3940949"/>
            <a:ext cx="735093" cy="137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4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tripe Payments | Solutions de paiement tout-en-un">
            <a:extLst>
              <a:ext uri="{FF2B5EF4-FFF2-40B4-BE49-F238E27FC236}">
                <a16:creationId xmlns:a16="http://schemas.microsoft.com/office/drawing/2014/main" id="{54A87282-AE02-1D48-83A6-6CFC171C6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Vers la production : perspectives du projet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85351" y="753798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Industrialisation sur le cloud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Déploiement sur AWS ou GCP avec stockage managé (S3,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BigQuery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,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Snowflake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Automatisation complète des flux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Orchestration quotidienne via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Airflow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et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dbt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Cloud pour des pipelines robustes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Extension des modèles Machine Learning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Ajout de modèles pour le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churn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, la recommandation et la segmentation client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Surveillance continue des performances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Tracking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automatique des métriques, dérives et décisions suite aux détections de fraude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Gouvernance et documentation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Mise en place d’un Data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Catalog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, métadonnées, et suivi des accès pour conformité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Enrichissement analytique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Intégration future de données comportementales et de logs dans le modèle OLAP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Monitoring et qualité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Supervision du pipeline et exécution de tests automatisés (CI/CD, validation des données)</a:t>
            </a: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51217" y="151095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51215" y="208670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6EB883E-00C8-B9E2-7388-0240E645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0" y="4806720"/>
            <a:ext cx="671542" cy="27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51539" y="96022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CA054A88-43C3-1DFD-81D2-E9E56E511B32}"/>
              </a:ext>
            </a:extLst>
          </p:cNvPr>
          <p:cNvSpPr/>
          <p:nvPr/>
        </p:nvSpPr>
        <p:spPr>
          <a:xfrm rot="21244006">
            <a:off x="651217" y="265488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5F59811B-4B81-4B53-C79E-DD769B4C203A}"/>
              </a:ext>
            </a:extLst>
          </p:cNvPr>
          <p:cNvSpPr/>
          <p:nvPr/>
        </p:nvSpPr>
        <p:spPr>
          <a:xfrm rot="21244006">
            <a:off x="651214" y="328445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F910A82E-7F50-3ABA-5DCE-34CC801A228E}"/>
              </a:ext>
            </a:extLst>
          </p:cNvPr>
          <p:cNvSpPr/>
          <p:nvPr/>
        </p:nvSpPr>
        <p:spPr>
          <a:xfrm rot="21244006">
            <a:off x="651215" y="388529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41315E70-B611-0B1A-B1C6-8F6789AEF39B}"/>
              </a:ext>
            </a:extLst>
          </p:cNvPr>
          <p:cNvSpPr/>
          <p:nvPr/>
        </p:nvSpPr>
        <p:spPr>
          <a:xfrm rot="21244006">
            <a:off x="651214" y="440870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409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1039</Words>
  <Application>Microsoft Office PowerPoint</Application>
  <PresentationFormat>Affichage à l'écran (16:9)</PresentationFormat>
  <Paragraphs>37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Inter Medium</vt:lpstr>
      <vt:lpstr>Arial</vt:lpstr>
      <vt:lpstr>Inter SemiBold</vt:lpstr>
      <vt:lpstr>Inter</vt:lpstr>
      <vt:lpstr>Simple Light</vt:lpstr>
      <vt:lpstr>BLOC 2 – Architecture données Stripe project</vt:lpstr>
      <vt:lpstr>Construire une architecture de données intégrée pour Stripe</vt:lpstr>
      <vt:lpstr>Présentation PowerPoint</vt:lpstr>
      <vt:lpstr>Un écosystème data unifié et opérationnel</vt:lpstr>
      <vt:lpstr>Vers la production : perspectives du projet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13</cp:revision>
  <dcterms:modified xsi:type="dcterms:W3CDTF">2025-10-29T09:47:03Z</dcterms:modified>
</cp:coreProperties>
</file>