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B0535-C7A1-747C-7316-171C91CBB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E3AB47-47D0-2F85-53E0-542945DA3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5B5D97-9150-4A0F-998E-B61CBCC8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39E5D1-D2B9-FAD6-5012-E1A92F82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079BF6-B50B-0842-3664-DB829345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22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42E748-55F7-551E-9829-8A6F7313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028A9E-EBC5-90FB-6A5D-6A5592E3D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FBA046-1F66-8675-A2AB-F9BF0CAD5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F2ECDC-3157-B3DB-E74B-EA5A4A68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E40CD5-2E6B-3086-2934-8176C5F0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80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32A9D-AEE4-5A6F-3BB1-1E4D1A96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BBA7A5-A76E-F928-D518-CEAFFA152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41DE0F-9346-C311-6B98-BE67A9FF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39BCF-8E88-294A-66C1-AC6A2D61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488786-CDDC-6B30-BFD6-E722343A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15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66B74-274F-82D5-3C21-AD36501F5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15D6A7-9C52-288D-5214-26D8229FA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659A03-E827-4CF2-0260-11EDF3880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AA2440-36EA-B8CE-2630-61F9A48B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C043F4-D7C6-7A4D-9D1D-71AE24EA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5A61F1-0B0A-F5B9-846D-1B5B1603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165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A420F1-8594-24F3-CC23-E395F6EF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29ECF9-31EC-B2F8-EF5F-BBFB5DC1B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26B7B0-CF44-28C7-1214-F2E6E7E1F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F6747F-F16B-124A-EDDD-0EDA67B16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8012908-8D06-F67B-6081-B137C1E23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1D714E9-7D3B-866B-31CF-1F4B6C91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7682AA-B22E-C189-0327-FCB2B39E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3AF8F2-3FAE-5E19-A34D-DB488543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55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23CA1-D70B-81C5-D62B-5B47EF24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0328F7-39F4-20BB-11C2-C05419CDC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475D08-2F96-1DA3-C891-1E23A865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865660-C2E0-478D-034B-06FD7D05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98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1B2C76-16B0-B656-737B-CF160A5A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9517E2-03D1-A38D-41DB-5A1B208A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138E82-B172-6126-418C-BC622531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20C237-4273-1772-26D1-E1174811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68BC2-9CEF-5301-54C0-C1223B011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0669DC-93FE-5A6D-F19E-068FA84D7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740B5F-CD83-2573-A4A0-8B5969C73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2E9FB3-9012-9A8C-184F-B1B5ADE9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A7D3B7-BD95-1460-EBA7-BF439F5A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75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F6C0E5-2DAD-F0D5-939D-7F1336F2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8E801EE-6A42-632C-F406-2C153E6B8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90422F-7CFF-1B22-1733-51E726D49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1D2DFB-1FC8-A59A-AFFB-BAF4376B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7F7A80-69FF-26B7-0037-994BB694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1BBF7E-0DB7-FF7F-9B93-FFDB8357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60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0FE9-1FF5-44E9-A687-E76D9B45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4944FC-1F85-C18E-2F13-88C17BF90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2B539-8660-44EA-0946-2D272C57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DD0CC5-2132-B3A2-B4BC-BF5E5FAD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3F9978-7F4A-C730-5A22-C8307E4A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113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CF8FC8D-CC79-8956-4761-2D59CA852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9BD91E-4DBC-B328-C1D5-EB5BE8066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B97F58-C6ED-C5F7-B87D-FA4478C8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28CE77-1AC3-8CAB-7F6B-31213151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2A4E6B-33A4-FAC4-F702-97F15751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47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2A1EF64-F2DF-EAD3-DC7B-C8C20F26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77397E-A24C-FF16-7694-EC141C27D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6D14DD-8452-B592-63B2-297BC48A2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D0154-85A0-4754-8104-BD92EFEEF2F9}" type="datetimeFigureOut">
              <a:rPr lang="fr-FR" smtClean="0"/>
              <a:t>29/10/2025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973555-BB94-5960-F860-46E1F91DF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4A7EF1-4523-C536-4916-B0DBD7F50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F5F9C-A6CE-41B2-8646-25BE961A4F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70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94916561-FC0D-38DB-B476-EBC21F1EB641}"/>
              </a:ext>
            </a:extLst>
          </p:cNvPr>
          <p:cNvSpPr/>
          <p:nvPr/>
        </p:nvSpPr>
        <p:spPr>
          <a:xfrm>
            <a:off x="4632879" y="2166149"/>
            <a:ext cx="2883183" cy="305276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66FF1D6-5E5E-9342-8C9D-75FE5C8188E1}"/>
              </a:ext>
            </a:extLst>
          </p:cNvPr>
          <p:cNvSpPr/>
          <p:nvPr/>
        </p:nvSpPr>
        <p:spPr>
          <a:xfrm>
            <a:off x="132408" y="1123948"/>
            <a:ext cx="2001192" cy="355758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👤 </a:t>
            </a:r>
            <a:r>
              <a:rPr lang="fr-FR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</a:p>
          <a:p>
            <a:pPr algn="ctr"/>
            <a:endParaRPr lang="fr-FR" sz="1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fr-FR" sz="1600" dirty="0"/>
              <a:t>🏪 </a:t>
            </a:r>
            <a:r>
              <a:rPr lang="fr-FR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Marchand</a:t>
            </a:r>
          </a:p>
          <a:p>
            <a:pPr algn="ctr"/>
            <a:endParaRPr lang="fr-FR" sz="1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600" dirty="0"/>
              <a:t>📱</a:t>
            </a:r>
            <a:r>
              <a:rPr lang="fr-FR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Interface (mobile/site web)</a:t>
            </a:r>
          </a:p>
          <a:p>
            <a:pPr algn="ctr"/>
            <a:endParaRPr lang="fr-FR" sz="1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Entrée des évènements</a:t>
            </a:r>
          </a:p>
          <a:p>
            <a:pPr algn="ctr"/>
            <a:endParaRPr lang="fr-FR" sz="1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F8D2812-19AE-8853-9D87-6F8494153812}"/>
              </a:ext>
            </a:extLst>
          </p:cNvPr>
          <p:cNvSpPr/>
          <p:nvPr/>
        </p:nvSpPr>
        <p:spPr>
          <a:xfrm>
            <a:off x="2403414" y="1123948"/>
            <a:ext cx="2001192" cy="355758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Système OLTP</a:t>
            </a: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fr-FR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transactions</a:t>
            </a: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subscriptions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invoices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merchants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Système transactionnel ACID</a:t>
            </a: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7" name="Picture 3" descr="PostgreSQL — Wikipédia">
            <a:extLst>
              <a:ext uri="{FF2B5EF4-FFF2-40B4-BE49-F238E27FC236}">
                <a16:creationId xmlns:a16="http://schemas.microsoft.com/office/drawing/2014/main" id="{F9CA3499-43EB-383E-F407-8098C7E8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83" y="4191849"/>
            <a:ext cx="356668" cy="36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162855A-8461-8290-9704-3E5F57BA8BFA}"/>
              </a:ext>
            </a:extLst>
          </p:cNvPr>
          <p:cNvSpPr/>
          <p:nvPr/>
        </p:nvSpPr>
        <p:spPr>
          <a:xfrm>
            <a:off x="132408" y="6324600"/>
            <a:ext cx="11916717" cy="4191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GOUVERNANCE &amp; CONFORMITE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PCI-DSS / RGPD / CCPA…</a:t>
            </a:r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D3524735-BB50-5DB1-46BA-E80B22581BDE}"/>
              </a:ext>
            </a:extLst>
          </p:cNvPr>
          <p:cNvSpPr/>
          <p:nvPr/>
        </p:nvSpPr>
        <p:spPr>
          <a:xfrm rot="16200000">
            <a:off x="5986462" y="138112"/>
            <a:ext cx="266700" cy="11858626"/>
          </a:xfrm>
          <a:prstGeom prst="leftBrace">
            <a:avLst>
              <a:gd name="adj1" fmla="val 1111607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589568F5-5868-3294-3C31-17A5FDD41A5D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133600" y="2902743"/>
            <a:ext cx="2698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4F6CE68-EEA8-34E0-28D3-C8C6A2C63BF4}"/>
              </a:ext>
            </a:extLst>
          </p:cNvPr>
          <p:cNvSpPr/>
          <p:nvPr/>
        </p:nvSpPr>
        <p:spPr>
          <a:xfrm>
            <a:off x="9928164" y="3048794"/>
            <a:ext cx="2131428" cy="28233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Système NoSQL</a:t>
            </a: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clickstream_events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sessions</a:t>
            </a: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fraud_features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model_scores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Données semi-structurées</a:t>
            </a: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86185C94-EE42-089C-D9CF-BBBFB32A4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8050" y="5541961"/>
            <a:ext cx="742950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0F43715B-89F2-484B-62DF-49D8ADE9A26C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133004" y="4681537"/>
            <a:ext cx="0" cy="835819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E6D3F390-C25A-8104-2A85-6A53D4ED01AD}"/>
              </a:ext>
            </a:extLst>
          </p:cNvPr>
          <p:cNvCxnSpPr>
            <a:cxnSpLocks/>
          </p:cNvCxnSpPr>
          <p:nvPr/>
        </p:nvCxnSpPr>
        <p:spPr>
          <a:xfrm flipV="1">
            <a:off x="1133004" y="5491162"/>
            <a:ext cx="8795160" cy="9524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1293A93-2EBD-0BC9-589E-7C63CAD37201}"/>
              </a:ext>
            </a:extLst>
          </p:cNvPr>
          <p:cNvSpPr/>
          <p:nvPr/>
        </p:nvSpPr>
        <p:spPr>
          <a:xfrm>
            <a:off x="7721037" y="1123949"/>
            <a:ext cx="1922960" cy="355758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Système OLAP</a:t>
            </a: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fact_transactions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dim_customer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dim_merchant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dim_invoice</a:t>
            </a:r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Schéma en étoile</a:t>
            </a:r>
          </a:p>
          <a:p>
            <a:pPr algn="ctr"/>
            <a:endParaRPr lang="fr-FR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AD32DD2-93BD-A781-EFE3-1FA81D99C199}"/>
              </a:ext>
            </a:extLst>
          </p:cNvPr>
          <p:cNvSpPr/>
          <p:nvPr/>
        </p:nvSpPr>
        <p:spPr>
          <a:xfrm>
            <a:off x="4834930" y="2312732"/>
            <a:ext cx="2455783" cy="13716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Pipeline « BATCH »</a:t>
            </a:r>
          </a:p>
          <a:p>
            <a:pPr algn="ctr"/>
            <a:endParaRPr lang="fr-FR" sz="1600" b="1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Chargement planifiée des données</a:t>
            </a:r>
          </a:p>
          <a:p>
            <a:pPr algn="ctr"/>
            <a:endParaRPr lang="fr-FR" sz="1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E38FB092-ADB6-EBE9-44B8-DD2D14387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483" y="4275242"/>
            <a:ext cx="840195" cy="20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146F78D-3A31-9A74-4C5B-1CDFAA557C4C}"/>
              </a:ext>
            </a:extLst>
          </p:cNvPr>
          <p:cNvSpPr/>
          <p:nvPr/>
        </p:nvSpPr>
        <p:spPr>
          <a:xfrm>
            <a:off x="9928164" y="392114"/>
            <a:ext cx="2131428" cy="23606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Machine Learning</a:t>
            </a: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Modèles de détection </a:t>
            </a:r>
            <a:r>
              <a:rPr lang="fr-FR" sz="1400" i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fraude</a:t>
            </a:r>
          </a:p>
          <a:p>
            <a:pPr algn="ctr"/>
            <a:endParaRPr lang="fr-FR" sz="1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AC5AA27B-1B56-807A-8AB6-1DBBD2198ADD}"/>
              </a:ext>
            </a:extLst>
          </p:cNvPr>
          <p:cNvSpPr/>
          <p:nvPr/>
        </p:nvSpPr>
        <p:spPr>
          <a:xfrm>
            <a:off x="4790591" y="198446"/>
            <a:ext cx="2593155" cy="1851021"/>
          </a:xfrm>
          <a:prstGeom prst="roundRect">
            <a:avLst/>
          </a:prstGeom>
          <a:solidFill>
            <a:srgbClr val="FEBD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DataVisualisation</a:t>
            </a:r>
            <a:endParaRPr lang="fr-FR" sz="1600" b="1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fr-FR" sz="1400" i="1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Reporting</a:t>
            </a:r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analytique et Monitoring Machine Learning</a:t>
            </a:r>
          </a:p>
          <a:p>
            <a:pPr algn="ctr"/>
            <a:endParaRPr lang="fr-FR" sz="1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fr-FR" sz="14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37" name="Picture 13">
            <a:extLst>
              <a:ext uri="{FF2B5EF4-FFF2-40B4-BE49-F238E27FC236}">
                <a16:creationId xmlns:a16="http://schemas.microsoft.com/office/drawing/2014/main" id="{5A63E2F9-3D6E-DA88-19C6-7C441FFDA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569" y="1494807"/>
            <a:ext cx="376853" cy="37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FE96CFD3-6CAD-B39D-8E81-3D30F4985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457" y="1453072"/>
            <a:ext cx="786807" cy="46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A9650AAB-2F06-EBA3-00E5-BD4C36460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0771" y="2224274"/>
            <a:ext cx="759104" cy="40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 descr="Ml Flow Wordmark Icon | Dashboard Icons">
            <a:extLst>
              <a:ext uri="{FF2B5EF4-FFF2-40B4-BE49-F238E27FC236}">
                <a16:creationId xmlns:a16="http://schemas.microsoft.com/office/drawing/2014/main" id="{706392B3-3DA7-74FA-D78F-D97774249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523" y="2344248"/>
            <a:ext cx="742950" cy="27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FF5F8B3C-A82B-A3D3-5F0D-3179F18ACDB6}"/>
              </a:ext>
            </a:extLst>
          </p:cNvPr>
          <p:cNvSpPr/>
          <p:nvPr/>
        </p:nvSpPr>
        <p:spPr>
          <a:xfrm>
            <a:off x="4834930" y="3698614"/>
            <a:ext cx="2455783" cy="137160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Pipeline « Temps Réel »</a:t>
            </a:r>
          </a:p>
          <a:p>
            <a:pPr algn="ctr"/>
            <a:endParaRPr lang="fr-FR" sz="1600" b="1" u="sng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fr-FR" sz="14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Flux d’évènements en streaming</a:t>
            </a:r>
          </a:p>
        </p:txBody>
      </p:sp>
      <p:pic>
        <p:nvPicPr>
          <p:cNvPr id="1055" name="Picture 31" descr="Debezium » ENC Teknoloji">
            <a:extLst>
              <a:ext uri="{FF2B5EF4-FFF2-40B4-BE49-F238E27FC236}">
                <a16:creationId xmlns:a16="http://schemas.microsoft.com/office/drawing/2014/main" id="{033CA07A-328A-0CA8-764F-B02C3FBAC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860" y="4589739"/>
            <a:ext cx="547689" cy="54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 descr="Kafka Logo PNG Transparent &amp; SVG Vector - Freebie Supply">
            <a:extLst>
              <a:ext uri="{FF2B5EF4-FFF2-40B4-BE49-F238E27FC236}">
                <a16:creationId xmlns:a16="http://schemas.microsoft.com/office/drawing/2014/main" id="{147A5F98-BB46-C5CF-75ED-C02EF2221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222" y="4703532"/>
            <a:ext cx="472322" cy="35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0354417C-07E2-ABA1-D42B-DB9F4DDDEB74}"/>
              </a:ext>
            </a:extLst>
          </p:cNvPr>
          <p:cNvCxnSpPr>
            <a:cxnSpLocks/>
          </p:cNvCxnSpPr>
          <p:nvPr/>
        </p:nvCxnSpPr>
        <p:spPr>
          <a:xfrm>
            <a:off x="4404606" y="3048794"/>
            <a:ext cx="43032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A011827B-3658-FC39-3A81-D84FA3323B2A}"/>
              </a:ext>
            </a:extLst>
          </p:cNvPr>
          <p:cNvCxnSpPr>
            <a:cxnSpLocks/>
          </p:cNvCxnSpPr>
          <p:nvPr/>
        </p:nvCxnSpPr>
        <p:spPr>
          <a:xfrm>
            <a:off x="7290713" y="3044672"/>
            <a:ext cx="43032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D117C85-EF29-CE2D-9308-E71ADF0F2B2B}"/>
              </a:ext>
            </a:extLst>
          </p:cNvPr>
          <p:cNvCxnSpPr>
            <a:cxnSpLocks/>
          </p:cNvCxnSpPr>
          <p:nvPr/>
        </p:nvCxnSpPr>
        <p:spPr>
          <a:xfrm>
            <a:off x="4417717" y="4191849"/>
            <a:ext cx="430324" cy="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3870C6AE-C395-0FD2-6B1D-1C5C89869705}"/>
              </a:ext>
            </a:extLst>
          </p:cNvPr>
          <p:cNvCxnSpPr>
            <a:cxnSpLocks/>
          </p:cNvCxnSpPr>
          <p:nvPr/>
        </p:nvCxnSpPr>
        <p:spPr>
          <a:xfrm>
            <a:off x="7597714" y="5218911"/>
            <a:ext cx="2330450" cy="5711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EB4DAD5E-96E6-B5AE-FF5C-C286B5B6DAE4}"/>
              </a:ext>
            </a:extLst>
          </p:cNvPr>
          <p:cNvCxnSpPr>
            <a:cxnSpLocks/>
          </p:cNvCxnSpPr>
          <p:nvPr/>
        </p:nvCxnSpPr>
        <p:spPr>
          <a:xfrm>
            <a:off x="7300900" y="4367110"/>
            <a:ext cx="316719" cy="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2372AFBA-75C8-3EFE-3AE5-E54F9E3DB366}"/>
              </a:ext>
            </a:extLst>
          </p:cNvPr>
          <p:cNvCxnSpPr>
            <a:cxnSpLocks/>
          </p:cNvCxnSpPr>
          <p:nvPr/>
        </p:nvCxnSpPr>
        <p:spPr>
          <a:xfrm>
            <a:off x="7597714" y="4367110"/>
            <a:ext cx="0" cy="87164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3FC4DA18-1922-BBC9-B429-413802040C62}"/>
              </a:ext>
            </a:extLst>
          </p:cNvPr>
          <p:cNvCxnSpPr>
            <a:cxnSpLocks/>
          </p:cNvCxnSpPr>
          <p:nvPr/>
        </p:nvCxnSpPr>
        <p:spPr>
          <a:xfrm>
            <a:off x="7383746" y="1702873"/>
            <a:ext cx="337291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4DF7CB1A-9DAA-66AC-FD29-E0B2C932FC25}"/>
              </a:ext>
            </a:extLst>
          </p:cNvPr>
          <p:cNvCxnSpPr>
            <a:cxnSpLocks/>
          </p:cNvCxnSpPr>
          <p:nvPr/>
        </p:nvCxnSpPr>
        <p:spPr>
          <a:xfrm>
            <a:off x="9658350" y="1940201"/>
            <a:ext cx="269814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eur droit avec flèche 1027">
            <a:extLst>
              <a:ext uri="{FF2B5EF4-FFF2-40B4-BE49-F238E27FC236}">
                <a16:creationId xmlns:a16="http://schemas.microsoft.com/office/drawing/2014/main" id="{D3273350-4F02-C07E-F6FC-B4A05AD1A575}"/>
              </a:ext>
            </a:extLst>
          </p:cNvPr>
          <p:cNvCxnSpPr>
            <a:cxnSpLocks/>
          </p:cNvCxnSpPr>
          <p:nvPr/>
        </p:nvCxnSpPr>
        <p:spPr>
          <a:xfrm>
            <a:off x="7383746" y="862215"/>
            <a:ext cx="254441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eur droit avec flèche 1033">
            <a:extLst>
              <a:ext uri="{FF2B5EF4-FFF2-40B4-BE49-F238E27FC236}">
                <a16:creationId xmlns:a16="http://schemas.microsoft.com/office/drawing/2014/main" id="{DF83F3DC-F18E-67B4-660E-427C63A9CB44}"/>
              </a:ext>
            </a:extLst>
          </p:cNvPr>
          <p:cNvCxnSpPr>
            <a:cxnSpLocks/>
          </p:cNvCxnSpPr>
          <p:nvPr/>
        </p:nvCxnSpPr>
        <p:spPr>
          <a:xfrm>
            <a:off x="11040848" y="2752725"/>
            <a:ext cx="0" cy="291947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40" name="Tableau 1039">
            <a:extLst>
              <a:ext uri="{FF2B5EF4-FFF2-40B4-BE49-F238E27FC236}">
                <a16:creationId xmlns:a16="http://schemas.microsoft.com/office/drawing/2014/main" id="{C9C1352F-7E68-13BA-C804-0EE62770D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339558"/>
              </p:ext>
            </p:extLst>
          </p:nvPr>
        </p:nvGraphicFramePr>
        <p:xfrm>
          <a:off x="653677" y="86676"/>
          <a:ext cx="228616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84">
                  <a:extLst>
                    <a:ext uri="{9D8B030D-6E8A-4147-A177-3AD203B41FA5}">
                      <a16:colId xmlns:a16="http://schemas.microsoft.com/office/drawing/2014/main" val="1821779774"/>
                    </a:ext>
                  </a:extLst>
                </a:gridCol>
                <a:gridCol w="1143084">
                  <a:extLst>
                    <a:ext uri="{9D8B030D-6E8A-4147-A177-3AD203B41FA5}">
                      <a16:colId xmlns:a16="http://schemas.microsoft.com/office/drawing/2014/main" val="3837909340"/>
                    </a:ext>
                  </a:extLst>
                </a:gridCol>
              </a:tblGrid>
              <a:tr h="188954">
                <a:tc>
                  <a:txBody>
                    <a:bodyPr/>
                    <a:lstStyle/>
                    <a:p>
                      <a:endParaRPr lang="fr-FR" sz="10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1" dirty="0">
                          <a:solidFill>
                            <a:schemeClr val="tx1"/>
                          </a:solidFill>
                        </a:rPr>
                        <a:t>Batch ETL/ELT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871341"/>
                  </a:ext>
                </a:extLst>
              </a:tr>
              <a:tr h="233720">
                <a:tc>
                  <a:txBody>
                    <a:bodyPr/>
                    <a:lstStyle/>
                    <a:p>
                      <a:endParaRPr lang="fr-FR" sz="10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1" dirty="0">
                          <a:solidFill>
                            <a:schemeClr val="tx1"/>
                          </a:solidFill>
                        </a:rPr>
                        <a:t>Temps réel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919861"/>
                  </a:ext>
                </a:extLst>
              </a:tr>
              <a:tr h="233720">
                <a:tc>
                  <a:txBody>
                    <a:bodyPr/>
                    <a:lstStyle/>
                    <a:p>
                      <a:endParaRPr lang="fr-FR" sz="10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0" i="1" dirty="0">
                          <a:solidFill>
                            <a:schemeClr val="tx1"/>
                          </a:solidFill>
                        </a:rPr>
                        <a:t>Machine Learning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95452"/>
                  </a:ext>
                </a:extLst>
              </a:tr>
              <a:tr h="233720">
                <a:tc>
                  <a:txBody>
                    <a:bodyPr/>
                    <a:lstStyle/>
                    <a:p>
                      <a:endParaRPr lang="fr-FR" sz="10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i="1" dirty="0">
                          <a:solidFill>
                            <a:schemeClr val="tx1"/>
                          </a:solidFill>
                        </a:rPr>
                        <a:t>Dashboard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096961"/>
                  </a:ext>
                </a:extLst>
              </a:tr>
            </a:tbl>
          </a:graphicData>
        </a:graphic>
      </p:graphicFrame>
      <p:cxnSp>
        <p:nvCxnSpPr>
          <p:cNvPr id="1042" name="Connecteur droit avec flèche 1041">
            <a:extLst>
              <a:ext uri="{FF2B5EF4-FFF2-40B4-BE49-F238E27FC236}">
                <a16:creationId xmlns:a16="http://schemas.microsoft.com/office/drawing/2014/main" id="{CE0397F9-AF3D-633F-6753-16BDD5B1CD6C}"/>
              </a:ext>
            </a:extLst>
          </p:cNvPr>
          <p:cNvCxnSpPr>
            <a:cxnSpLocks/>
          </p:cNvCxnSpPr>
          <p:nvPr/>
        </p:nvCxnSpPr>
        <p:spPr>
          <a:xfrm>
            <a:off x="1312360" y="198446"/>
            <a:ext cx="43032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Connecteur droit avec flèche 1043">
            <a:extLst>
              <a:ext uri="{FF2B5EF4-FFF2-40B4-BE49-F238E27FC236}">
                <a16:creationId xmlns:a16="http://schemas.microsoft.com/office/drawing/2014/main" id="{56A747C7-56A9-BB38-F1FF-61CBCD7C2E23}"/>
              </a:ext>
            </a:extLst>
          </p:cNvPr>
          <p:cNvCxnSpPr>
            <a:cxnSpLocks/>
          </p:cNvCxnSpPr>
          <p:nvPr/>
        </p:nvCxnSpPr>
        <p:spPr>
          <a:xfrm>
            <a:off x="1312360" y="453538"/>
            <a:ext cx="430324" cy="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Connecteur droit avec flèche 1045">
            <a:extLst>
              <a:ext uri="{FF2B5EF4-FFF2-40B4-BE49-F238E27FC236}">
                <a16:creationId xmlns:a16="http://schemas.microsoft.com/office/drawing/2014/main" id="{77D5A3BE-648D-3250-DDC5-403BDB572ABE}"/>
              </a:ext>
            </a:extLst>
          </p:cNvPr>
          <p:cNvCxnSpPr>
            <a:cxnSpLocks/>
          </p:cNvCxnSpPr>
          <p:nvPr/>
        </p:nvCxnSpPr>
        <p:spPr>
          <a:xfrm>
            <a:off x="1312360" y="690973"/>
            <a:ext cx="430324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eur droit avec flèche 1047">
            <a:extLst>
              <a:ext uri="{FF2B5EF4-FFF2-40B4-BE49-F238E27FC236}">
                <a16:creationId xmlns:a16="http://schemas.microsoft.com/office/drawing/2014/main" id="{F1A30EAC-9BE8-BFD7-BEFE-588B3BE8331F}"/>
              </a:ext>
            </a:extLst>
          </p:cNvPr>
          <p:cNvCxnSpPr>
            <a:cxnSpLocks/>
          </p:cNvCxnSpPr>
          <p:nvPr/>
        </p:nvCxnSpPr>
        <p:spPr>
          <a:xfrm>
            <a:off x="1312360" y="937288"/>
            <a:ext cx="4303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2" name="Picture 37" descr="Apache Airflow Documentation — Airflow Documentation">
            <a:extLst>
              <a:ext uri="{FF2B5EF4-FFF2-40B4-BE49-F238E27FC236}">
                <a16:creationId xmlns:a16="http://schemas.microsoft.com/office/drawing/2014/main" id="{F71A36B3-99C0-4E11-8007-50F0BA6CD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877" y="3317001"/>
            <a:ext cx="267154" cy="26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 descr="DBT Framework | DBT Machine Learning | Clariba SEIDOR">
            <a:extLst>
              <a:ext uri="{FF2B5EF4-FFF2-40B4-BE49-F238E27FC236}">
                <a16:creationId xmlns:a16="http://schemas.microsoft.com/office/drawing/2014/main" id="{F3FF7062-D9FE-FB88-089B-A2FE0E735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765" y="3348779"/>
            <a:ext cx="671499" cy="22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3564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114</Words>
  <Application>Microsoft Office PowerPoint</Application>
  <PresentationFormat>Grand écran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4</cp:revision>
  <dcterms:created xsi:type="dcterms:W3CDTF">2025-10-29T07:18:09Z</dcterms:created>
  <dcterms:modified xsi:type="dcterms:W3CDTF">2025-10-29T09:13:47Z</dcterms:modified>
</cp:coreProperties>
</file>