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63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62" r:id="rId11"/>
  </p:sldIdLst>
  <p:sldSz cx="9144000" cy="5143500" type="screen16x9"/>
  <p:notesSz cx="6858000" cy="9144000"/>
  <p:embeddedFontLst>
    <p:embeddedFont>
      <p:font typeface="Inter" panose="020B0604020202020204" charset="0"/>
      <p:regular r:id="rId13"/>
      <p:bold r:id="rId14"/>
      <p:italic r:id="rId15"/>
      <p:boldItalic r:id="rId16"/>
    </p:embeddedFont>
    <p:embeddedFont>
      <p:font typeface="Inter Medium" panose="020B0604020202020204" charset="0"/>
      <p:regular r:id="rId17"/>
      <p:bold r:id="rId18"/>
      <p:italic r:id="rId19"/>
      <p:boldItalic r:id="rId20"/>
    </p:embeddedFont>
    <p:embeddedFont>
      <p:font typeface="Inter SemiBold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F8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262" autoAdjust="0"/>
  </p:normalViewPr>
  <p:slideViewPr>
    <p:cSldViewPr snapToGrid="0">
      <p:cViewPr varScale="1">
        <p:scale>
          <a:sx n="118" d="100"/>
          <a:sy n="118" d="100"/>
        </p:scale>
        <p:origin x="1326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7af7a6a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7af7a6a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56175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8013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33158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83879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37934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96789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1288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80500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77ed9f117a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77ed9f117a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735474" y="2062825"/>
            <a:ext cx="8012525" cy="61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2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BLOC 1 – Gouvernance des données</a:t>
            </a:r>
            <a:br>
              <a:rPr lang="fr" sz="32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r>
              <a:rPr lang="fr" sz="3200" i="1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Spotify project</a:t>
            </a:r>
            <a:endParaRPr sz="3200" i="1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202664" y="4356125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CDSD - Loic Valentini – Décembre 2025</a:t>
            </a:r>
            <a:endParaRPr sz="1800" dirty="0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921B91B-F36A-9DD0-A880-2FD685970C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1</a:t>
            </a:fld>
            <a:endParaRPr lang="fr-FR" sz="1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ownload Spotify Piano And Headphones Wallpaper | Wallpapers.com">
            <a:extLst>
              <a:ext uri="{FF2B5EF4-FFF2-40B4-BE49-F238E27FC236}">
                <a16:creationId xmlns:a16="http://schemas.microsoft.com/office/drawing/2014/main" id="{363272C3-539E-51AF-46F3-708A3D0DE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9932" y="-647363"/>
            <a:ext cx="9580738" cy="6372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 donnée au cœur de Spotify</a:t>
            </a: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897364" y="1202551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Spotify = leader mondial du streaming musical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450 M d’utilisateurs dans 180 pays → un géant de la donnée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Des données critiques : utilisateurs, artistes, playlists, comportements d’écoute…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Enjeu du projet : </a:t>
            </a: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garantir qualité, conformité, éthique et valeur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Démarche en 3 étapes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	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	Diagnostic de maturité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	Conception du cadre de gouvernance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	Implémentation pilote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587691" y="2248260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2;p15">
            <a:extLst>
              <a:ext uri="{FF2B5EF4-FFF2-40B4-BE49-F238E27FC236}">
                <a16:creationId xmlns:a16="http://schemas.microsoft.com/office/drawing/2014/main" id="{081DBEE9-5635-AACD-58A1-43551D1D74EC}"/>
              </a:ext>
            </a:extLst>
          </p:cNvPr>
          <p:cNvSpPr/>
          <p:nvPr/>
        </p:nvSpPr>
        <p:spPr>
          <a:xfrm rot="21244006">
            <a:off x="602322" y="3107155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2</a:t>
            </a:fld>
            <a:endParaRPr lang="fr-FR" sz="1600" b="1" dirty="0"/>
          </a:p>
        </p:txBody>
      </p:sp>
      <p:sp>
        <p:nvSpPr>
          <p:cNvPr id="4" name="Google Shape;72;p15">
            <a:extLst>
              <a:ext uri="{FF2B5EF4-FFF2-40B4-BE49-F238E27FC236}">
                <a16:creationId xmlns:a16="http://schemas.microsoft.com/office/drawing/2014/main" id="{86DF4206-AF67-86AF-7D42-74587E50A435}"/>
              </a:ext>
            </a:extLst>
          </p:cNvPr>
          <p:cNvSpPr/>
          <p:nvPr/>
        </p:nvSpPr>
        <p:spPr>
          <a:xfrm rot="21244006">
            <a:off x="602322" y="1392014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72;p15">
            <a:extLst>
              <a:ext uri="{FF2B5EF4-FFF2-40B4-BE49-F238E27FC236}">
                <a16:creationId xmlns:a16="http://schemas.microsoft.com/office/drawing/2014/main" id="{79B2BA53-0D1D-DB2D-2121-183359741742}"/>
              </a:ext>
            </a:extLst>
          </p:cNvPr>
          <p:cNvSpPr/>
          <p:nvPr/>
        </p:nvSpPr>
        <p:spPr>
          <a:xfrm rot="21244006">
            <a:off x="602323" y="1838511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72;p15">
            <a:extLst>
              <a:ext uri="{FF2B5EF4-FFF2-40B4-BE49-F238E27FC236}">
                <a16:creationId xmlns:a16="http://schemas.microsoft.com/office/drawing/2014/main" id="{7F506FAC-9834-B603-3795-D5D664FD1F52}"/>
              </a:ext>
            </a:extLst>
          </p:cNvPr>
          <p:cNvSpPr/>
          <p:nvPr/>
        </p:nvSpPr>
        <p:spPr>
          <a:xfrm rot="21244006">
            <a:off x="602321" y="2658899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E4E85E7-5B69-A303-9483-1210D30234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18" y="4814042"/>
            <a:ext cx="881333" cy="265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1548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ownload Spotify Piano And Headphones Wallpaper | Wallpapers.com">
            <a:extLst>
              <a:ext uri="{FF2B5EF4-FFF2-40B4-BE49-F238E27FC236}">
                <a16:creationId xmlns:a16="http://schemas.microsoft.com/office/drawing/2014/main" id="{363272C3-539E-51AF-46F3-708A3D0DE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9932" y="-647363"/>
            <a:ext cx="9580738" cy="6372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Diagnostic de maturité : Etat initial</a:t>
            </a: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897364" y="1202551"/>
            <a:ext cx="3804109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Maturité globale : 2 à 3 / 5 → conscience mais pratiques hétérogènes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Forces : culture data, sécurité technique solide, conformité amorcée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Faiblesses : silos, absence de catalogue, qualité non mesurée, gouvernance réactive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Aucune mention de la dimension « métadonnées »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3</a:t>
            </a:fld>
            <a:endParaRPr lang="fr-FR" sz="1600" b="1" dirty="0"/>
          </a:p>
        </p:txBody>
      </p:sp>
      <p:sp>
        <p:nvSpPr>
          <p:cNvPr id="4" name="Google Shape;72;p15">
            <a:extLst>
              <a:ext uri="{FF2B5EF4-FFF2-40B4-BE49-F238E27FC236}">
                <a16:creationId xmlns:a16="http://schemas.microsoft.com/office/drawing/2014/main" id="{86DF4206-AF67-86AF-7D42-74587E50A435}"/>
              </a:ext>
            </a:extLst>
          </p:cNvPr>
          <p:cNvSpPr/>
          <p:nvPr/>
        </p:nvSpPr>
        <p:spPr>
          <a:xfrm rot="21244006">
            <a:off x="602322" y="1392014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72;p15">
            <a:extLst>
              <a:ext uri="{FF2B5EF4-FFF2-40B4-BE49-F238E27FC236}">
                <a16:creationId xmlns:a16="http://schemas.microsoft.com/office/drawing/2014/main" id="{79B2BA53-0D1D-DB2D-2121-183359741742}"/>
              </a:ext>
            </a:extLst>
          </p:cNvPr>
          <p:cNvSpPr/>
          <p:nvPr/>
        </p:nvSpPr>
        <p:spPr>
          <a:xfrm rot="21244006">
            <a:off x="602322" y="2040920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72;p15">
            <a:extLst>
              <a:ext uri="{FF2B5EF4-FFF2-40B4-BE49-F238E27FC236}">
                <a16:creationId xmlns:a16="http://schemas.microsoft.com/office/drawing/2014/main" id="{7F506FAC-9834-B603-3795-D5D664FD1F52}"/>
              </a:ext>
            </a:extLst>
          </p:cNvPr>
          <p:cNvSpPr/>
          <p:nvPr/>
        </p:nvSpPr>
        <p:spPr>
          <a:xfrm rot="21244006">
            <a:off x="602321" y="2658899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E4E85E7-5B69-A303-9483-1210D30234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18" y="4814042"/>
            <a:ext cx="881333" cy="265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CC50AE5F-7B41-DB58-0853-5813B803509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4761" y="1276149"/>
            <a:ext cx="4206397" cy="250800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72;p15">
            <a:extLst>
              <a:ext uri="{FF2B5EF4-FFF2-40B4-BE49-F238E27FC236}">
                <a16:creationId xmlns:a16="http://schemas.microsoft.com/office/drawing/2014/main" id="{75EAAA05-F43E-FE1B-7651-289972DBDCF2}"/>
              </a:ext>
            </a:extLst>
          </p:cNvPr>
          <p:cNvSpPr/>
          <p:nvPr/>
        </p:nvSpPr>
        <p:spPr>
          <a:xfrm rot="21244006">
            <a:off x="602322" y="3504010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1067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ownload Spotify Piano And Headphones Wallpaper | Wallpapers.com">
            <a:extLst>
              <a:ext uri="{FF2B5EF4-FFF2-40B4-BE49-F238E27FC236}">
                <a16:creationId xmlns:a16="http://schemas.microsoft.com/office/drawing/2014/main" id="{363272C3-539E-51AF-46F3-708A3D0DE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9932" y="-647363"/>
            <a:ext cx="9580738" cy="6372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 nécessité d’une gouvernance structurée</a:t>
            </a: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897364" y="1202551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Fragmentation et absence de vision unifiée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Risque de non-conformité aux règlementations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Manque de qualité, traçabilité et de rôles définis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Culture data inégale selon les métiers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→ L’ambition est de transformer cette culture data spontanée en culture gouvernée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587691" y="2248260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4</a:t>
            </a:fld>
            <a:endParaRPr lang="fr-FR" sz="1600" b="1" dirty="0"/>
          </a:p>
        </p:txBody>
      </p:sp>
      <p:sp>
        <p:nvSpPr>
          <p:cNvPr id="4" name="Google Shape;72;p15">
            <a:extLst>
              <a:ext uri="{FF2B5EF4-FFF2-40B4-BE49-F238E27FC236}">
                <a16:creationId xmlns:a16="http://schemas.microsoft.com/office/drawing/2014/main" id="{86DF4206-AF67-86AF-7D42-74587E50A435}"/>
              </a:ext>
            </a:extLst>
          </p:cNvPr>
          <p:cNvSpPr/>
          <p:nvPr/>
        </p:nvSpPr>
        <p:spPr>
          <a:xfrm rot="21244006">
            <a:off x="602322" y="1392014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72;p15">
            <a:extLst>
              <a:ext uri="{FF2B5EF4-FFF2-40B4-BE49-F238E27FC236}">
                <a16:creationId xmlns:a16="http://schemas.microsoft.com/office/drawing/2014/main" id="{79B2BA53-0D1D-DB2D-2121-183359741742}"/>
              </a:ext>
            </a:extLst>
          </p:cNvPr>
          <p:cNvSpPr/>
          <p:nvPr/>
        </p:nvSpPr>
        <p:spPr>
          <a:xfrm rot="21244006">
            <a:off x="602323" y="1838511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72;p15">
            <a:extLst>
              <a:ext uri="{FF2B5EF4-FFF2-40B4-BE49-F238E27FC236}">
                <a16:creationId xmlns:a16="http://schemas.microsoft.com/office/drawing/2014/main" id="{7F506FAC-9834-B603-3795-D5D664FD1F52}"/>
              </a:ext>
            </a:extLst>
          </p:cNvPr>
          <p:cNvSpPr/>
          <p:nvPr/>
        </p:nvSpPr>
        <p:spPr>
          <a:xfrm rot="21244006">
            <a:off x="602321" y="2658899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E4E85E7-5B69-A303-9483-1210D30234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18" y="4814042"/>
            <a:ext cx="881333" cy="265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5875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ownload Spotify Piano And Headphones Wallpaper | Wallpapers.com">
            <a:extLst>
              <a:ext uri="{FF2B5EF4-FFF2-40B4-BE49-F238E27FC236}">
                <a16:creationId xmlns:a16="http://schemas.microsoft.com/office/drawing/2014/main" id="{363272C3-539E-51AF-46F3-708A3D0DE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9932" y="-647363"/>
            <a:ext cx="9580738" cy="6372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Conception du nouveau cadre de gouvernance</a:t>
            </a: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865238" y="933956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Principes directeurs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5</a:t>
            </a:fld>
            <a:endParaRPr lang="fr-FR" sz="1600" b="1" dirty="0"/>
          </a:p>
        </p:txBody>
      </p:sp>
      <p:sp>
        <p:nvSpPr>
          <p:cNvPr id="4" name="Google Shape;72;p15">
            <a:extLst>
              <a:ext uri="{FF2B5EF4-FFF2-40B4-BE49-F238E27FC236}">
                <a16:creationId xmlns:a16="http://schemas.microsoft.com/office/drawing/2014/main" id="{86DF4206-AF67-86AF-7D42-74587E50A435}"/>
              </a:ext>
            </a:extLst>
          </p:cNvPr>
          <p:cNvSpPr/>
          <p:nvPr/>
        </p:nvSpPr>
        <p:spPr>
          <a:xfrm rot="21244006">
            <a:off x="602323" y="1123188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E4E85E7-5B69-A303-9483-1210D30234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18" y="4814042"/>
            <a:ext cx="881333" cy="265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F2818D33-F29E-DF3B-7DDB-542C896F51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1742710"/>
              </p:ext>
            </p:extLst>
          </p:nvPr>
        </p:nvGraphicFramePr>
        <p:xfrm>
          <a:off x="876497" y="1415496"/>
          <a:ext cx="7870311" cy="21135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3437">
                  <a:extLst>
                    <a:ext uri="{9D8B030D-6E8A-4147-A177-3AD203B41FA5}">
                      <a16:colId xmlns:a16="http://schemas.microsoft.com/office/drawing/2014/main" val="3714998518"/>
                    </a:ext>
                  </a:extLst>
                </a:gridCol>
                <a:gridCol w="2623437">
                  <a:extLst>
                    <a:ext uri="{9D8B030D-6E8A-4147-A177-3AD203B41FA5}">
                      <a16:colId xmlns:a16="http://schemas.microsoft.com/office/drawing/2014/main" val="3131412689"/>
                    </a:ext>
                  </a:extLst>
                </a:gridCol>
                <a:gridCol w="2623437">
                  <a:extLst>
                    <a:ext uri="{9D8B030D-6E8A-4147-A177-3AD203B41FA5}">
                      <a16:colId xmlns:a16="http://schemas.microsoft.com/office/drawing/2014/main" val="566892022"/>
                    </a:ext>
                  </a:extLst>
                </a:gridCol>
              </a:tblGrid>
              <a:tr h="704514">
                <a:tc>
                  <a:txBody>
                    <a:bodyPr/>
                    <a:lstStyle/>
                    <a:p>
                      <a:pPr algn="ctr"/>
                      <a:r>
                        <a:rPr lang="fr-FR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Inter Medium" panose="020B0604020202020204" charset="0"/>
                          <a:ea typeface="Inter Medium" panose="020B0604020202020204" charset="0"/>
                        </a:rPr>
                        <a:t>Responsabilité</a:t>
                      </a:r>
                    </a:p>
                    <a:p>
                      <a:pPr algn="ctr"/>
                      <a:r>
                        <a:rPr lang="fr-FR" sz="1200" b="0" i="1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Inter Medium" panose="020B0604020202020204" charset="0"/>
                          <a:ea typeface="Inter Medium" panose="020B0604020202020204" charset="0"/>
                        </a:rPr>
                        <a:t>Rôles clairs (CDO, DPO…)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Inter Medium" panose="020B0604020202020204" charset="0"/>
                          <a:ea typeface="Inter Medium" panose="020B0604020202020204" charset="0"/>
                        </a:rPr>
                        <a:t>Transparence</a:t>
                      </a:r>
                    </a:p>
                    <a:p>
                      <a:pPr algn="ctr"/>
                      <a:r>
                        <a:rPr lang="fr-FR" sz="1200" b="0" i="1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Inter Medium" panose="020B0604020202020204" charset="0"/>
                          <a:ea typeface="Inter Medium" panose="020B0604020202020204" charset="0"/>
                        </a:rPr>
                        <a:t>Informations claires et traçabilité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Inter Medium" panose="020B0604020202020204" charset="0"/>
                          <a:ea typeface="Inter Medium" panose="020B0604020202020204" charset="0"/>
                        </a:rPr>
                        <a:t>Sécurité</a:t>
                      </a:r>
                    </a:p>
                    <a:p>
                      <a:pPr algn="ctr"/>
                      <a:r>
                        <a:rPr lang="fr-FR" sz="1200" b="0" i="1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Inter Medium" panose="020B0604020202020204" charset="0"/>
                          <a:ea typeface="Inter Medium" panose="020B0604020202020204" charset="0"/>
                        </a:rPr>
                        <a:t>Contrôle d’accès, cryptage, audits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3719467"/>
                  </a:ext>
                </a:extLst>
              </a:tr>
              <a:tr h="704514">
                <a:tc>
                  <a:txBody>
                    <a:bodyPr/>
                    <a:lstStyle/>
                    <a:p>
                      <a:pPr algn="ctr"/>
                      <a:r>
                        <a:rPr lang="fr-FR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Inter Medium" panose="020B0604020202020204" charset="0"/>
                          <a:ea typeface="Inter Medium" panose="020B0604020202020204" charset="0"/>
                        </a:rPr>
                        <a:t>Qualité</a:t>
                      </a:r>
                    </a:p>
                    <a:p>
                      <a:pPr algn="ctr"/>
                      <a:r>
                        <a:rPr lang="fr-FR" sz="1200" b="0" i="1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Inter Medium" panose="020B0604020202020204" charset="0"/>
                          <a:ea typeface="Inter Medium" panose="020B0604020202020204" charset="0"/>
                        </a:rPr>
                        <a:t>Indicateurs, nettoyage, supervision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Inter Medium" panose="020B0604020202020204" charset="0"/>
                          <a:ea typeface="Inter Medium" panose="020B0604020202020204" charset="0"/>
                        </a:rPr>
                        <a:t>Conformité</a:t>
                      </a:r>
                    </a:p>
                    <a:p>
                      <a:pPr algn="ctr"/>
                      <a:r>
                        <a:rPr lang="fr-FR" sz="1200" b="0" i="1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Inter Medium" panose="020B0604020202020204" charset="0"/>
                          <a:ea typeface="Inter Medium" panose="020B0604020202020204" charset="0"/>
                        </a:rPr>
                        <a:t>Respect RGPD / CCPA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Inter Medium" panose="020B0604020202020204" charset="0"/>
                          <a:ea typeface="Inter Medium" panose="020B0604020202020204" charset="0"/>
                        </a:rPr>
                        <a:t>Minimisation</a:t>
                      </a:r>
                    </a:p>
                    <a:p>
                      <a:pPr algn="ctr"/>
                      <a:r>
                        <a:rPr lang="fr-FR" sz="1200" b="0" i="1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Inter Medium" panose="020B0604020202020204" charset="0"/>
                          <a:ea typeface="Inter Medium" panose="020B0604020202020204" charset="0"/>
                        </a:rPr>
                        <a:t>Collecte stricte, suppression programmée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494882"/>
                  </a:ext>
                </a:extLst>
              </a:tr>
              <a:tr h="704514">
                <a:tc>
                  <a:txBody>
                    <a:bodyPr/>
                    <a:lstStyle/>
                    <a:p>
                      <a:pPr algn="ctr"/>
                      <a:r>
                        <a:rPr lang="fr-FR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Inter Medium" panose="020B0604020202020204" charset="0"/>
                          <a:ea typeface="Inter Medium" panose="020B0604020202020204" charset="0"/>
                        </a:rPr>
                        <a:t>Respect des droits</a:t>
                      </a:r>
                    </a:p>
                    <a:p>
                      <a:pPr algn="ctr"/>
                      <a:r>
                        <a:rPr lang="fr-FR" sz="1200" b="0" i="1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Inter Medium" panose="020B0604020202020204" charset="0"/>
                          <a:ea typeface="Inter Medium" panose="020B0604020202020204" charset="0"/>
                        </a:rPr>
                        <a:t>Contrôle total sur leurs données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Inter Medium" panose="020B0604020202020204" charset="0"/>
                          <a:ea typeface="Inter Medium" panose="020B0604020202020204" charset="0"/>
                        </a:rPr>
                        <a:t>Amélioration continue</a:t>
                      </a:r>
                    </a:p>
                    <a:p>
                      <a:pPr algn="ctr"/>
                      <a:r>
                        <a:rPr lang="fr-FR" sz="1200" b="0" i="1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Inter Medium" panose="020B0604020202020204" charset="0"/>
                          <a:ea typeface="Inter Medium" panose="020B0604020202020204" charset="0"/>
                        </a:rPr>
                        <a:t>Révisions annuelles, feedbacks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Inter Medium" panose="020B0604020202020204" charset="0"/>
                          <a:ea typeface="Inter Medium" panose="020B0604020202020204" charset="0"/>
                        </a:rPr>
                        <a:t>Ethique &amp; IA responsable</a:t>
                      </a:r>
                    </a:p>
                    <a:p>
                      <a:pPr algn="ctr"/>
                      <a:r>
                        <a:rPr lang="fr-FR" sz="1200" b="0" i="1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Inter Medium" panose="020B0604020202020204" charset="0"/>
                          <a:ea typeface="Inter Medium" panose="020B0604020202020204" charset="0"/>
                        </a:rPr>
                        <a:t>Au-delà de la loi : Biais, cas d’usage sensibles, revue éthique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4125383"/>
                  </a:ext>
                </a:extLst>
              </a:tr>
            </a:tbl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72E42800-A50F-28F0-1290-E1D0C228FA3A}"/>
              </a:ext>
            </a:extLst>
          </p:cNvPr>
          <p:cNvSpPr txBox="1"/>
          <p:nvPr/>
        </p:nvSpPr>
        <p:spPr>
          <a:xfrm>
            <a:off x="849984" y="3801212"/>
            <a:ext cx="79233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latin typeface="Inter Medium" panose="020B0604020202020204" charset="0"/>
                <a:ea typeface="Inter Medium" panose="020B0604020202020204" charset="0"/>
              </a:rPr>
              <a:t>Ce nouveau cadre global éthique, transparent et conforme assure la qualité, la sécurité et la maîtrise de l’information tout en soutenant l’innovation. </a:t>
            </a:r>
            <a:r>
              <a:rPr lang="fr-FR" b="1" u="sng" dirty="0">
                <a:latin typeface="Inter Medium" panose="020B0604020202020204" charset="0"/>
                <a:ea typeface="Inter Medium" panose="020B0604020202020204" charset="0"/>
              </a:rPr>
              <a:t>A réviser régulièrement !</a:t>
            </a:r>
          </a:p>
        </p:txBody>
      </p:sp>
    </p:spTree>
    <p:extLst>
      <p:ext uri="{BB962C8B-B14F-4D97-AF65-F5344CB8AC3E}">
        <p14:creationId xmlns:p14="http://schemas.microsoft.com/office/powerpoint/2010/main" val="3211445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ownload Spotify Piano And Headphones Wallpaper | Wallpapers.com">
            <a:extLst>
              <a:ext uri="{FF2B5EF4-FFF2-40B4-BE49-F238E27FC236}">
                <a16:creationId xmlns:a16="http://schemas.microsoft.com/office/drawing/2014/main" id="{363272C3-539E-51AF-46F3-708A3D0DE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9932" y="-647363"/>
            <a:ext cx="9580738" cy="6372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Rôles et responsabilités : un travail collectif</a:t>
            </a: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6</a:t>
            </a:fld>
            <a:endParaRPr lang="fr-FR" sz="1600" b="1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E4E85E7-5B69-A303-9483-1210D30234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18" y="4814042"/>
            <a:ext cx="881333" cy="265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3DB953F-9555-1774-C3A6-7DE659D985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9989" y="716175"/>
            <a:ext cx="7041942" cy="399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214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ownload Spotify Piano And Headphones Wallpaper | Wallpapers.com">
            <a:extLst>
              <a:ext uri="{FF2B5EF4-FFF2-40B4-BE49-F238E27FC236}">
                <a16:creationId xmlns:a16="http://schemas.microsoft.com/office/drawing/2014/main" id="{363272C3-539E-51AF-46F3-708A3D0DE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9932" y="-647363"/>
            <a:ext cx="9580738" cy="6372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Choix opérationnels</a:t>
            </a: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927187" y="1093366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Modèle du </a:t>
            </a: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Centre d’Excellence (</a:t>
            </a:r>
            <a:r>
              <a:rPr lang="fr-FR" sz="1400" b="1" dirty="0" err="1">
                <a:latin typeface="Inter Medium" panose="020B0604020202020204" charset="0"/>
                <a:ea typeface="Inter Medium" panose="020B0604020202020204" charset="0"/>
              </a:rPr>
              <a:t>CoE</a:t>
            </a: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)</a:t>
            </a:r>
            <a:b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	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→ pilotage centralisé, exécution décentralisée, accompagnement métier.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Outils retenus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b="1">
                <a:latin typeface="Inter Medium" panose="020B0604020202020204" charset="0"/>
                <a:ea typeface="Inter Medium" panose="020B0604020202020204" charset="0"/>
              </a:rPr>
              <a:t>Alation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– Catalogue et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lineage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b="1" dirty="0" err="1">
                <a:latin typeface="Inter Medium" panose="020B0604020202020204" charset="0"/>
                <a:ea typeface="Inter Medium" panose="020B0604020202020204" charset="0"/>
              </a:rPr>
              <a:t>Ataccama</a:t>
            </a: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 ONE 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– Qualité automatisée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b="1" dirty="0" err="1">
                <a:latin typeface="Inter Medium" panose="020B0604020202020204" charset="0"/>
                <a:ea typeface="Inter Medium" panose="020B0604020202020204" charset="0"/>
              </a:rPr>
              <a:t>OneTrust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– Conformité RGPD/CCPA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Splunk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– Sécurité et supervision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Power BI 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– Suivi des indicateurs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Notion + Jira 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– Documentation et pilotage projet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Des outils modernes, intégrés et accessibles pour rendre la gouvernance concrète</a:t>
            </a: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602322" y="1935241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7</a:t>
            </a:fld>
            <a:endParaRPr lang="fr-FR" sz="1600" b="1" dirty="0"/>
          </a:p>
        </p:txBody>
      </p:sp>
      <p:sp>
        <p:nvSpPr>
          <p:cNvPr id="4" name="Google Shape;72;p15">
            <a:extLst>
              <a:ext uri="{FF2B5EF4-FFF2-40B4-BE49-F238E27FC236}">
                <a16:creationId xmlns:a16="http://schemas.microsoft.com/office/drawing/2014/main" id="{86DF4206-AF67-86AF-7D42-74587E50A435}"/>
              </a:ext>
            </a:extLst>
          </p:cNvPr>
          <p:cNvSpPr/>
          <p:nvPr/>
        </p:nvSpPr>
        <p:spPr>
          <a:xfrm rot="21244006">
            <a:off x="602321" y="1294910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72;p15">
            <a:extLst>
              <a:ext uri="{FF2B5EF4-FFF2-40B4-BE49-F238E27FC236}">
                <a16:creationId xmlns:a16="http://schemas.microsoft.com/office/drawing/2014/main" id="{7F506FAC-9834-B603-3795-D5D664FD1F52}"/>
              </a:ext>
            </a:extLst>
          </p:cNvPr>
          <p:cNvSpPr/>
          <p:nvPr/>
        </p:nvSpPr>
        <p:spPr>
          <a:xfrm rot="21244006">
            <a:off x="602321" y="4030857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E4E85E7-5B69-A303-9483-1210D30234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18" y="4814042"/>
            <a:ext cx="881333" cy="265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973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ownload Spotify Piano And Headphones Wallpaper | Wallpapers.com">
            <a:extLst>
              <a:ext uri="{FF2B5EF4-FFF2-40B4-BE49-F238E27FC236}">
                <a16:creationId xmlns:a16="http://schemas.microsoft.com/office/drawing/2014/main" id="{363272C3-539E-51AF-46F3-708A3D0DE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9932" y="-647363"/>
            <a:ext cx="9580738" cy="6372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Le projet pilote « User Engagement Data »</a:t>
            </a: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927187" y="1093366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Un périmètre restreint : données d’engagement (écoutes, interactions, feedbacks)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Livrables : Rapports qualité, DPIA,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dashboard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Power BI, retours utilisateurs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Approche agile : 6 semaines, jalons précis, retour d’expérience intégré.</a:t>
            </a: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602321" y="3624089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8</a:t>
            </a:fld>
            <a:endParaRPr lang="fr-FR" sz="1600" b="1" dirty="0"/>
          </a:p>
        </p:txBody>
      </p:sp>
      <p:sp>
        <p:nvSpPr>
          <p:cNvPr id="4" name="Google Shape;72;p15">
            <a:extLst>
              <a:ext uri="{FF2B5EF4-FFF2-40B4-BE49-F238E27FC236}">
                <a16:creationId xmlns:a16="http://schemas.microsoft.com/office/drawing/2014/main" id="{86DF4206-AF67-86AF-7D42-74587E50A435}"/>
              </a:ext>
            </a:extLst>
          </p:cNvPr>
          <p:cNvSpPr/>
          <p:nvPr/>
        </p:nvSpPr>
        <p:spPr>
          <a:xfrm rot="21244006">
            <a:off x="602321" y="1294910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72;p15">
            <a:extLst>
              <a:ext uri="{FF2B5EF4-FFF2-40B4-BE49-F238E27FC236}">
                <a16:creationId xmlns:a16="http://schemas.microsoft.com/office/drawing/2014/main" id="{7F506FAC-9834-B603-3795-D5D664FD1F52}"/>
              </a:ext>
            </a:extLst>
          </p:cNvPr>
          <p:cNvSpPr/>
          <p:nvPr/>
        </p:nvSpPr>
        <p:spPr>
          <a:xfrm rot="21244006">
            <a:off x="602321" y="4030857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E4E85E7-5B69-A303-9483-1210D30234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18" y="4814042"/>
            <a:ext cx="881333" cy="265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8B808436-3605-FB1B-0509-3E69B8CD70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104206"/>
              </p:ext>
            </p:extLst>
          </p:nvPr>
        </p:nvGraphicFramePr>
        <p:xfrm>
          <a:off x="927187" y="1709996"/>
          <a:ext cx="7808360" cy="14378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4180">
                  <a:extLst>
                    <a:ext uri="{9D8B030D-6E8A-4147-A177-3AD203B41FA5}">
                      <a16:colId xmlns:a16="http://schemas.microsoft.com/office/drawing/2014/main" val="1957631831"/>
                    </a:ext>
                  </a:extLst>
                </a:gridCol>
                <a:gridCol w="3904180">
                  <a:extLst>
                    <a:ext uri="{9D8B030D-6E8A-4147-A177-3AD203B41FA5}">
                      <a16:colId xmlns:a16="http://schemas.microsoft.com/office/drawing/2014/main" val="1643544201"/>
                    </a:ext>
                  </a:extLst>
                </a:gridCol>
              </a:tblGrid>
              <a:tr h="479269">
                <a:tc gridSpan="2">
                  <a:txBody>
                    <a:bodyPr/>
                    <a:lstStyle/>
                    <a:p>
                      <a:pPr algn="ctr"/>
                      <a:r>
                        <a:rPr lang="fr-FR" sz="1800" b="0" u="sng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Inter Medium" panose="020B0604020202020204" charset="0"/>
                          <a:ea typeface="Inter Medium" panose="020B0604020202020204" charset="0"/>
                        </a:rPr>
                        <a:t>KPIs clés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032681"/>
                  </a:ext>
                </a:extLst>
              </a:tr>
              <a:tr h="479269">
                <a:tc>
                  <a:txBody>
                    <a:bodyPr/>
                    <a:lstStyle/>
                    <a:p>
                      <a:pPr algn="ctr"/>
                      <a:r>
                        <a:rPr lang="fr-FR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Inter Medium" panose="020B0604020202020204" charset="0"/>
                          <a:ea typeface="Inter Medium" panose="020B0604020202020204" charset="0"/>
                        </a:rPr>
                        <a:t>+25% complétude des données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Inter Medium" panose="020B0604020202020204" charset="0"/>
                          <a:ea typeface="Inter Medium" panose="020B0604020202020204" charset="0"/>
                        </a:rPr>
                        <a:t>95% de conformité des consentements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7545762"/>
                  </a:ext>
                </a:extLst>
              </a:tr>
              <a:tr h="479269">
                <a:tc>
                  <a:txBody>
                    <a:bodyPr/>
                    <a:lstStyle/>
                    <a:p>
                      <a:pPr algn="ctr"/>
                      <a:r>
                        <a:rPr lang="fr-FR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Inter Medium" panose="020B0604020202020204" charset="0"/>
                          <a:ea typeface="Inter Medium" panose="020B0604020202020204" charset="0"/>
                        </a:rPr>
                        <a:t>-70% de délai d’accès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Inter Medium" panose="020B0604020202020204" charset="0"/>
                          <a:ea typeface="Inter Medium" panose="020B0604020202020204" charset="0"/>
                        </a:rPr>
                        <a:t>100% des jeux documentés dans </a:t>
                      </a:r>
                      <a:r>
                        <a:rPr lang="fr-FR" b="0" cap="none" spc="0" dirty="0" err="1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Inter Medium" panose="020B0604020202020204" charset="0"/>
                          <a:ea typeface="Inter Medium" panose="020B0604020202020204" charset="0"/>
                        </a:rPr>
                        <a:t>Alation</a:t>
                      </a:r>
                      <a:endParaRPr lang="fr-FR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721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7398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ownload Spotify Piano And Headphones Wallpaper | Wallpapers.com">
            <a:extLst>
              <a:ext uri="{FF2B5EF4-FFF2-40B4-BE49-F238E27FC236}">
                <a16:creationId xmlns:a16="http://schemas.microsoft.com/office/drawing/2014/main" id="{363272C3-539E-51AF-46F3-708A3D0DE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9932" y="-647363"/>
            <a:ext cx="9580738" cy="6372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Vision d’avenir</a:t>
            </a: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927187" y="1093366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Spotify dispose désormais d’un cadre robuste, mesurable et duplicable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Prochaines étapes :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→ Extension à d’autres domaines (métadonnées, publicités, IA)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→ Gouvernance continue et data littéracie à grande échelle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→ Vers un approche data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mesh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gouvernée 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602322" y="1721577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9</a:t>
            </a:fld>
            <a:endParaRPr lang="fr-FR" sz="1600" b="1" dirty="0"/>
          </a:p>
        </p:txBody>
      </p:sp>
      <p:sp>
        <p:nvSpPr>
          <p:cNvPr id="4" name="Google Shape;72;p15">
            <a:extLst>
              <a:ext uri="{FF2B5EF4-FFF2-40B4-BE49-F238E27FC236}">
                <a16:creationId xmlns:a16="http://schemas.microsoft.com/office/drawing/2014/main" id="{86DF4206-AF67-86AF-7D42-74587E50A435}"/>
              </a:ext>
            </a:extLst>
          </p:cNvPr>
          <p:cNvSpPr/>
          <p:nvPr/>
        </p:nvSpPr>
        <p:spPr>
          <a:xfrm rot="21244006">
            <a:off x="602321" y="1294910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E4E85E7-5B69-A303-9483-1210D30234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18" y="4814042"/>
            <a:ext cx="881333" cy="265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1A0BC910-46CD-F270-1EFC-C9C1E5A68B73}"/>
              </a:ext>
            </a:extLst>
          </p:cNvPr>
          <p:cNvSpPr/>
          <p:nvPr/>
        </p:nvSpPr>
        <p:spPr>
          <a:xfrm>
            <a:off x="600604" y="3617140"/>
            <a:ext cx="2021215" cy="868947"/>
          </a:xfrm>
          <a:prstGeom prst="roundRect">
            <a:avLst/>
          </a:prstGeom>
          <a:solidFill>
            <a:srgbClr val="48F87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800" dirty="0">
                <a:solidFill>
                  <a:schemeClr val="tx1"/>
                </a:solidFill>
                <a:latin typeface="Inter Medium" panose="020B0604020202020204" charset="0"/>
                <a:ea typeface="Inter Medium" panose="020B0604020202020204" charset="0"/>
              </a:rPr>
              <a:t>Données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777930B4-6F43-5926-B307-CDBADEA0E3CF}"/>
              </a:ext>
            </a:extLst>
          </p:cNvPr>
          <p:cNvSpPr/>
          <p:nvPr/>
        </p:nvSpPr>
        <p:spPr>
          <a:xfrm>
            <a:off x="3606573" y="3615660"/>
            <a:ext cx="2021215" cy="868947"/>
          </a:xfrm>
          <a:prstGeom prst="roundRect">
            <a:avLst/>
          </a:prstGeom>
          <a:solidFill>
            <a:srgbClr val="48F87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800" dirty="0">
                <a:solidFill>
                  <a:schemeClr val="tx1"/>
                </a:solidFill>
                <a:latin typeface="Inter Medium" panose="020B0604020202020204" charset="0"/>
                <a:ea typeface="Inter Medium" panose="020B0604020202020204" charset="0"/>
              </a:rPr>
              <a:t>Confiance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7225618A-D3F7-A30B-D9C7-5E322E9478EC}"/>
              </a:ext>
            </a:extLst>
          </p:cNvPr>
          <p:cNvSpPr/>
          <p:nvPr/>
        </p:nvSpPr>
        <p:spPr>
          <a:xfrm>
            <a:off x="6612542" y="3615659"/>
            <a:ext cx="2021215" cy="868947"/>
          </a:xfrm>
          <a:prstGeom prst="roundRect">
            <a:avLst/>
          </a:prstGeom>
          <a:solidFill>
            <a:srgbClr val="48F87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800" dirty="0">
                <a:solidFill>
                  <a:schemeClr val="tx1"/>
                </a:solidFill>
                <a:latin typeface="Inter Medium" panose="020B0604020202020204" charset="0"/>
                <a:ea typeface="Inter Medium" panose="020B0604020202020204" charset="0"/>
              </a:rPr>
              <a:t>Performance</a:t>
            </a: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CC3CF024-7F2F-A5FA-78B8-980CFDFEAB7A}"/>
              </a:ext>
            </a:extLst>
          </p:cNvPr>
          <p:cNvCxnSpPr>
            <a:stCxn id="2" idx="3"/>
            <a:endCxn id="3" idx="1"/>
          </p:cNvCxnSpPr>
          <p:nvPr/>
        </p:nvCxnSpPr>
        <p:spPr>
          <a:xfrm flipV="1">
            <a:off x="2621819" y="4050134"/>
            <a:ext cx="984754" cy="14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F8544574-BD3D-0B9C-DA74-5AE49AB10540}"/>
              </a:ext>
            </a:extLst>
          </p:cNvPr>
          <p:cNvCxnSpPr/>
          <p:nvPr/>
        </p:nvCxnSpPr>
        <p:spPr>
          <a:xfrm flipV="1">
            <a:off x="5627788" y="4050132"/>
            <a:ext cx="984754" cy="14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8264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DBD0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ctrTitle" idx="4294967295"/>
          </p:nvPr>
        </p:nvSpPr>
        <p:spPr>
          <a:xfrm>
            <a:off x="1235600" y="1742168"/>
            <a:ext cx="5315100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5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Merci !</a:t>
            </a:r>
            <a:endParaRPr sz="56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3E3B375-4397-CD72-E602-C59A61DC41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10</a:t>
            </a:fld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</TotalTime>
  <Words>577</Words>
  <Application>Microsoft Office PowerPoint</Application>
  <PresentationFormat>Affichage à l'écran (16:9)</PresentationFormat>
  <Paragraphs>55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Inter SemiBold</vt:lpstr>
      <vt:lpstr>Inter</vt:lpstr>
      <vt:lpstr>Inter Medium</vt:lpstr>
      <vt:lpstr>Arial</vt:lpstr>
      <vt:lpstr>Simple Light</vt:lpstr>
      <vt:lpstr>BLOC 1 – Gouvernance des données Spotify project</vt:lpstr>
      <vt:lpstr>La donnée au cœur de Spotify</vt:lpstr>
      <vt:lpstr>Diagnostic de maturité : Etat initial</vt:lpstr>
      <vt:lpstr>La nécessité d’une gouvernance structurée</vt:lpstr>
      <vt:lpstr>Conception du nouveau cadre de gouvernance</vt:lpstr>
      <vt:lpstr>Rôles et responsabilités : un travail collectif</vt:lpstr>
      <vt:lpstr>Choix opérationnels</vt:lpstr>
      <vt:lpstr>Le projet pilote « User Engagement Data »</vt:lpstr>
      <vt:lpstr>Vision d’avenir</vt:lpstr>
      <vt:lpstr>Merci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Loic Valentini</dc:creator>
  <cp:lastModifiedBy>Loic Valentini</cp:lastModifiedBy>
  <cp:revision>21</cp:revision>
  <dcterms:modified xsi:type="dcterms:W3CDTF">2025-12-08T15:15:52Z</dcterms:modified>
</cp:coreProperties>
</file>