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8" r:id="rId4"/>
    <p:sldId id="257" r:id="rId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7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65F915E-14A1-A8C6-AECD-23D22A837D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0ABB29D-048B-2666-E28C-63720E3C14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660A301-3BAF-92F5-3DF4-1D3F9985D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06B2C-3CAE-4EA5-9F5D-D2B76FE68327}" type="datetimeFigureOut">
              <a:rPr lang="fr-FR" smtClean="0"/>
              <a:t>25/09/2025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91F1883-B26C-04A8-E3F8-F1063C44E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10604D9-518D-912A-8A95-56B4726F7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431AC-1916-4283-82BC-E62042D2375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167463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033A3B7-59FA-D636-D728-59C93D9DB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8DE5192-AB9B-3E46-3471-6011BBBC94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A75D85E-3002-1E68-6C41-525180C233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06B2C-3CAE-4EA5-9F5D-D2B76FE68327}" type="datetimeFigureOut">
              <a:rPr lang="fr-FR" smtClean="0"/>
              <a:t>25/09/2025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A7E1B3C-EF1D-78F8-F791-3D24D4B531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18DE61E-B3B3-AE20-F36B-1211F8D93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431AC-1916-4283-82BC-E62042D2375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14142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7341235-3FAA-A02C-20EC-ADAAF44CC1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662FAA8-A084-47D4-C724-85D671748E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CCBFC70-A1BA-B2BC-E4A3-E83941CF5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06B2C-3CAE-4EA5-9F5D-D2B76FE68327}" type="datetimeFigureOut">
              <a:rPr lang="fr-FR" smtClean="0"/>
              <a:t>25/09/2025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602B18C-2B68-C696-F2E7-A0EC1CAC8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98B58CC-A8D3-9D28-949C-E2F425FE5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431AC-1916-4283-82BC-E62042D2375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470784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669870-03E0-B489-3146-0DD9A5AE1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DD28E3D-F3A4-B300-C767-32EC014909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5B8D74C-E664-FF23-4316-13D7758C9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D9BF863-D2DA-E6FA-FE03-92D6BDF59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06B2C-3CAE-4EA5-9F5D-D2B76FE68327}" type="datetimeFigureOut">
              <a:rPr lang="fr-FR" smtClean="0"/>
              <a:t>25/09/2025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87141F7-771B-C472-1971-6F5E4F114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0C6F2C9-FA36-A694-294F-75EDD38B6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431AC-1916-4283-82BC-E62042D2375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566279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F52B77E-C350-BB6F-AEAA-A27ED4BA0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B476AB5-637A-C0A3-D36C-F634FAEF0B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2515AD9-D1A5-0588-4A72-4CDFF6D6E2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A810A8BC-B1BF-2A2F-A1B2-E02AA11A3C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9FCB0C38-B6DE-638E-0E79-EB330318E3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9C659D4D-58D8-C1F3-6E06-06BABF831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06B2C-3CAE-4EA5-9F5D-D2B76FE68327}" type="datetimeFigureOut">
              <a:rPr lang="fr-FR" smtClean="0"/>
              <a:t>25/09/2025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5A303E0F-C0A3-7CB5-BC48-C8705AF27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910A1534-EAB4-7862-6EC3-9F1B51D90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431AC-1916-4283-82BC-E62042D2375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23434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84D8FFF-89B5-952E-051B-E1E967773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F502DE16-6ECD-3D2D-3AFE-8E5484D15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06B2C-3CAE-4EA5-9F5D-D2B76FE68327}" type="datetimeFigureOut">
              <a:rPr lang="fr-FR" smtClean="0"/>
              <a:t>25/09/2025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06E1146-6A62-34E7-6883-28A8550EE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927CD0F-6E69-D6F9-4F83-9E0CC5B97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431AC-1916-4283-82BC-E62042D2375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354117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D22B2E6A-D46E-829C-AFFC-9CF8A5A1F1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06B2C-3CAE-4EA5-9F5D-D2B76FE68327}" type="datetimeFigureOut">
              <a:rPr lang="fr-FR" smtClean="0"/>
              <a:t>25/09/2025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BFD77778-8AB2-A420-51C7-AD6FC4A6F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70F25D9-7A72-A450-2B15-99E88D8C8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431AC-1916-4283-82BC-E62042D2375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752399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A1439D8-8AA2-1E17-BDC9-821A3D2CD1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B877BB0-6F62-D847-A319-1ABCDF3F75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89E340A-B1EA-61BB-DF87-DC9B5488C9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34102A2-AEF2-68CF-41E6-A2ECADE5D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06B2C-3CAE-4EA5-9F5D-D2B76FE68327}" type="datetimeFigureOut">
              <a:rPr lang="fr-FR" smtClean="0"/>
              <a:t>25/09/2025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9C4B215-1558-29DA-F911-F01022908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5ED257F-6EA7-11CE-B200-8B1F84CA4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431AC-1916-4283-82BC-E62042D2375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663552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F8335B6-A23B-C039-5227-2C84B74048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FCC3948C-ADDD-5508-BF94-8F7943CAB1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A3CC504-C17B-55B2-4B36-46B86B7624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B64D0CC-D855-991D-A8E8-154453397A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06B2C-3CAE-4EA5-9F5D-D2B76FE68327}" type="datetimeFigureOut">
              <a:rPr lang="fr-FR" smtClean="0"/>
              <a:t>25/09/2025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B0FC709-B08F-1198-A05A-A3A08F36F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DD3AB8F-C105-6D05-F24F-E1FB22FFE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431AC-1916-4283-82BC-E62042D2375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710009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9BAA35-8083-7454-8FBB-EFFE87CA46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0AA7DB0-78D7-57BF-D68D-DC94917C54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3955490-333C-B380-AF5A-045552C37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06B2C-3CAE-4EA5-9F5D-D2B76FE68327}" type="datetimeFigureOut">
              <a:rPr lang="fr-FR" smtClean="0"/>
              <a:t>25/09/2025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59F5F67-64EE-432B-6E87-152B09651E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EB8A1F8-1F07-CD4E-ABA4-D80D275C5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431AC-1916-4283-82BC-E62042D2375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671765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2FE2AD27-3977-6E9F-C19C-7E400D2904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3B01797-D3D3-76CE-4A53-B741D58D32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BC4C48F-34EF-1E31-6C54-3BE488A05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06B2C-3CAE-4EA5-9F5D-D2B76FE68327}" type="datetimeFigureOut">
              <a:rPr lang="fr-FR" smtClean="0"/>
              <a:t>25/09/2025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4F890FA-8A73-3077-D3E9-5F64C29B9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31A52F4-A1B8-E29C-9E44-8D37D9E68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431AC-1916-4283-82BC-E62042D2375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60651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A6E05967-AFCF-2C2C-27F1-C41308296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B7DF904-171E-3FFC-8DB2-9315F13D39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9271CCD-986E-E6B5-3923-A02BF4D8BF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006B2C-3CAE-4EA5-9F5D-D2B76FE68327}" type="datetimeFigureOut">
              <a:rPr lang="fr-FR" smtClean="0"/>
              <a:t>25/09/2025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C0ECE1E-D7BC-A60C-1205-1FE19ACD36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A7DBB03-D705-2E21-93ED-6ED12C7C94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2431AC-1916-4283-82BC-E62042D2375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151025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5.png"/><Relationship Id="rId7" Type="http://schemas.openxmlformats.org/officeDocument/2006/relationships/image" Target="../media/image1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5.png"/><Relationship Id="rId10" Type="http://schemas.openxmlformats.org/officeDocument/2006/relationships/image" Target="../media/image2.png"/><Relationship Id="rId4" Type="http://schemas.openxmlformats.org/officeDocument/2006/relationships/image" Target="../media/image4.png"/><Relationship Id="rId9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12" Type="http://schemas.openxmlformats.org/officeDocument/2006/relationships/image" Target="../media/image18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17.jpe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3.png"/><Relationship Id="rId9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 : coins arrondis 33">
            <a:extLst>
              <a:ext uri="{FF2B5EF4-FFF2-40B4-BE49-F238E27FC236}">
                <a16:creationId xmlns:a16="http://schemas.microsoft.com/office/drawing/2014/main" id="{19B64958-A94E-3082-E6A1-5BD49869E165}"/>
              </a:ext>
            </a:extLst>
          </p:cNvPr>
          <p:cNvSpPr/>
          <p:nvPr/>
        </p:nvSpPr>
        <p:spPr>
          <a:xfrm>
            <a:off x="6096000" y="3510469"/>
            <a:ext cx="7073900" cy="419660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" name="Rectangle : coins arrondis 32">
            <a:extLst>
              <a:ext uri="{FF2B5EF4-FFF2-40B4-BE49-F238E27FC236}">
                <a16:creationId xmlns:a16="http://schemas.microsoft.com/office/drawing/2014/main" id="{0F162917-FA4B-824B-A7EB-24A87FF935C6}"/>
              </a:ext>
            </a:extLst>
          </p:cNvPr>
          <p:cNvSpPr/>
          <p:nvPr/>
        </p:nvSpPr>
        <p:spPr>
          <a:xfrm>
            <a:off x="6083946" y="-690087"/>
            <a:ext cx="7073900" cy="4196604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2" name="Rectangle : coins arrondis 31">
            <a:extLst>
              <a:ext uri="{FF2B5EF4-FFF2-40B4-BE49-F238E27FC236}">
                <a16:creationId xmlns:a16="http://schemas.microsoft.com/office/drawing/2014/main" id="{7D8C01F7-3320-A992-F50E-7DF88286AB39}"/>
              </a:ext>
            </a:extLst>
          </p:cNvPr>
          <p:cNvSpPr/>
          <p:nvPr/>
        </p:nvSpPr>
        <p:spPr>
          <a:xfrm>
            <a:off x="-977900" y="3480363"/>
            <a:ext cx="7073900" cy="4196604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" name="Rectangle : coins arrondis 30">
            <a:extLst>
              <a:ext uri="{FF2B5EF4-FFF2-40B4-BE49-F238E27FC236}">
                <a16:creationId xmlns:a16="http://schemas.microsoft.com/office/drawing/2014/main" id="{AC76F097-BDE6-22D5-9207-141A0D12B108}"/>
              </a:ext>
            </a:extLst>
          </p:cNvPr>
          <p:cNvSpPr/>
          <p:nvPr/>
        </p:nvSpPr>
        <p:spPr>
          <a:xfrm>
            <a:off x="-977900" y="-704850"/>
            <a:ext cx="7073900" cy="419660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Ellipse 23">
            <a:extLst>
              <a:ext uri="{FF2B5EF4-FFF2-40B4-BE49-F238E27FC236}">
                <a16:creationId xmlns:a16="http://schemas.microsoft.com/office/drawing/2014/main" id="{FBBF0187-3782-DD68-6886-37CAA740B228}"/>
              </a:ext>
            </a:extLst>
          </p:cNvPr>
          <p:cNvSpPr/>
          <p:nvPr/>
        </p:nvSpPr>
        <p:spPr>
          <a:xfrm>
            <a:off x="4743272" y="2167834"/>
            <a:ext cx="2927931" cy="2544900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1FCF6BC-7BFB-AD24-A4E0-CE84C4A3A2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8629" y="3073209"/>
            <a:ext cx="1898666" cy="734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Why we Invested in Neon - M12">
            <a:extLst>
              <a:ext uri="{FF2B5EF4-FFF2-40B4-BE49-F238E27FC236}">
                <a16:creationId xmlns:a16="http://schemas.microsoft.com/office/drawing/2014/main" id="{FC354FBA-6247-189D-8F65-B7CFD3D64D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4227" y="5156267"/>
            <a:ext cx="1165278" cy="494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Api - Icônes ui gratuites">
            <a:extLst>
              <a:ext uri="{FF2B5EF4-FFF2-40B4-BE49-F238E27FC236}">
                <a16:creationId xmlns:a16="http://schemas.microsoft.com/office/drawing/2014/main" id="{E0729101-BC7F-6237-F3B9-6B817300EF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4862" y="1200737"/>
            <a:ext cx="986115" cy="9861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C41A3D41-7F0F-4EE4-EB94-491C92911C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9707" y="4120980"/>
            <a:ext cx="1134187" cy="6118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MLflow — a modern MLOps tool for data project collaboration | by Hong  Nguyen | SFU Professional Computer Science | Medium">
            <a:extLst>
              <a:ext uri="{FF2B5EF4-FFF2-40B4-BE49-F238E27FC236}">
                <a16:creationId xmlns:a16="http://schemas.microsoft.com/office/drawing/2014/main" id="{D87E8C90-475C-B99C-8FE4-F8A325D637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8345" y="4781611"/>
            <a:ext cx="1242732" cy="4801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>
            <a:extLst>
              <a:ext uri="{FF2B5EF4-FFF2-40B4-BE49-F238E27FC236}">
                <a16:creationId xmlns:a16="http://schemas.microsoft.com/office/drawing/2014/main" id="{C5DA6877-52A7-E732-DB07-822F811F7C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0858" y="733830"/>
            <a:ext cx="731388" cy="731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8" name="Picture 24">
            <a:extLst>
              <a:ext uri="{FF2B5EF4-FFF2-40B4-BE49-F238E27FC236}">
                <a16:creationId xmlns:a16="http://schemas.microsoft.com/office/drawing/2014/main" id="{679386F7-740E-1933-9FD7-25B4ED2556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21742" y="2134433"/>
            <a:ext cx="1250236" cy="731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A43DF3AC-3FC9-298E-2F4F-D19454F9CB1D}"/>
              </a:ext>
            </a:extLst>
          </p:cNvPr>
          <p:cNvSpPr txBox="1"/>
          <p:nvPr/>
        </p:nvSpPr>
        <p:spPr>
          <a:xfrm>
            <a:off x="79769" y="1442362"/>
            <a:ext cx="24462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b="1" i="1" dirty="0" err="1"/>
              <a:t>History</a:t>
            </a:r>
            <a:r>
              <a:rPr lang="fr-FR" sz="1100" b="1" i="1" dirty="0"/>
              <a:t> </a:t>
            </a:r>
            <a:r>
              <a:rPr lang="fr-FR" sz="1100" b="1" i="1" dirty="0" err="1"/>
              <a:t>database</a:t>
            </a:r>
            <a:endParaRPr lang="fr-FR" sz="1100" b="1" i="1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B2FE09CD-C582-E190-90D9-2C79F0C8B316}"/>
              </a:ext>
            </a:extLst>
          </p:cNvPr>
          <p:cNvSpPr txBox="1"/>
          <p:nvPr/>
        </p:nvSpPr>
        <p:spPr>
          <a:xfrm>
            <a:off x="2631879" y="837914"/>
            <a:ext cx="24462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b="1" i="1" dirty="0"/>
              <a:t>Real-Time API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C83BBBA1-175A-C1C2-5136-6D2F80A94A3F}"/>
              </a:ext>
            </a:extLst>
          </p:cNvPr>
          <p:cNvSpPr txBox="1"/>
          <p:nvPr/>
        </p:nvSpPr>
        <p:spPr>
          <a:xfrm>
            <a:off x="79769" y="231064"/>
            <a:ext cx="24462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u="sng" dirty="0">
                <a:solidFill>
                  <a:srgbClr val="FF0000"/>
                </a:solidFill>
              </a:rPr>
              <a:t>Data Sources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0C23B9D5-3C57-2FCE-E322-E4963F6B7824}"/>
              </a:ext>
            </a:extLst>
          </p:cNvPr>
          <p:cNvSpPr txBox="1"/>
          <p:nvPr/>
        </p:nvSpPr>
        <p:spPr>
          <a:xfrm>
            <a:off x="142759" y="6023261"/>
            <a:ext cx="24462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u="sng" dirty="0">
                <a:solidFill>
                  <a:srgbClr val="FF0000"/>
                </a:solidFill>
              </a:rPr>
              <a:t>Machine Learning</a:t>
            </a:r>
          </a:p>
        </p:txBody>
      </p:sp>
      <p:pic>
        <p:nvPicPr>
          <p:cNvPr id="1056" name="Picture 32" descr="Database Icons - Free SVG &amp; PNG Database Images - Noun Project">
            <a:extLst>
              <a:ext uri="{FF2B5EF4-FFF2-40B4-BE49-F238E27FC236}">
                <a16:creationId xmlns:a16="http://schemas.microsoft.com/office/drawing/2014/main" id="{1047CF3E-64AA-B9F0-EF27-25DDCD54CF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879" y="1771487"/>
            <a:ext cx="986116" cy="9861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4" name="Picture 40" descr="Machine Learning Icon - Free Download Science &amp; Technology Icons | IconScout">
            <a:extLst>
              <a:ext uri="{FF2B5EF4-FFF2-40B4-BE49-F238E27FC236}">
                <a16:creationId xmlns:a16="http://schemas.microsoft.com/office/drawing/2014/main" id="{C85F6B9E-E947-982A-3B3C-D874575A35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460947" y="4217717"/>
            <a:ext cx="137352" cy="137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8" name="Picture 44" descr="Python logo - Icônes Médias sociaux et logos">
            <a:extLst>
              <a:ext uri="{FF2B5EF4-FFF2-40B4-BE49-F238E27FC236}">
                <a16:creationId xmlns:a16="http://schemas.microsoft.com/office/drawing/2014/main" id="{787C8B72-916D-2ABF-0357-C8B8100770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5314" y="3948425"/>
            <a:ext cx="463647" cy="463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ZoneTexte 20">
            <a:extLst>
              <a:ext uri="{FF2B5EF4-FFF2-40B4-BE49-F238E27FC236}">
                <a16:creationId xmlns:a16="http://schemas.microsoft.com/office/drawing/2014/main" id="{55F13B9B-66FD-B63A-4CD1-8EC8538B7019}"/>
              </a:ext>
            </a:extLst>
          </p:cNvPr>
          <p:cNvSpPr txBox="1"/>
          <p:nvPr/>
        </p:nvSpPr>
        <p:spPr>
          <a:xfrm>
            <a:off x="11559339" y="253684"/>
            <a:ext cx="24462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u="sng" dirty="0">
                <a:solidFill>
                  <a:srgbClr val="FF0000"/>
                </a:solidFill>
              </a:rPr>
              <a:t>User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28EFA2C5-9436-42B5-E0FC-25289A01F5D7}"/>
              </a:ext>
            </a:extLst>
          </p:cNvPr>
          <p:cNvSpPr txBox="1"/>
          <p:nvPr/>
        </p:nvSpPr>
        <p:spPr>
          <a:xfrm>
            <a:off x="11382774" y="6026722"/>
            <a:ext cx="24462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u="sng" dirty="0">
                <a:solidFill>
                  <a:srgbClr val="FF0000"/>
                </a:solidFill>
              </a:rPr>
              <a:t>Storage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36BE535F-6CFD-DECB-C1A8-8C879F5C325E}"/>
              </a:ext>
            </a:extLst>
          </p:cNvPr>
          <p:cNvSpPr txBox="1"/>
          <p:nvPr/>
        </p:nvSpPr>
        <p:spPr>
          <a:xfrm>
            <a:off x="5087501" y="2622203"/>
            <a:ext cx="24462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u="sng" dirty="0">
                <a:solidFill>
                  <a:srgbClr val="FF0000"/>
                </a:solidFill>
              </a:rPr>
              <a:t>Workflow orchestration</a:t>
            </a:r>
          </a:p>
        </p:txBody>
      </p:sp>
      <p:pic>
        <p:nvPicPr>
          <p:cNvPr id="1070" name="Picture 46" descr="Machine learning model&quot; Icon - Download for free – Iconduck">
            <a:extLst>
              <a:ext uri="{FF2B5EF4-FFF2-40B4-BE49-F238E27FC236}">
                <a16:creationId xmlns:a16="http://schemas.microsoft.com/office/drawing/2014/main" id="{ADE9EFAB-9C79-0FE8-5A99-DADA44CC5F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921" y="5088826"/>
            <a:ext cx="921615" cy="9216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ZoneTexte 34">
            <a:extLst>
              <a:ext uri="{FF2B5EF4-FFF2-40B4-BE49-F238E27FC236}">
                <a16:creationId xmlns:a16="http://schemas.microsoft.com/office/drawing/2014/main" id="{DC7B7B57-F41A-F651-86C3-805798669547}"/>
              </a:ext>
            </a:extLst>
          </p:cNvPr>
          <p:cNvSpPr txBox="1"/>
          <p:nvPr/>
        </p:nvSpPr>
        <p:spPr>
          <a:xfrm>
            <a:off x="2693904" y="5459512"/>
            <a:ext cx="244623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i="1" dirty="0" err="1"/>
              <a:t>Performed</a:t>
            </a:r>
            <a:r>
              <a:rPr lang="fr-FR" sz="1100" b="1" i="1" dirty="0"/>
              <a:t> on </a:t>
            </a:r>
            <a:r>
              <a:rPr lang="fr-FR" sz="1100" b="1" i="1" dirty="0" err="1"/>
              <a:t>scikit-learn</a:t>
            </a:r>
            <a:br>
              <a:rPr lang="fr-FR" sz="1100" b="1" i="1" dirty="0"/>
            </a:br>
            <a:r>
              <a:rPr lang="fr-FR" sz="1100" b="1" i="1" dirty="0" err="1"/>
              <a:t>Tracked</a:t>
            </a:r>
            <a:r>
              <a:rPr lang="fr-FR" sz="1100" b="1" i="1" dirty="0"/>
              <a:t> on </a:t>
            </a:r>
            <a:r>
              <a:rPr lang="fr-FR" sz="1100" b="1" i="1" dirty="0" err="1"/>
              <a:t>Mlflow</a:t>
            </a:r>
            <a:endParaRPr lang="fr-FR" sz="1100" b="1" i="1" dirty="0"/>
          </a:p>
        </p:txBody>
      </p:sp>
      <p:pic>
        <p:nvPicPr>
          <p:cNvPr id="1076" name="Picture 52">
            <a:extLst>
              <a:ext uri="{FF2B5EF4-FFF2-40B4-BE49-F238E27FC236}">
                <a16:creationId xmlns:a16="http://schemas.microsoft.com/office/drawing/2014/main" id="{D3E5469D-F32C-8BE8-F13F-002C047683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4865" y="5015244"/>
            <a:ext cx="817841" cy="978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0" name="Picture 56">
            <a:extLst>
              <a:ext uri="{FF2B5EF4-FFF2-40B4-BE49-F238E27FC236}">
                <a16:creationId xmlns:a16="http://schemas.microsoft.com/office/drawing/2014/main" id="{22E30CB2-448C-FAB5-7FF3-57F2F9C677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81631" y="4275132"/>
            <a:ext cx="2052184" cy="5472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2" name="Picture 58" descr="Fraud detection - Free business and finance icons">
            <a:extLst>
              <a:ext uri="{FF2B5EF4-FFF2-40B4-BE49-F238E27FC236}">
                <a16:creationId xmlns:a16="http://schemas.microsoft.com/office/drawing/2014/main" id="{0679B57B-6262-9482-DA1C-57242BC067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2394" y="1391127"/>
            <a:ext cx="914586" cy="9145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0" name="Connecteur droit avec flèche 39">
            <a:extLst>
              <a:ext uri="{FF2B5EF4-FFF2-40B4-BE49-F238E27FC236}">
                <a16:creationId xmlns:a16="http://schemas.microsoft.com/office/drawing/2014/main" id="{04F2E30A-197C-C8FF-1779-FF4BFA75C4F5}"/>
              </a:ext>
            </a:extLst>
          </p:cNvPr>
          <p:cNvCxnSpPr>
            <a:cxnSpLocks/>
          </p:cNvCxnSpPr>
          <p:nvPr/>
        </p:nvCxnSpPr>
        <p:spPr>
          <a:xfrm>
            <a:off x="3936745" y="1881438"/>
            <a:ext cx="948717" cy="8170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eur droit avec flèche 40">
            <a:extLst>
              <a:ext uri="{FF2B5EF4-FFF2-40B4-BE49-F238E27FC236}">
                <a16:creationId xmlns:a16="http://schemas.microsoft.com/office/drawing/2014/main" id="{9FD35E68-3A49-6DEB-A70D-3AC4DBD1C5F9}"/>
              </a:ext>
            </a:extLst>
          </p:cNvPr>
          <p:cNvCxnSpPr>
            <a:cxnSpLocks/>
          </p:cNvCxnSpPr>
          <p:nvPr/>
        </p:nvCxnSpPr>
        <p:spPr>
          <a:xfrm>
            <a:off x="1245140" y="2698449"/>
            <a:ext cx="1516204" cy="14225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eur droit avec flèche 42">
            <a:extLst>
              <a:ext uri="{FF2B5EF4-FFF2-40B4-BE49-F238E27FC236}">
                <a16:creationId xmlns:a16="http://schemas.microsoft.com/office/drawing/2014/main" id="{38B47C95-B0C3-22A2-F990-10176E5ABF06}"/>
              </a:ext>
            </a:extLst>
          </p:cNvPr>
          <p:cNvCxnSpPr>
            <a:cxnSpLocks/>
          </p:cNvCxnSpPr>
          <p:nvPr/>
        </p:nvCxnSpPr>
        <p:spPr>
          <a:xfrm>
            <a:off x="5012535" y="5146207"/>
            <a:ext cx="1931412" cy="3112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eur droit avec flèche 44">
            <a:extLst>
              <a:ext uri="{FF2B5EF4-FFF2-40B4-BE49-F238E27FC236}">
                <a16:creationId xmlns:a16="http://schemas.microsoft.com/office/drawing/2014/main" id="{25E08704-2F4C-EA8A-CCCD-C82911362BFD}"/>
              </a:ext>
            </a:extLst>
          </p:cNvPr>
          <p:cNvCxnSpPr>
            <a:cxnSpLocks/>
          </p:cNvCxnSpPr>
          <p:nvPr/>
        </p:nvCxnSpPr>
        <p:spPr>
          <a:xfrm>
            <a:off x="6923371" y="4681221"/>
            <a:ext cx="229538" cy="3103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eur droit avec flèche 48">
            <a:extLst>
              <a:ext uri="{FF2B5EF4-FFF2-40B4-BE49-F238E27FC236}">
                <a16:creationId xmlns:a16="http://schemas.microsoft.com/office/drawing/2014/main" id="{808740E2-D960-5D5E-DCFB-792FD4E0D93D}"/>
              </a:ext>
            </a:extLst>
          </p:cNvPr>
          <p:cNvCxnSpPr>
            <a:cxnSpLocks/>
          </p:cNvCxnSpPr>
          <p:nvPr/>
        </p:nvCxnSpPr>
        <p:spPr>
          <a:xfrm>
            <a:off x="7692652" y="4093802"/>
            <a:ext cx="881670" cy="9278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eur droit avec flèche 50">
            <a:extLst>
              <a:ext uri="{FF2B5EF4-FFF2-40B4-BE49-F238E27FC236}">
                <a16:creationId xmlns:a16="http://schemas.microsoft.com/office/drawing/2014/main" id="{4347B41C-D9B5-8592-957D-643A87D93228}"/>
              </a:ext>
            </a:extLst>
          </p:cNvPr>
          <p:cNvCxnSpPr>
            <a:cxnSpLocks/>
          </p:cNvCxnSpPr>
          <p:nvPr/>
        </p:nvCxnSpPr>
        <p:spPr>
          <a:xfrm flipV="1">
            <a:off x="7529232" y="2004753"/>
            <a:ext cx="805500" cy="6174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ZoneTexte 53">
            <a:extLst>
              <a:ext uri="{FF2B5EF4-FFF2-40B4-BE49-F238E27FC236}">
                <a16:creationId xmlns:a16="http://schemas.microsoft.com/office/drawing/2014/main" id="{0A6CA2BD-D2AC-D0E8-B396-ED646079321C}"/>
              </a:ext>
            </a:extLst>
          </p:cNvPr>
          <p:cNvSpPr txBox="1"/>
          <p:nvPr/>
        </p:nvSpPr>
        <p:spPr>
          <a:xfrm>
            <a:off x="8233033" y="1021470"/>
            <a:ext cx="24462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b="1" i="1" dirty="0" err="1"/>
              <a:t>Fraud</a:t>
            </a:r>
            <a:r>
              <a:rPr lang="fr-FR" sz="1100" b="1" i="1" dirty="0"/>
              <a:t> </a:t>
            </a:r>
            <a:r>
              <a:rPr lang="fr-FR" sz="1100" b="1" i="1" dirty="0" err="1"/>
              <a:t>Detection</a:t>
            </a:r>
            <a:endParaRPr lang="fr-FR" sz="1100" b="1" i="1" dirty="0"/>
          </a:p>
        </p:txBody>
      </p:sp>
      <p:cxnSp>
        <p:nvCxnSpPr>
          <p:cNvPr id="56" name="Connecteur droit avec flèche 55">
            <a:extLst>
              <a:ext uri="{FF2B5EF4-FFF2-40B4-BE49-F238E27FC236}">
                <a16:creationId xmlns:a16="http://schemas.microsoft.com/office/drawing/2014/main" id="{EBE70E25-0E2B-9BF8-C077-AB5FE7441AF2}"/>
              </a:ext>
            </a:extLst>
          </p:cNvPr>
          <p:cNvCxnSpPr>
            <a:cxnSpLocks/>
            <a:stCxn id="1082" idx="2"/>
          </p:cNvCxnSpPr>
          <p:nvPr/>
        </p:nvCxnSpPr>
        <p:spPr>
          <a:xfrm>
            <a:off x="8869687" y="2305713"/>
            <a:ext cx="277280" cy="26936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eur droit avec flèche 58">
            <a:extLst>
              <a:ext uri="{FF2B5EF4-FFF2-40B4-BE49-F238E27FC236}">
                <a16:creationId xmlns:a16="http://schemas.microsoft.com/office/drawing/2014/main" id="{AF0CE495-ECC0-2EE0-12F5-5AEA131442ED}"/>
              </a:ext>
            </a:extLst>
          </p:cNvPr>
          <p:cNvCxnSpPr>
            <a:cxnSpLocks/>
          </p:cNvCxnSpPr>
          <p:nvPr/>
        </p:nvCxnSpPr>
        <p:spPr>
          <a:xfrm flipV="1">
            <a:off x="9404101" y="1152275"/>
            <a:ext cx="983326" cy="4530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ZoneTexte 60">
            <a:extLst>
              <a:ext uri="{FF2B5EF4-FFF2-40B4-BE49-F238E27FC236}">
                <a16:creationId xmlns:a16="http://schemas.microsoft.com/office/drawing/2014/main" id="{78D19A6A-F75C-7222-DE88-1129423D2618}"/>
              </a:ext>
            </a:extLst>
          </p:cNvPr>
          <p:cNvSpPr txBox="1"/>
          <p:nvPr/>
        </p:nvSpPr>
        <p:spPr>
          <a:xfrm>
            <a:off x="10622245" y="450557"/>
            <a:ext cx="24462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b="1" i="1" dirty="0"/>
              <a:t>Email</a:t>
            </a:r>
          </a:p>
        </p:txBody>
      </p:sp>
      <p:sp>
        <p:nvSpPr>
          <p:cNvPr id="62" name="ZoneTexte 61">
            <a:extLst>
              <a:ext uri="{FF2B5EF4-FFF2-40B4-BE49-F238E27FC236}">
                <a16:creationId xmlns:a16="http://schemas.microsoft.com/office/drawing/2014/main" id="{B4A9F40D-20FB-6925-5AED-006033B9120C}"/>
              </a:ext>
            </a:extLst>
          </p:cNvPr>
          <p:cNvSpPr txBox="1"/>
          <p:nvPr/>
        </p:nvSpPr>
        <p:spPr>
          <a:xfrm>
            <a:off x="10535554" y="1925242"/>
            <a:ext cx="24462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b="1" i="1" dirty="0"/>
              <a:t>Dashboard</a:t>
            </a:r>
          </a:p>
        </p:txBody>
      </p:sp>
      <p:cxnSp>
        <p:nvCxnSpPr>
          <p:cNvPr id="63" name="Connecteur droit avec flèche 62">
            <a:extLst>
              <a:ext uri="{FF2B5EF4-FFF2-40B4-BE49-F238E27FC236}">
                <a16:creationId xmlns:a16="http://schemas.microsoft.com/office/drawing/2014/main" id="{51FB5D6A-6CB7-1E32-3A08-20238CC61290}"/>
              </a:ext>
            </a:extLst>
          </p:cNvPr>
          <p:cNvCxnSpPr>
            <a:cxnSpLocks/>
          </p:cNvCxnSpPr>
          <p:nvPr/>
        </p:nvCxnSpPr>
        <p:spPr>
          <a:xfrm flipV="1">
            <a:off x="9950423" y="4871513"/>
            <a:ext cx="371319" cy="3048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5" name="Connecteur droit avec flèche 1034">
            <a:extLst>
              <a:ext uri="{FF2B5EF4-FFF2-40B4-BE49-F238E27FC236}">
                <a16:creationId xmlns:a16="http://schemas.microsoft.com/office/drawing/2014/main" id="{4BD791E0-0573-1889-A90B-FD2AA2FA7074}"/>
              </a:ext>
            </a:extLst>
          </p:cNvPr>
          <p:cNvCxnSpPr>
            <a:cxnSpLocks/>
          </p:cNvCxnSpPr>
          <p:nvPr/>
        </p:nvCxnSpPr>
        <p:spPr>
          <a:xfrm flipH="1" flipV="1">
            <a:off x="10975708" y="2929604"/>
            <a:ext cx="46331" cy="12461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7" name="ZoneTexte 1046">
            <a:extLst>
              <a:ext uri="{FF2B5EF4-FFF2-40B4-BE49-F238E27FC236}">
                <a16:creationId xmlns:a16="http://schemas.microsoft.com/office/drawing/2014/main" id="{9106F8B7-365C-031E-CC4D-4EF5BA9A70F8}"/>
              </a:ext>
            </a:extLst>
          </p:cNvPr>
          <p:cNvSpPr txBox="1"/>
          <p:nvPr/>
        </p:nvSpPr>
        <p:spPr>
          <a:xfrm>
            <a:off x="8242380" y="5807279"/>
            <a:ext cx="302986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i="1" dirty="0"/>
              <a:t>Amazon S3 : Model and </a:t>
            </a:r>
            <a:r>
              <a:rPr lang="fr-FR" sz="1100" b="1" i="1" dirty="0" err="1"/>
              <a:t>Tracking</a:t>
            </a:r>
            <a:endParaRPr lang="fr-FR" sz="1100" b="1" i="1" dirty="0"/>
          </a:p>
          <a:p>
            <a:pPr algn="ctr"/>
            <a:r>
              <a:rPr lang="fr-FR" sz="1100" b="1" i="1" dirty="0" err="1"/>
              <a:t>NeonDB</a:t>
            </a:r>
            <a:r>
              <a:rPr lang="fr-FR" sz="1100" b="1" i="1" dirty="0"/>
              <a:t> : </a:t>
            </a:r>
            <a:r>
              <a:rPr lang="fr-FR" sz="1100" b="1" i="1" dirty="0" err="1"/>
              <a:t>Databases</a:t>
            </a:r>
            <a:endParaRPr lang="fr-FR" sz="1100" b="1" i="1" dirty="0"/>
          </a:p>
          <a:p>
            <a:pPr algn="ctr"/>
            <a:r>
              <a:rPr lang="fr-FR" sz="1100" b="1" i="1" dirty="0" err="1"/>
              <a:t>HuggingFace</a:t>
            </a:r>
            <a:r>
              <a:rPr lang="fr-FR" sz="1100" b="1" i="1" dirty="0"/>
              <a:t> : Dashboard </a:t>
            </a:r>
            <a:r>
              <a:rPr lang="fr-FR" sz="1100" b="1" i="1" dirty="0" err="1"/>
              <a:t>deployment</a:t>
            </a:r>
            <a:endParaRPr lang="fr-FR" sz="1100" b="1" i="1"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FD047879-94FA-D467-F6E0-0CCBB616CAFA}"/>
              </a:ext>
            </a:extLst>
          </p:cNvPr>
          <p:cNvSpPr txBox="1"/>
          <p:nvPr/>
        </p:nvSpPr>
        <p:spPr>
          <a:xfrm>
            <a:off x="1409995" y="3483802"/>
            <a:ext cx="9216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dirty="0" err="1">
                <a:solidFill>
                  <a:schemeClr val="accent1"/>
                </a:solidFill>
                <a:latin typeface="Aptos" panose="020B0004020202020204" pitchFamily="34" charset="0"/>
              </a:rPr>
              <a:t>Step</a:t>
            </a:r>
            <a:r>
              <a:rPr lang="fr-FR" sz="1200" b="1" dirty="0">
                <a:solidFill>
                  <a:schemeClr val="accent1"/>
                </a:solidFill>
                <a:latin typeface="Aptos" panose="020B0004020202020204" pitchFamily="34" charset="0"/>
              </a:rPr>
              <a:t> 1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00E93CF8-3A91-594F-0E61-B555DE08093F}"/>
              </a:ext>
            </a:extLst>
          </p:cNvPr>
          <p:cNvSpPr txBox="1"/>
          <p:nvPr/>
        </p:nvSpPr>
        <p:spPr>
          <a:xfrm>
            <a:off x="5464141" y="5321012"/>
            <a:ext cx="9216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dirty="0" err="1">
                <a:solidFill>
                  <a:schemeClr val="accent1"/>
                </a:solidFill>
                <a:latin typeface="Aptos" panose="020B0004020202020204" pitchFamily="34" charset="0"/>
              </a:rPr>
              <a:t>Step</a:t>
            </a:r>
            <a:r>
              <a:rPr lang="fr-FR" sz="1200" b="1" dirty="0">
                <a:solidFill>
                  <a:schemeClr val="accent1"/>
                </a:solidFill>
                <a:latin typeface="Aptos" panose="020B0004020202020204" pitchFamily="34" charset="0"/>
              </a:rPr>
              <a:t> 1</a:t>
            </a:r>
          </a:p>
        </p:txBody>
      </p:sp>
    </p:spTree>
    <p:extLst>
      <p:ext uri="{BB962C8B-B14F-4D97-AF65-F5344CB8AC3E}">
        <p14:creationId xmlns:p14="http://schemas.microsoft.com/office/powerpoint/2010/main" val="8450243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2" descr="Database Icons - Free SVG &amp; PNG Database Images - Noun Project">
            <a:extLst>
              <a:ext uri="{FF2B5EF4-FFF2-40B4-BE49-F238E27FC236}">
                <a16:creationId xmlns:a16="http://schemas.microsoft.com/office/drawing/2014/main" id="{09831F48-820D-F5EE-C0F5-9021D78A6E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784" y="794334"/>
            <a:ext cx="986116" cy="9861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14" descr="MLflow — a modern MLOps tool for data project collaboration | by Hong  Nguyen | SFU Professional Computer Science | Medium">
            <a:extLst>
              <a:ext uri="{FF2B5EF4-FFF2-40B4-BE49-F238E27FC236}">
                <a16:creationId xmlns:a16="http://schemas.microsoft.com/office/drawing/2014/main" id="{9EBACE7B-6FF1-E52F-BC74-C33C22FA62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0276" y="794334"/>
            <a:ext cx="1242732" cy="4801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12">
            <a:extLst>
              <a:ext uri="{FF2B5EF4-FFF2-40B4-BE49-F238E27FC236}">
                <a16:creationId xmlns:a16="http://schemas.microsoft.com/office/drawing/2014/main" id="{762E9762-5AFE-62B3-06A9-449B149E63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2678" y="555514"/>
            <a:ext cx="1134187" cy="6118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Understanding XGBoost &amp; it's growing popularity among the ML community | by  Deep Borkar | Analytics Vidhya | Medium">
            <a:extLst>
              <a:ext uri="{FF2B5EF4-FFF2-40B4-BE49-F238E27FC236}">
                <a16:creationId xmlns:a16="http://schemas.microsoft.com/office/drawing/2014/main" id="{7A8B1E19-E9CD-86FF-83BB-D71317EB24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3527" y="1176181"/>
            <a:ext cx="1645024" cy="9139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52">
            <a:extLst>
              <a:ext uri="{FF2B5EF4-FFF2-40B4-BE49-F238E27FC236}">
                <a16:creationId xmlns:a16="http://schemas.microsoft.com/office/drawing/2014/main" id="{5769B0FD-1D98-BB6F-27AB-A4B053B1AF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7036" y="756461"/>
            <a:ext cx="817841" cy="978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FastAPI">
            <a:extLst>
              <a:ext uri="{FF2B5EF4-FFF2-40B4-BE49-F238E27FC236}">
                <a16:creationId xmlns:a16="http://schemas.microsoft.com/office/drawing/2014/main" id="{CA2ACF8B-BD40-5988-3C34-2D8B65EDC2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75205" y="913077"/>
            <a:ext cx="2041665" cy="7357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" name="Connecteur droit avec flèche 9">
            <a:extLst>
              <a:ext uri="{FF2B5EF4-FFF2-40B4-BE49-F238E27FC236}">
                <a16:creationId xmlns:a16="http://schemas.microsoft.com/office/drawing/2014/main" id="{E846A177-047F-CFB4-AFE6-F90A4B45D42D}"/>
              </a:ext>
            </a:extLst>
          </p:cNvPr>
          <p:cNvCxnSpPr>
            <a:cxnSpLocks/>
          </p:cNvCxnSpPr>
          <p:nvPr/>
        </p:nvCxnSpPr>
        <p:spPr>
          <a:xfrm flipV="1">
            <a:off x="1722733" y="1274480"/>
            <a:ext cx="4382231" cy="129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avec flèche 11">
            <a:extLst>
              <a:ext uri="{FF2B5EF4-FFF2-40B4-BE49-F238E27FC236}">
                <a16:creationId xmlns:a16="http://schemas.microsoft.com/office/drawing/2014/main" id="{8AF38276-4A09-DC3A-1E35-3104DD60313D}"/>
              </a:ext>
            </a:extLst>
          </p:cNvPr>
          <p:cNvCxnSpPr>
            <a:cxnSpLocks/>
            <a:endCxn id="9" idx="1"/>
          </p:cNvCxnSpPr>
          <p:nvPr/>
        </p:nvCxnSpPr>
        <p:spPr>
          <a:xfrm>
            <a:off x="7575176" y="1274480"/>
            <a:ext cx="2100029" cy="64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8" name="Picture 56">
            <a:extLst>
              <a:ext uri="{FF2B5EF4-FFF2-40B4-BE49-F238E27FC236}">
                <a16:creationId xmlns:a16="http://schemas.microsoft.com/office/drawing/2014/main" id="{A1485606-E11F-7EFE-3356-579D9A0E44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25188" y="1469901"/>
            <a:ext cx="1341697" cy="3577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6" descr="Api - Icônes ui gratuites">
            <a:extLst>
              <a:ext uri="{FF2B5EF4-FFF2-40B4-BE49-F238E27FC236}">
                <a16:creationId xmlns:a16="http://schemas.microsoft.com/office/drawing/2014/main" id="{184D638C-06A1-EC14-85F8-865853B622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6006" y="2411509"/>
            <a:ext cx="986115" cy="9861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4" descr="Why we Invested in Neon - M12">
            <a:extLst>
              <a:ext uri="{FF2B5EF4-FFF2-40B4-BE49-F238E27FC236}">
                <a16:creationId xmlns:a16="http://schemas.microsoft.com/office/drawing/2014/main" id="{22658CC4-7125-CE9F-8650-79EBE81A8C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2830" y="2796479"/>
            <a:ext cx="1165278" cy="494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1" name="Connecteur droit avec flèche 20">
            <a:extLst>
              <a:ext uri="{FF2B5EF4-FFF2-40B4-BE49-F238E27FC236}">
                <a16:creationId xmlns:a16="http://schemas.microsoft.com/office/drawing/2014/main" id="{1E8AD010-1124-8067-4636-612302305280}"/>
              </a:ext>
            </a:extLst>
          </p:cNvPr>
          <p:cNvCxnSpPr>
            <a:cxnSpLocks/>
          </p:cNvCxnSpPr>
          <p:nvPr/>
        </p:nvCxnSpPr>
        <p:spPr>
          <a:xfrm flipV="1">
            <a:off x="4860262" y="1780450"/>
            <a:ext cx="1656774" cy="12759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droit avec flèche 22">
            <a:extLst>
              <a:ext uri="{FF2B5EF4-FFF2-40B4-BE49-F238E27FC236}">
                <a16:creationId xmlns:a16="http://schemas.microsoft.com/office/drawing/2014/main" id="{18A38A99-2292-CFEF-3A9F-32F362C6BF6D}"/>
              </a:ext>
            </a:extLst>
          </p:cNvPr>
          <p:cNvCxnSpPr>
            <a:cxnSpLocks/>
          </p:cNvCxnSpPr>
          <p:nvPr/>
        </p:nvCxnSpPr>
        <p:spPr>
          <a:xfrm flipV="1">
            <a:off x="4860262" y="3043518"/>
            <a:ext cx="2867314" cy="258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eur droit avec flèche 24">
            <a:extLst>
              <a:ext uri="{FF2B5EF4-FFF2-40B4-BE49-F238E27FC236}">
                <a16:creationId xmlns:a16="http://schemas.microsoft.com/office/drawing/2014/main" id="{96E873F0-192F-BADE-F405-9C4360C28FBC}"/>
              </a:ext>
            </a:extLst>
          </p:cNvPr>
          <p:cNvCxnSpPr>
            <a:cxnSpLocks/>
          </p:cNvCxnSpPr>
          <p:nvPr/>
        </p:nvCxnSpPr>
        <p:spPr>
          <a:xfrm>
            <a:off x="6794537" y="1786906"/>
            <a:ext cx="1004757" cy="9942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51321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 : coins arrondis 33">
            <a:extLst>
              <a:ext uri="{FF2B5EF4-FFF2-40B4-BE49-F238E27FC236}">
                <a16:creationId xmlns:a16="http://schemas.microsoft.com/office/drawing/2014/main" id="{19B64958-A94E-3082-E6A1-5BD49869E165}"/>
              </a:ext>
            </a:extLst>
          </p:cNvPr>
          <p:cNvSpPr/>
          <p:nvPr/>
        </p:nvSpPr>
        <p:spPr>
          <a:xfrm>
            <a:off x="6096000" y="3510469"/>
            <a:ext cx="7073900" cy="419660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2" name="Rectangle : coins arrondis 31">
            <a:extLst>
              <a:ext uri="{FF2B5EF4-FFF2-40B4-BE49-F238E27FC236}">
                <a16:creationId xmlns:a16="http://schemas.microsoft.com/office/drawing/2014/main" id="{7D8C01F7-3320-A992-F50E-7DF88286AB39}"/>
              </a:ext>
            </a:extLst>
          </p:cNvPr>
          <p:cNvSpPr/>
          <p:nvPr/>
        </p:nvSpPr>
        <p:spPr>
          <a:xfrm>
            <a:off x="-977900" y="3480363"/>
            <a:ext cx="7073900" cy="4196604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Ellipse 23">
            <a:extLst>
              <a:ext uri="{FF2B5EF4-FFF2-40B4-BE49-F238E27FC236}">
                <a16:creationId xmlns:a16="http://schemas.microsoft.com/office/drawing/2014/main" id="{FBBF0187-3782-DD68-6886-37CAA740B228}"/>
              </a:ext>
            </a:extLst>
          </p:cNvPr>
          <p:cNvSpPr/>
          <p:nvPr/>
        </p:nvSpPr>
        <p:spPr>
          <a:xfrm>
            <a:off x="4743272" y="2167834"/>
            <a:ext cx="2927931" cy="2544900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1FCF6BC-7BFB-AD24-A4E0-CE84C4A3A2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8629" y="3073209"/>
            <a:ext cx="1898666" cy="734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Why we Invested in Neon - M12">
            <a:extLst>
              <a:ext uri="{FF2B5EF4-FFF2-40B4-BE49-F238E27FC236}">
                <a16:creationId xmlns:a16="http://schemas.microsoft.com/office/drawing/2014/main" id="{FC354FBA-6247-189D-8F65-B7CFD3D64D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4227" y="5156267"/>
            <a:ext cx="1165278" cy="494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Api - Icônes ui gratuites">
            <a:extLst>
              <a:ext uri="{FF2B5EF4-FFF2-40B4-BE49-F238E27FC236}">
                <a16:creationId xmlns:a16="http://schemas.microsoft.com/office/drawing/2014/main" id="{E0729101-BC7F-6237-F3B9-6B817300EF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4862" y="1200737"/>
            <a:ext cx="986115" cy="9861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C41A3D41-7F0F-4EE4-EB94-491C92911C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9707" y="4120980"/>
            <a:ext cx="1134187" cy="6118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MLflow — a modern MLOps tool for data project collaboration | by Hong  Nguyen | SFU Professional Computer Science | Medium">
            <a:extLst>
              <a:ext uri="{FF2B5EF4-FFF2-40B4-BE49-F238E27FC236}">
                <a16:creationId xmlns:a16="http://schemas.microsoft.com/office/drawing/2014/main" id="{D87E8C90-475C-B99C-8FE4-F8A325D637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8345" y="4781611"/>
            <a:ext cx="1242732" cy="4801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>
            <a:extLst>
              <a:ext uri="{FF2B5EF4-FFF2-40B4-BE49-F238E27FC236}">
                <a16:creationId xmlns:a16="http://schemas.microsoft.com/office/drawing/2014/main" id="{C5DA6877-52A7-E732-DB07-822F811F7C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0858" y="733830"/>
            <a:ext cx="731388" cy="731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8" name="Picture 24">
            <a:extLst>
              <a:ext uri="{FF2B5EF4-FFF2-40B4-BE49-F238E27FC236}">
                <a16:creationId xmlns:a16="http://schemas.microsoft.com/office/drawing/2014/main" id="{679386F7-740E-1933-9FD7-25B4ED2556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21742" y="2134433"/>
            <a:ext cx="1250236" cy="731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A43DF3AC-3FC9-298E-2F4F-D19454F9CB1D}"/>
              </a:ext>
            </a:extLst>
          </p:cNvPr>
          <p:cNvSpPr txBox="1"/>
          <p:nvPr/>
        </p:nvSpPr>
        <p:spPr>
          <a:xfrm>
            <a:off x="79769" y="1442362"/>
            <a:ext cx="24462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b="1" i="1" dirty="0" err="1"/>
              <a:t>History</a:t>
            </a:r>
            <a:r>
              <a:rPr lang="fr-FR" sz="1100" b="1" i="1" dirty="0"/>
              <a:t> </a:t>
            </a:r>
            <a:r>
              <a:rPr lang="fr-FR" sz="1100" b="1" i="1" dirty="0" err="1"/>
              <a:t>database</a:t>
            </a:r>
            <a:endParaRPr lang="fr-FR" sz="1100" b="1" i="1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B2FE09CD-C582-E190-90D9-2C79F0C8B316}"/>
              </a:ext>
            </a:extLst>
          </p:cNvPr>
          <p:cNvSpPr txBox="1"/>
          <p:nvPr/>
        </p:nvSpPr>
        <p:spPr>
          <a:xfrm>
            <a:off x="2631879" y="837914"/>
            <a:ext cx="24462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b="1" i="1" dirty="0"/>
              <a:t>Real-Time API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C83BBBA1-175A-C1C2-5136-6D2F80A94A3F}"/>
              </a:ext>
            </a:extLst>
          </p:cNvPr>
          <p:cNvSpPr txBox="1"/>
          <p:nvPr/>
        </p:nvSpPr>
        <p:spPr>
          <a:xfrm>
            <a:off x="79769" y="231064"/>
            <a:ext cx="24462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u="sng" dirty="0">
                <a:solidFill>
                  <a:srgbClr val="FF0000"/>
                </a:solidFill>
              </a:rPr>
              <a:t>Data Sources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0C23B9D5-3C57-2FCE-E322-E4963F6B7824}"/>
              </a:ext>
            </a:extLst>
          </p:cNvPr>
          <p:cNvSpPr txBox="1"/>
          <p:nvPr/>
        </p:nvSpPr>
        <p:spPr>
          <a:xfrm>
            <a:off x="142759" y="6023261"/>
            <a:ext cx="24462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u="sng" dirty="0">
                <a:solidFill>
                  <a:srgbClr val="FF0000"/>
                </a:solidFill>
              </a:rPr>
              <a:t>Machine Learning</a:t>
            </a:r>
          </a:p>
        </p:txBody>
      </p:sp>
      <p:pic>
        <p:nvPicPr>
          <p:cNvPr id="1056" name="Picture 32" descr="Database Icons - Free SVG &amp; PNG Database Images - Noun Project">
            <a:extLst>
              <a:ext uri="{FF2B5EF4-FFF2-40B4-BE49-F238E27FC236}">
                <a16:creationId xmlns:a16="http://schemas.microsoft.com/office/drawing/2014/main" id="{1047CF3E-64AA-B9F0-EF27-25DDCD54CF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879" y="1771487"/>
            <a:ext cx="986116" cy="9861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4" name="Picture 40" descr="Machine Learning Icon - Free Download Science &amp; Technology Icons | IconScout">
            <a:extLst>
              <a:ext uri="{FF2B5EF4-FFF2-40B4-BE49-F238E27FC236}">
                <a16:creationId xmlns:a16="http://schemas.microsoft.com/office/drawing/2014/main" id="{C85F6B9E-E947-982A-3B3C-D874575A35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460947" y="4217717"/>
            <a:ext cx="137352" cy="137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8" name="Picture 44" descr="Python logo - Icônes Médias sociaux et logos">
            <a:extLst>
              <a:ext uri="{FF2B5EF4-FFF2-40B4-BE49-F238E27FC236}">
                <a16:creationId xmlns:a16="http://schemas.microsoft.com/office/drawing/2014/main" id="{787C8B72-916D-2ABF-0357-C8B8100770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5314" y="3948425"/>
            <a:ext cx="463647" cy="463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ZoneTexte 20">
            <a:extLst>
              <a:ext uri="{FF2B5EF4-FFF2-40B4-BE49-F238E27FC236}">
                <a16:creationId xmlns:a16="http://schemas.microsoft.com/office/drawing/2014/main" id="{55F13B9B-66FD-B63A-4CD1-8EC8538B7019}"/>
              </a:ext>
            </a:extLst>
          </p:cNvPr>
          <p:cNvSpPr txBox="1"/>
          <p:nvPr/>
        </p:nvSpPr>
        <p:spPr>
          <a:xfrm>
            <a:off x="11559339" y="253684"/>
            <a:ext cx="24462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u="sng" dirty="0">
                <a:solidFill>
                  <a:srgbClr val="FF0000"/>
                </a:solidFill>
              </a:rPr>
              <a:t>User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28EFA2C5-9436-42B5-E0FC-25289A01F5D7}"/>
              </a:ext>
            </a:extLst>
          </p:cNvPr>
          <p:cNvSpPr txBox="1"/>
          <p:nvPr/>
        </p:nvSpPr>
        <p:spPr>
          <a:xfrm>
            <a:off x="11382774" y="6026722"/>
            <a:ext cx="24462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u="sng" dirty="0">
                <a:solidFill>
                  <a:srgbClr val="FF0000"/>
                </a:solidFill>
              </a:rPr>
              <a:t>Storage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36BE535F-6CFD-DECB-C1A8-8C879F5C325E}"/>
              </a:ext>
            </a:extLst>
          </p:cNvPr>
          <p:cNvSpPr txBox="1"/>
          <p:nvPr/>
        </p:nvSpPr>
        <p:spPr>
          <a:xfrm>
            <a:off x="5087501" y="2622203"/>
            <a:ext cx="24462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u="sng" dirty="0">
                <a:solidFill>
                  <a:srgbClr val="FF0000"/>
                </a:solidFill>
              </a:rPr>
              <a:t>Workflow orchestration</a:t>
            </a:r>
          </a:p>
        </p:txBody>
      </p:sp>
      <p:pic>
        <p:nvPicPr>
          <p:cNvPr id="1070" name="Picture 46" descr="Machine learning model&quot; Icon - Download for free – Iconduck">
            <a:extLst>
              <a:ext uri="{FF2B5EF4-FFF2-40B4-BE49-F238E27FC236}">
                <a16:creationId xmlns:a16="http://schemas.microsoft.com/office/drawing/2014/main" id="{ADE9EFAB-9C79-0FE8-5A99-DADA44CC5F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921" y="5088826"/>
            <a:ext cx="921615" cy="9216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ZoneTexte 34">
            <a:extLst>
              <a:ext uri="{FF2B5EF4-FFF2-40B4-BE49-F238E27FC236}">
                <a16:creationId xmlns:a16="http://schemas.microsoft.com/office/drawing/2014/main" id="{DC7B7B57-F41A-F651-86C3-805798669547}"/>
              </a:ext>
            </a:extLst>
          </p:cNvPr>
          <p:cNvSpPr txBox="1"/>
          <p:nvPr/>
        </p:nvSpPr>
        <p:spPr>
          <a:xfrm>
            <a:off x="2693904" y="5459512"/>
            <a:ext cx="244623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i="1" dirty="0" err="1"/>
              <a:t>Performed</a:t>
            </a:r>
            <a:r>
              <a:rPr lang="fr-FR" sz="1100" b="1" i="1" dirty="0"/>
              <a:t> on </a:t>
            </a:r>
            <a:r>
              <a:rPr lang="fr-FR" sz="1100" b="1" i="1" dirty="0" err="1"/>
              <a:t>scikit-learn</a:t>
            </a:r>
            <a:br>
              <a:rPr lang="fr-FR" sz="1100" b="1" i="1" dirty="0"/>
            </a:br>
            <a:r>
              <a:rPr lang="fr-FR" sz="1100" b="1" i="1" dirty="0" err="1"/>
              <a:t>Tracked</a:t>
            </a:r>
            <a:r>
              <a:rPr lang="fr-FR" sz="1100" b="1" i="1" dirty="0"/>
              <a:t> on </a:t>
            </a:r>
            <a:r>
              <a:rPr lang="fr-FR" sz="1100" b="1" i="1" dirty="0" err="1"/>
              <a:t>Mlflow</a:t>
            </a:r>
            <a:endParaRPr lang="fr-FR" sz="1100" b="1" i="1" dirty="0"/>
          </a:p>
        </p:txBody>
      </p:sp>
      <p:pic>
        <p:nvPicPr>
          <p:cNvPr id="1076" name="Picture 52">
            <a:extLst>
              <a:ext uri="{FF2B5EF4-FFF2-40B4-BE49-F238E27FC236}">
                <a16:creationId xmlns:a16="http://schemas.microsoft.com/office/drawing/2014/main" id="{D3E5469D-F32C-8BE8-F13F-002C047683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4865" y="5015244"/>
            <a:ext cx="817841" cy="978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0" name="Picture 56">
            <a:extLst>
              <a:ext uri="{FF2B5EF4-FFF2-40B4-BE49-F238E27FC236}">
                <a16:creationId xmlns:a16="http://schemas.microsoft.com/office/drawing/2014/main" id="{22E30CB2-448C-FAB5-7FF3-57F2F9C677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81631" y="4275132"/>
            <a:ext cx="2052184" cy="5472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2" name="Picture 58" descr="Fraud detection - Free business and finance icons">
            <a:extLst>
              <a:ext uri="{FF2B5EF4-FFF2-40B4-BE49-F238E27FC236}">
                <a16:creationId xmlns:a16="http://schemas.microsoft.com/office/drawing/2014/main" id="{0679B57B-6262-9482-DA1C-57242BC067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2394" y="1391127"/>
            <a:ext cx="914586" cy="9145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0" name="Connecteur droit avec flèche 39">
            <a:extLst>
              <a:ext uri="{FF2B5EF4-FFF2-40B4-BE49-F238E27FC236}">
                <a16:creationId xmlns:a16="http://schemas.microsoft.com/office/drawing/2014/main" id="{04F2E30A-197C-C8FF-1779-FF4BFA75C4F5}"/>
              </a:ext>
            </a:extLst>
          </p:cNvPr>
          <p:cNvCxnSpPr>
            <a:cxnSpLocks/>
          </p:cNvCxnSpPr>
          <p:nvPr/>
        </p:nvCxnSpPr>
        <p:spPr>
          <a:xfrm>
            <a:off x="3936745" y="1881438"/>
            <a:ext cx="948717" cy="8170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eur droit avec flèche 40">
            <a:extLst>
              <a:ext uri="{FF2B5EF4-FFF2-40B4-BE49-F238E27FC236}">
                <a16:creationId xmlns:a16="http://schemas.microsoft.com/office/drawing/2014/main" id="{9FD35E68-3A49-6DEB-A70D-3AC4DBD1C5F9}"/>
              </a:ext>
            </a:extLst>
          </p:cNvPr>
          <p:cNvCxnSpPr>
            <a:cxnSpLocks/>
          </p:cNvCxnSpPr>
          <p:nvPr/>
        </p:nvCxnSpPr>
        <p:spPr>
          <a:xfrm>
            <a:off x="1245140" y="2698449"/>
            <a:ext cx="1516204" cy="14225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eur droit avec flèche 42">
            <a:extLst>
              <a:ext uri="{FF2B5EF4-FFF2-40B4-BE49-F238E27FC236}">
                <a16:creationId xmlns:a16="http://schemas.microsoft.com/office/drawing/2014/main" id="{38B47C95-B0C3-22A2-F990-10176E5ABF06}"/>
              </a:ext>
            </a:extLst>
          </p:cNvPr>
          <p:cNvCxnSpPr>
            <a:cxnSpLocks/>
          </p:cNvCxnSpPr>
          <p:nvPr/>
        </p:nvCxnSpPr>
        <p:spPr>
          <a:xfrm>
            <a:off x="5012535" y="5146207"/>
            <a:ext cx="1931412" cy="3112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eur droit avec flèche 44">
            <a:extLst>
              <a:ext uri="{FF2B5EF4-FFF2-40B4-BE49-F238E27FC236}">
                <a16:creationId xmlns:a16="http://schemas.microsoft.com/office/drawing/2014/main" id="{25E08704-2F4C-EA8A-CCCD-C82911362BFD}"/>
              </a:ext>
            </a:extLst>
          </p:cNvPr>
          <p:cNvCxnSpPr>
            <a:cxnSpLocks/>
          </p:cNvCxnSpPr>
          <p:nvPr/>
        </p:nvCxnSpPr>
        <p:spPr>
          <a:xfrm>
            <a:off x="6923371" y="4681221"/>
            <a:ext cx="229538" cy="3103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eur droit avec flèche 48">
            <a:extLst>
              <a:ext uri="{FF2B5EF4-FFF2-40B4-BE49-F238E27FC236}">
                <a16:creationId xmlns:a16="http://schemas.microsoft.com/office/drawing/2014/main" id="{808740E2-D960-5D5E-DCFB-792FD4E0D93D}"/>
              </a:ext>
            </a:extLst>
          </p:cNvPr>
          <p:cNvCxnSpPr>
            <a:cxnSpLocks/>
          </p:cNvCxnSpPr>
          <p:nvPr/>
        </p:nvCxnSpPr>
        <p:spPr>
          <a:xfrm>
            <a:off x="7692652" y="4093802"/>
            <a:ext cx="881670" cy="9278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eur droit avec flèche 50">
            <a:extLst>
              <a:ext uri="{FF2B5EF4-FFF2-40B4-BE49-F238E27FC236}">
                <a16:creationId xmlns:a16="http://schemas.microsoft.com/office/drawing/2014/main" id="{4347B41C-D9B5-8592-957D-643A87D93228}"/>
              </a:ext>
            </a:extLst>
          </p:cNvPr>
          <p:cNvCxnSpPr>
            <a:cxnSpLocks/>
          </p:cNvCxnSpPr>
          <p:nvPr/>
        </p:nvCxnSpPr>
        <p:spPr>
          <a:xfrm flipV="1">
            <a:off x="7529232" y="2004753"/>
            <a:ext cx="805500" cy="6174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ZoneTexte 53">
            <a:extLst>
              <a:ext uri="{FF2B5EF4-FFF2-40B4-BE49-F238E27FC236}">
                <a16:creationId xmlns:a16="http://schemas.microsoft.com/office/drawing/2014/main" id="{0A6CA2BD-D2AC-D0E8-B396-ED646079321C}"/>
              </a:ext>
            </a:extLst>
          </p:cNvPr>
          <p:cNvSpPr txBox="1"/>
          <p:nvPr/>
        </p:nvSpPr>
        <p:spPr>
          <a:xfrm>
            <a:off x="8233033" y="1021470"/>
            <a:ext cx="24462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b="1" i="1" dirty="0" err="1"/>
              <a:t>Fraud</a:t>
            </a:r>
            <a:r>
              <a:rPr lang="fr-FR" sz="1100" b="1" i="1" dirty="0"/>
              <a:t> </a:t>
            </a:r>
            <a:r>
              <a:rPr lang="fr-FR" sz="1100" b="1" i="1" dirty="0" err="1"/>
              <a:t>Detection</a:t>
            </a:r>
            <a:endParaRPr lang="fr-FR" sz="1100" b="1" i="1" dirty="0"/>
          </a:p>
        </p:txBody>
      </p:sp>
      <p:cxnSp>
        <p:nvCxnSpPr>
          <p:cNvPr id="56" name="Connecteur droit avec flèche 55">
            <a:extLst>
              <a:ext uri="{FF2B5EF4-FFF2-40B4-BE49-F238E27FC236}">
                <a16:creationId xmlns:a16="http://schemas.microsoft.com/office/drawing/2014/main" id="{EBE70E25-0E2B-9BF8-C077-AB5FE7441AF2}"/>
              </a:ext>
            </a:extLst>
          </p:cNvPr>
          <p:cNvCxnSpPr>
            <a:cxnSpLocks/>
            <a:stCxn id="1082" idx="2"/>
          </p:cNvCxnSpPr>
          <p:nvPr/>
        </p:nvCxnSpPr>
        <p:spPr>
          <a:xfrm>
            <a:off x="8869687" y="2305713"/>
            <a:ext cx="277280" cy="26936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eur droit avec flèche 58">
            <a:extLst>
              <a:ext uri="{FF2B5EF4-FFF2-40B4-BE49-F238E27FC236}">
                <a16:creationId xmlns:a16="http://schemas.microsoft.com/office/drawing/2014/main" id="{AF0CE495-ECC0-2EE0-12F5-5AEA131442ED}"/>
              </a:ext>
            </a:extLst>
          </p:cNvPr>
          <p:cNvCxnSpPr>
            <a:cxnSpLocks/>
          </p:cNvCxnSpPr>
          <p:nvPr/>
        </p:nvCxnSpPr>
        <p:spPr>
          <a:xfrm flipV="1">
            <a:off x="9404101" y="1152275"/>
            <a:ext cx="983326" cy="4530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ZoneTexte 60">
            <a:extLst>
              <a:ext uri="{FF2B5EF4-FFF2-40B4-BE49-F238E27FC236}">
                <a16:creationId xmlns:a16="http://schemas.microsoft.com/office/drawing/2014/main" id="{78D19A6A-F75C-7222-DE88-1129423D2618}"/>
              </a:ext>
            </a:extLst>
          </p:cNvPr>
          <p:cNvSpPr txBox="1"/>
          <p:nvPr/>
        </p:nvSpPr>
        <p:spPr>
          <a:xfrm>
            <a:off x="10622245" y="450557"/>
            <a:ext cx="24462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b="1" i="1" dirty="0"/>
              <a:t>Email</a:t>
            </a:r>
          </a:p>
        </p:txBody>
      </p:sp>
      <p:sp>
        <p:nvSpPr>
          <p:cNvPr id="62" name="ZoneTexte 61">
            <a:extLst>
              <a:ext uri="{FF2B5EF4-FFF2-40B4-BE49-F238E27FC236}">
                <a16:creationId xmlns:a16="http://schemas.microsoft.com/office/drawing/2014/main" id="{B4A9F40D-20FB-6925-5AED-006033B9120C}"/>
              </a:ext>
            </a:extLst>
          </p:cNvPr>
          <p:cNvSpPr txBox="1"/>
          <p:nvPr/>
        </p:nvSpPr>
        <p:spPr>
          <a:xfrm>
            <a:off x="10535554" y="1925242"/>
            <a:ext cx="24462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b="1" i="1" dirty="0"/>
              <a:t>Dashboard</a:t>
            </a:r>
          </a:p>
        </p:txBody>
      </p:sp>
      <p:cxnSp>
        <p:nvCxnSpPr>
          <p:cNvPr id="63" name="Connecteur droit avec flèche 62">
            <a:extLst>
              <a:ext uri="{FF2B5EF4-FFF2-40B4-BE49-F238E27FC236}">
                <a16:creationId xmlns:a16="http://schemas.microsoft.com/office/drawing/2014/main" id="{51FB5D6A-6CB7-1E32-3A08-20238CC61290}"/>
              </a:ext>
            </a:extLst>
          </p:cNvPr>
          <p:cNvCxnSpPr>
            <a:cxnSpLocks/>
          </p:cNvCxnSpPr>
          <p:nvPr/>
        </p:nvCxnSpPr>
        <p:spPr>
          <a:xfrm flipV="1">
            <a:off x="9950423" y="4871513"/>
            <a:ext cx="371319" cy="3048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eur droit avec flèche 3">
            <a:extLst>
              <a:ext uri="{FF2B5EF4-FFF2-40B4-BE49-F238E27FC236}">
                <a16:creationId xmlns:a16="http://schemas.microsoft.com/office/drawing/2014/main" id="{C57A61C7-A76E-9E23-F9CA-2C6CEEE7F09F}"/>
              </a:ext>
            </a:extLst>
          </p:cNvPr>
          <p:cNvCxnSpPr>
            <a:cxnSpLocks/>
          </p:cNvCxnSpPr>
          <p:nvPr/>
        </p:nvCxnSpPr>
        <p:spPr>
          <a:xfrm flipH="1" flipV="1">
            <a:off x="6917521" y="920060"/>
            <a:ext cx="429724" cy="2647903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5" name="Connecteur droit avec flèche 1034">
            <a:extLst>
              <a:ext uri="{FF2B5EF4-FFF2-40B4-BE49-F238E27FC236}">
                <a16:creationId xmlns:a16="http://schemas.microsoft.com/office/drawing/2014/main" id="{4BD791E0-0573-1889-A90B-FD2AA2FA7074}"/>
              </a:ext>
            </a:extLst>
          </p:cNvPr>
          <p:cNvCxnSpPr>
            <a:cxnSpLocks/>
          </p:cNvCxnSpPr>
          <p:nvPr/>
        </p:nvCxnSpPr>
        <p:spPr>
          <a:xfrm flipH="1" flipV="1">
            <a:off x="10975708" y="2929604"/>
            <a:ext cx="46331" cy="12461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7" name="ZoneTexte 1046">
            <a:extLst>
              <a:ext uri="{FF2B5EF4-FFF2-40B4-BE49-F238E27FC236}">
                <a16:creationId xmlns:a16="http://schemas.microsoft.com/office/drawing/2014/main" id="{9106F8B7-365C-031E-CC4D-4EF5BA9A70F8}"/>
              </a:ext>
            </a:extLst>
          </p:cNvPr>
          <p:cNvSpPr txBox="1"/>
          <p:nvPr/>
        </p:nvSpPr>
        <p:spPr>
          <a:xfrm>
            <a:off x="8242380" y="5807279"/>
            <a:ext cx="302986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i="1" dirty="0"/>
              <a:t>Amazon S3 : Model and </a:t>
            </a:r>
            <a:r>
              <a:rPr lang="fr-FR" sz="1100" b="1" i="1" dirty="0" err="1"/>
              <a:t>Tracking</a:t>
            </a:r>
            <a:endParaRPr lang="fr-FR" sz="1100" b="1" i="1" dirty="0"/>
          </a:p>
          <a:p>
            <a:pPr algn="ctr"/>
            <a:r>
              <a:rPr lang="fr-FR" sz="1100" b="1" i="1" dirty="0" err="1"/>
              <a:t>NeonDB</a:t>
            </a:r>
            <a:r>
              <a:rPr lang="fr-FR" sz="1100" b="1" i="1" dirty="0"/>
              <a:t> : </a:t>
            </a:r>
            <a:r>
              <a:rPr lang="fr-FR" sz="1100" b="1" i="1" dirty="0" err="1"/>
              <a:t>Databases</a:t>
            </a:r>
            <a:endParaRPr lang="fr-FR" sz="1100" b="1" i="1" dirty="0"/>
          </a:p>
          <a:p>
            <a:pPr algn="ctr"/>
            <a:r>
              <a:rPr lang="fr-FR" sz="1100" b="1" i="1" dirty="0" err="1"/>
              <a:t>HuggingFace</a:t>
            </a:r>
            <a:r>
              <a:rPr lang="fr-FR" sz="1100" b="1" i="1" dirty="0"/>
              <a:t> : Dashboard </a:t>
            </a:r>
            <a:r>
              <a:rPr lang="fr-FR" sz="1100" b="1" i="1" dirty="0" err="1"/>
              <a:t>deployment</a:t>
            </a:r>
            <a:endParaRPr lang="fr-FR" sz="1100" b="1" i="1"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FD047879-94FA-D467-F6E0-0CCBB616CAFA}"/>
              </a:ext>
            </a:extLst>
          </p:cNvPr>
          <p:cNvSpPr txBox="1"/>
          <p:nvPr/>
        </p:nvSpPr>
        <p:spPr>
          <a:xfrm>
            <a:off x="1409995" y="3483802"/>
            <a:ext cx="9216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dirty="0" err="1">
                <a:solidFill>
                  <a:schemeClr val="accent1"/>
                </a:solidFill>
                <a:latin typeface="Aptos" panose="020B0004020202020204" pitchFamily="34" charset="0"/>
              </a:rPr>
              <a:t>Step</a:t>
            </a:r>
            <a:r>
              <a:rPr lang="fr-FR" sz="1200" b="1" dirty="0">
                <a:solidFill>
                  <a:schemeClr val="accent1"/>
                </a:solidFill>
                <a:latin typeface="Aptos" panose="020B0004020202020204" pitchFamily="34" charset="0"/>
              </a:rPr>
              <a:t> 1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00E93CF8-3A91-594F-0E61-B555DE08093F}"/>
              </a:ext>
            </a:extLst>
          </p:cNvPr>
          <p:cNvSpPr txBox="1"/>
          <p:nvPr/>
        </p:nvSpPr>
        <p:spPr>
          <a:xfrm>
            <a:off x="5464141" y="5321012"/>
            <a:ext cx="9216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dirty="0" err="1">
                <a:solidFill>
                  <a:schemeClr val="accent1"/>
                </a:solidFill>
                <a:latin typeface="Aptos" panose="020B0004020202020204" pitchFamily="34" charset="0"/>
              </a:rPr>
              <a:t>Step</a:t>
            </a:r>
            <a:r>
              <a:rPr lang="fr-FR" sz="1200" b="1" dirty="0">
                <a:solidFill>
                  <a:schemeClr val="accent1"/>
                </a:solidFill>
                <a:latin typeface="Aptos" panose="020B0004020202020204" pitchFamily="34" charset="0"/>
              </a:rPr>
              <a:t> 1</a:t>
            </a:r>
          </a:p>
        </p:txBody>
      </p:sp>
      <p:pic>
        <p:nvPicPr>
          <p:cNvPr id="8" name="Picture 2" descr="FastAPI">
            <a:extLst>
              <a:ext uri="{FF2B5EF4-FFF2-40B4-BE49-F238E27FC236}">
                <a16:creationId xmlns:a16="http://schemas.microsoft.com/office/drawing/2014/main" id="{452550D2-ED72-3A3C-932E-5FA22DA616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6070" y="160665"/>
            <a:ext cx="2041665" cy="7357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5792B0CF-0355-1CF0-EDE9-9EEB86EC6D63}"/>
              </a:ext>
            </a:extLst>
          </p:cNvPr>
          <p:cNvSpPr txBox="1"/>
          <p:nvPr/>
        </p:nvSpPr>
        <p:spPr>
          <a:xfrm>
            <a:off x="6372869" y="1416795"/>
            <a:ext cx="9216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dirty="0" err="1">
                <a:solidFill>
                  <a:schemeClr val="accent1"/>
                </a:solidFill>
                <a:latin typeface="Aptos" panose="020B0004020202020204" pitchFamily="34" charset="0"/>
              </a:rPr>
              <a:t>Step</a:t>
            </a:r>
            <a:r>
              <a:rPr lang="fr-FR" sz="1200" b="1" dirty="0">
                <a:solidFill>
                  <a:schemeClr val="accent1"/>
                </a:solidFill>
                <a:latin typeface="Aptos" panose="020B0004020202020204" pitchFamily="34" charset="0"/>
              </a:rPr>
              <a:t> 2</a:t>
            </a:r>
          </a:p>
        </p:txBody>
      </p:sp>
    </p:spTree>
    <p:extLst>
      <p:ext uri="{BB962C8B-B14F-4D97-AF65-F5344CB8AC3E}">
        <p14:creationId xmlns:p14="http://schemas.microsoft.com/office/powerpoint/2010/main" val="32424075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Ellipse 23">
            <a:extLst>
              <a:ext uri="{FF2B5EF4-FFF2-40B4-BE49-F238E27FC236}">
                <a16:creationId xmlns:a16="http://schemas.microsoft.com/office/drawing/2014/main" id="{FBBF0187-3782-DD68-6886-37CAA740B228}"/>
              </a:ext>
            </a:extLst>
          </p:cNvPr>
          <p:cNvSpPr/>
          <p:nvPr/>
        </p:nvSpPr>
        <p:spPr>
          <a:xfrm>
            <a:off x="4743272" y="2167834"/>
            <a:ext cx="2927931" cy="2544900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1FCF6BC-7BFB-AD24-A4E0-CE84C4A3A2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9628" y="2762932"/>
            <a:ext cx="1898666" cy="734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Why we Invested in Neon - M12">
            <a:extLst>
              <a:ext uri="{FF2B5EF4-FFF2-40B4-BE49-F238E27FC236}">
                <a16:creationId xmlns:a16="http://schemas.microsoft.com/office/drawing/2014/main" id="{FC354FBA-6247-189D-8F65-B7CFD3D64D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4227" y="5156267"/>
            <a:ext cx="1165278" cy="494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Api - Icônes ui gratuites">
            <a:extLst>
              <a:ext uri="{FF2B5EF4-FFF2-40B4-BE49-F238E27FC236}">
                <a16:creationId xmlns:a16="http://schemas.microsoft.com/office/drawing/2014/main" id="{E0729101-BC7F-6237-F3B9-6B817300EF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4862" y="1200737"/>
            <a:ext cx="986115" cy="9861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8" name="Picture 24">
            <a:extLst>
              <a:ext uri="{FF2B5EF4-FFF2-40B4-BE49-F238E27FC236}">
                <a16:creationId xmlns:a16="http://schemas.microsoft.com/office/drawing/2014/main" id="{679386F7-740E-1933-9FD7-25B4ED2556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0078" y="2034513"/>
            <a:ext cx="1250236" cy="731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A43DF3AC-3FC9-298E-2F4F-D19454F9CB1D}"/>
              </a:ext>
            </a:extLst>
          </p:cNvPr>
          <p:cNvSpPr txBox="1"/>
          <p:nvPr/>
        </p:nvSpPr>
        <p:spPr>
          <a:xfrm>
            <a:off x="79769" y="1442362"/>
            <a:ext cx="24462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b="1" i="1" dirty="0" err="1"/>
              <a:t>History</a:t>
            </a:r>
            <a:r>
              <a:rPr lang="fr-FR" sz="1100" b="1" i="1" dirty="0"/>
              <a:t> </a:t>
            </a:r>
            <a:r>
              <a:rPr lang="fr-FR" sz="1100" b="1" i="1" dirty="0" err="1"/>
              <a:t>database</a:t>
            </a:r>
            <a:endParaRPr lang="fr-FR" sz="1100" b="1" i="1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B2FE09CD-C582-E190-90D9-2C79F0C8B316}"/>
              </a:ext>
            </a:extLst>
          </p:cNvPr>
          <p:cNvSpPr txBox="1"/>
          <p:nvPr/>
        </p:nvSpPr>
        <p:spPr>
          <a:xfrm>
            <a:off x="2631879" y="837914"/>
            <a:ext cx="24462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b="1" i="1" dirty="0"/>
              <a:t>Live </a:t>
            </a:r>
            <a:r>
              <a:rPr lang="fr-FR" sz="1100" b="1" i="1" dirty="0" err="1"/>
              <a:t>Youtube</a:t>
            </a:r>
            <a:r>
              <a:rPr lang="fr-FR" sz="1100" b="1" i="1" dirty="0"/>
              <a:t> or Twitch streaming</a:t>
            </a:r>
          </a:p>
        </p:txBody>
      </p:sp>
      <p:pic>
        <p:nvPicPr>
          <p:cNvPr id="1056" name="Picture 32" descr="Database Icons - Free SVG &amp; PNG Database Images - Noun Project">
            <a:extLst>
              <a:ext uri="{FF2B5EF4-FFF2-40B4-BE49-F238E27FC236}">
                <a16:creationId xmlns:a16="http://schemas.microsoft.com/office/drawing/2014/main" id="{1047CF3E-64AA-B9F0-EF27-25DDCD54CF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879" y="1771487"/>
            <a:ext cx="986116" cy="9861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4" name="Picture 40" descr="Machine Learning Icon - Free Download Science &amp; Technology Icons | IconScout">
            <a:extLst>
              <a:ext uri="{FF2B5EF4-FFF2-40B4-BE49-F238E27FC236}">
                <a16:creationId xmlns:a16="http://schemas.microsoft.com/office/drawing/2014/main" id="{C85F6B9E-E947-982A-3B3C-D874575A35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460947" y="4217717"/>
            <a:ext cx="137352" cy="137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8" name="Picture 44" descr="Python logo - Icônes Médias sociaux et logos">
            <a:extLst>
              <a:ext uri="{FF2B5EF4-FFF2-40B4-BE49-F238E27FC236}">
                <a16:creationId xmlns:a16="http://schemas.microsoft.com/office/drawing/2014/main" id="{787C8B72-916D-2ABF-0357-C8B8100770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5048" y="3698960"/>
            <a:ext cx="463647" cy="463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0" name="Picture 46" descr="Machine learning model&quot; Icon - Download for free – Iconduck">
            <a:extLst>
              <a:ext uri="{FF2B5EF4-FFF2-40B4-BE49-F238E27FC236}">
                <a16:creationId xmlns:a16="http://schemas.microsoft.com/office/drawing/2014/main" id="{ADE9EFAB-9C79-0FE8-5A99-DADA44CC5F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1705" y="5459512"/>
            <a:ext cx="621686" cy="6216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6" name="Picture 52">
            <a:extLst>
              <a:ext uri="{FF2B5EF4-FFF2-40B4-BE49-F238E27FC236}">
                <a16:creationId xmlns:a16="http://schemas.microsoft.com/office/drawing/2014/main" id="{D3E5469D-F32C-8BE8-F13F-002C047683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4865" y="5015244"/>
            <a:ext cx="817841" cy="978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0" name="Connecteur droit avec flèche 39">
            <a:extLst>
              <a:ext uri="{FF2B5EF4-FFF2-40B4-BE49-F238E27FC236}">
                <a16:creationId xmlns:a16="http://schemas.microsoft.com/office/drawing/2014/main" id="{04F2E30A-197C-C8FF-1779-FF4BFA75C4F5}"/>
              </a:ext>
            </a:extLst>
          </p:cNvPr>
          <p:cNvCxnSpPr>
            <a:cxnSpLocks/>
          </p:cNvCxnSpPr>
          <p:nvPr/>
        </p:nvCxnSpPr>
        <p:spPr>
          <a:xfrm>
            <a:off x="3936745" y="1881438"/>
            <a:ext cx="948717" cy="8170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eur droit avec flèche 40">
            <a:extLst>
              <a:ext uri="{FF2B5EF4-FFF2-40B4-BE49-F238E27FC236}">
                <a16:creationId xmlns:a16="http://schemas.microsoft.com/office/drawing/2014/main" id="{9FD35E68-3A49-6DEB-A70D-3AC4DBD1C5F9}"/>
              </a:ext>
            </a:extLst>
          </p:cNvPr>
          <p:cNvCxnSpPr>
            <a:cxnSpLocks/>
          </p:cNvCxnSpPr>
          <p:nvPr/>
        </p:nvCxnSpPr>
        <p:spPr>
          <a:xfrm>
            <a:off x="1245140" y="2698449"/>
            <a:ext cx="1516204" cy="14225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eur droit avec flèche 42">
            <a:extLst>
              <a:ext uri="{FF2B5EF4-FFF2-40B4-BE49-F238E27FC236}">
                <a16:creationId xmlns:a16="http://schemas.microsoft.com/office/drawing/2014/main" id="{38B47C95-B0C3-22A2-F990-10176E5ABF06}"/>
              </a:ext>
            </a:extLst>
          </p:cNvPr>
          <p:cNvCxnSpPr>
            <a:cxnSpLocks/>
          </p:cNvCxnSpPr>
          <p:nvPr/>
        </p:nvCxnSpPr>
        <p:spPr>
          <a:xfrm>
            <a:off x="5045533" y="5148274"/>
            <a:ext cx="1931412" cy="3112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eur droit avec flèche 44">
            <a:extLst>
              <a:ext uri="{FF2B5EF4-FFF2-40B4-BE49-F238E27FC236}">
                <a16:creationId xmlns:a16="http://schemas.microsoft.com/office/drawing/2014/main" id="{25E08704-2F4C-EA8A-CCCD-C82911362BFD}"/>
              </a:ext>
            </a:extLst>
          </p:cNvPr>
          <p:cNvCxnSpPr>
            <a:cxnSpLocks/>
          </p:cNvCxnSpPr>
          <p:nvPr/>
        </p:nvCxnSpPr>
        <p:spPr>
          <a:xfrm>
            <a:off x="6923371" y="4681221"/>
            <a:ext cx="229538" cy="3103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eur droit avec flèche 48">
            <a:extLst>
              <a:ext uri="{FF2B5EF4-FFF2-40B4-BE49-F238E27FC236}">
                <a16:creationId xmlns:a16="http://schemas.microsoft.com/office/drawing/2014/main" id="{808740E2-D960-5D5E-DCFB-792FD4E0D93D}"/>
              </a:ext>
            </a:extLst>
          </p:cNvPr>
          <p:cNvCxnSpPr>
            <a:cxnSpLocks/>
          </p:cNvCxnSpPr>
          <p:nvPr/>
        </p:nvCxnSpPr>
        <p:spPr>
          <a:xfrm>
            <a:off x="7692652" y="4093802"/>
            <a:ext cx="881670" cy="9278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eur droit avec flèche 50">
            <a:extLst>
              <a:ext uri="{FF2B5EF4-FFF2-40B4-BE49-F238E27FC236}">
                <a16:creationId xmlns:a16="http://schemas.microsoft.com/office/drawing/2014/main" id="{4347B41C-D9B5-8592-957D-643A87D93228}"/>
              </a:ext>
            </a:extLst>
          </p:cNvPr>
          <p:cNvCxnSpPr>
            <a:cxnSpLocks/>
          </p:cNvCxnSpPr>
          <p:nvPr/>
        </p:nvCxnSpPr>
        <p:spPr>
          <a:xfrm flipV="1">
            <a:off x="7436880" y="2034513"/>
            <a:ext cx="805500" cy="6174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ZoneTexte 53">
            <a:extLst>
              <a:ext uri="{FF2B5EF4-FFF2-40B4-BE49-F238E27FC236}">
                <a16:creationId xmlns:a16="http://schemas.microsoft.com/office/drawing/2014/main" id="{0A6CA2BD-D2AC-D0E8-B396-ED646079321C}"/>
              </a:ext>
            </a:extLst>
          </p:cNvPr>
          <p:cNvSpPr txBox="1"/>
          <p:nvPr/>
        </p:nvSpPr>
        <p:spPr>
          <a:xfrm>
            <a:off x="7436880" y="927462"/>
            <a:ext cx="244623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b="1" i="1" dirty="0"/>
              <a:t>Mesure de l’ambiance du chat</a:t>
            </a:r>
          </a:p>
          <a:p>
            <a:r>
              <a:rPr lang="fr-FR" sz="1100" b="1" i="1" dirty="0"/>
              <a:t>en temps réel</a:t>
            </a:r>
          </a:p>
        </p:txBody>
      </p:sp>
      <p:cxnSp>
        <p:nvCxnSpPr>
          <p:cNvPr id="56" name="Connecteur droit avec flèche 55">
            <a:extLst>
              <a:ext uri="{FF2B5EF4-FFF2-40B4-BE49-F238E27FC236}">
                <a16:creationId xmlns:a16="http://schemas.microsoft.com/office/drawing/2014/main" id="{EBE70E25-0E2B-9BF8-C077-AB5FE7441AF2}"/>
              </a:ext>
            </a:extLst>
          </p:cNvPr>
          <p:cNvCxnSpPr>
            <a:cxnSpLocks/>
          </p:cNvCxnSpPr>
          <p:nvPr/>
        </p:nvCxnSpPr>
        <p:spPr>
          <a:xfrm>
            <a:off x="8869687" y="2305713"/>
            <a:ext cx="277280" cy="26936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ZoneTexte 61">
            <a:extLst>
              <a:ext uri="{FF2B5EF4-FFF2-40B4-BE49-F238E27FC236}">
                <a16:creationId xmlns:a16="http://schemas.microsoft.com/office/drawing/2014/main" id="{B4A9F40D-20FB-6925-5AED-006033B9120C}"/>
              </a:ext>
            </a:extLst>
          </p:cNvPr>
          <p:cNvSpPr txBox="1"/>
          <p:nvPr/>
        </p:nvSpPr>
        <p:spPr>
          <a:xfrm>
            <a:off x="10309647" y="1311567"/>
            <a:ext cx="2446235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b="1" i="1" dirty="0"/>
              <a:t>Dashboard  </a:t>
            </a:r>
            <a:br>
              <a:rPr lang="fr-FR" sz="1100" b="1" i="1" dirty="0"/>
            </a:br>
            <a:r>
              <a:rPr lang="fr-FR" sz="1100" b="1" i="1" dirty="0"/>
              <a:t>Ambiance, nb </a:t>
            </a:r>
            <a:r>
              <a:rPr lang="fr-FR" sz="1100" b="1" i="1" dirty="0" err="1"/>
              <a:t>viewers</a:t>
            </a:r>
            <a:r>
              <a:rPr lang="fr-FR" sz="1100" b="1" i="1" dirty="0"/>
              <a:t>, nb messages par min. …</a:t>
            </a:r>
          </a:p>
        </p:txBody>
      </p:sp>
      <p:cxnSp>
        <p:nvCxnSpPr>
          <p:cNvPr id="1035" name="Connecteur droit avec flèche 1034">
            <a:extLst>
              <a:ext uri="{FF2B5EF4-FFF2-40B4-BE49-F238E27FC236}">
                <a16:creationId xmlns:a16="http://schemas.microsoft.com/office/drawing/2014/main" id="{4BD791E0-0573-1889-A90B-FD2AA2FA7074}"/>
              </a:ext>
            </a:extLst>
          </p:cNvPr>
          <p:cNvCxnSpPr>
            <a:cxnSpLocks/>
          </p:cNvCxnSpPr>
          <p:nvPr/>
        </p:nvCxnSpPr>
        <p:spPr>
          <a:xfrm flipV="1">
            <a:off x="10000725" y="3050140"/>
            <a:ext cx="793073" cy="17612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Picture 2" descr="Understanding Reputation Management Through Sentiment Analysis">
            <a:extLst>
              <a:ext uri="{FF2B5EF4-FFF2-40B4-BE49-F238E27FC236}">
                <a16:creationId xmlns:a16="http://schemas.microsoft.com/office/drawing/2014/main" id="{2C7AF4F5-E930-B522-5B49-B99AEC0942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5874" y="4250665"/>
            <a:ext cx="2213348" cy="1159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Images de Pouce Vert Rouge – Téléchargement gratuit sur Freepik">
            <a:extLst>
              <a:ext uri="{FF2B5EF4-FFF2-40B4-BE49-F238E27FC236}">
                <a16:creationId xmlns:a16="http://schemas.microsoft.com/office/drawing/2014/main" id="{901C73DE-B165-ABC6-C415-BB5798B833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2997" y="1413065"/>
            <a:ext cx="1401358" cy="8408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0403891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3687</TotalTime>
  <Words>110</Words>
  <Application>Microsoft Office PowerPoint</Application>
  <PresentationFormat>Grand écran</PresentationFormat>
  <Paragraphs>38</Paragraphs>
  <Slides>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Thème Office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Loic Valentini</dc:creator>
  <cp:lastModifiedBy>Loic Valentini</cp:lastModifiedBy>
  <cp:revision>6</cp:revision>
  <dcterms:created xsi:type="dcterms:W3CDTF">2025-05-18T13:22:32Z</dcterms:created>
  <dcterms:modified xsi:type="dcterms:W3CDTF">2025-09-25T19:34:25Z</dcterms:modified>
</cp:coreProperties>
</file>