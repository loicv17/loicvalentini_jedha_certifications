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05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5F915E-14A1-A8C6-AECD-23D22A837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ABB29D-048B-2666-E28C-63720E3C1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60A301-3BAF-92F5-3DF4-1D3F9985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19/05/2025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1F1883-B26C-04A8-E3F8-F1063C44E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0604D9-518D-912A-8A95-56B4726F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6746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3A3B7-59FA-D636-D728-59C93D9D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DE5192-AB9B-3E46-3471-6011BBBC9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75D85E-3002-1E68-6C41-525180C23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19/05/2025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7E1B3C-EF1D-78F8-F791-3D24D4B5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8DE61E-B3B3-AE20-F36B-1211F8D9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14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341235-3FAA-A02C-20EC-ADAAF44C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62FAA8-A084-47D4-C724-85D671748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CBFC70-A1BA-B2BC-E4A3-E83941CF5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19/05/2025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02B18C-2B68-C696-F2E7-A0EC1CAC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8B58CC-A8D3-9D28-949C-E2F425FE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07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669870-03E0-B489-3146-0DD9A5AE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D28E3D-F3A4-B300-C767-32EC01490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5B8D74C-E664-FF23-4316-13D7758C9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9BF863-D2DA-E6FA-FE03-92D6BDF59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19/05/2025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7141F7-771B-C472-1971-6F5E4F11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C6F2C9-FA36-A694-294F-75EDD38B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6627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52B77E-C350-BB6F-AEAA-A27ED4BA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476AB5-637A-C0A3-D36C-F634FAEF0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515AD9-D1A5-0588-4A72-4CDFF6D6E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810A8BC-B1BF-2A2F-A1B2-E02AA11A3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CB0C38-B6DE-638E-0E79-EB330318E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C659D4D-58D8-C1F3-6E06-06BABF831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19/05/2025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A303E0F-C0A3-7CB5-BC48-C8705AF2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10A1534-EAB4-7862-6EC3-9F1B51D9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343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4D8FFF-89B5-952E-051B-E1E967773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502DE16-6ECD-3D2D-3AFE-8E5484D1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19/05/2025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6E1146-6A62-34E7-6883-28A8550EE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27CD0F-6E69-D6F9-4F83-9E0CC5B9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541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22B2E6A-D46E-829C-AFFC-9CF8A5A1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19/05/2025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FD77778-8AB2-A420-51C7-AD6FC4A6F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0F25D9-7A72-A450-2B15-99E88D8C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523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1439D8-8AA2-1E17-BDC9-821A3D2CD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877BB0-6F62-D847-A319-1ABCDF3F7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9E340A-B1EA-61BB-DF87-DC9B5488C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4102A2-AEF2-68CF-41E6-A2ECADE5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19/05/2025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C4B215-1558-29DA-F911-F0102290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ED257F-6EA7-11CE-B200-8B1F84CA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635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335B6-A23B-C039-5227-2C84B7404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CC3948C-ADDD-5508-BF94-8F7943CAB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3CC504-C17B-55B2-4B36-46B86B762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64D0CC-D855-991D-A8E8-154453397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19/05/2025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0FC709-B08F-1198-A05A-A3A08F36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D3AB8F-C105-6D05-F24F-E1FB22FFE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00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BAA35-8083-7454-8FBB-EFFE87CA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AA7DB0-78D7-57BF-D68D-DC94917C5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955490-333C-B380-AF5A-045552C37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19/05/2025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9F5F67-64EE-432B-6E87-152B0965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B8A1F8-1F07-CD4E-ABA4-D80D275C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7176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FE2AD27-3977-6E9F-C19C-7E400D290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B01797-D3D3-76CE-4A53-B741D58D3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C4C48F-34EF-1E31-6C54-3BE488A0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19/05/2025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F890FA-8A73-3077-D3E9-5F64C29B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1A52F4-A1B8-E29C-9E44-8D37D9E6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065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6E05967-AFCF-2C2C-27F1-C41308296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7DF904-171E-3FFC-8DB2-9315F13D3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271CCD-986E-E6B5-3923-A02BF4D8B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06B2C-3CAE-4EA5-9F5D-D2B76FE68327}" type="datetimeFigureOut">
              <a:rPr lang="fr-FR" smtClean="0"/>
              <a:t>19/05/2025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0ECE1E-D7BC-A60C-1205-1FE19ACD3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7DBB03-D705-2E21-93ED-6ED12C7C9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10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5.jpe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19B64958-A94E-3082-E6A1-5BD49869E165}"/>
              </a:ext>
            </a:extLst>
          </p:cNvPr>
          <p:cNvSpPr/>
          <p:nvPr/>
        </p:nvSpPr>
        <p:spPr>
          <a:xfrm>
            <a:off x="6096000" y="3510469"/>
            <a:ext cx="7073900" cy="419660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0F162917-FA4B-824B-A7EB-24A87FF935C6}"/>
              </a:ext>
            </a:extLst>
          </p:cNvPr>
          <p:cNvSpPr/>
          <p:nvPr/>
        </p:nvSpPr>
        <p:spPr>
          <a:xfrm>
            <a:off x="6083946" y="-690087"/>
            <a:ext cx="7073900" cy="419660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D8C01F7-3320-A992-F50E-7DF88286AB39}"/>
              </a:ext>
            </a:extLst>
          </p:cNvPr>
          <p:cNvSpPr/>
          <p:nvPr/>
        </p:nvSpPr>
        <p:spPr>
          <a:xfrm>
            <a:off x="-977900" y="3480363"/>
            <a:ext cx="7073900" cy="41966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AC76F097-BDE6-22D5-9207-141A0D12B108}"/>
              </a:ext>
            </a:extLst>
          </p:cNvPr>
          <p:cNvSpPr/>
          <p:nvPr/>
        </p:nvSpPr>
        <p:spPr>
          <a:xfrm>
            <a:off x="-977900" y="-704850"/>
            <a:ext cx="7073900" cy="419660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BBF0187-3782-DD68-6886-37CAA740B228}"/>
              </a:ext>
            </a:extLst>
          </p:cNvPr>
          <p:cNvSpPr/>
          <p:nvPr/>
        </p:nvSpPr>
        <p:spPr>
          <a:xfrm>
            <a:off x="4743272" y="2167834"/>
            <a:ext cx="2927931" cy="25449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FCF6BC-7BFB-AD24-A4E0-CE84C4A3A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629" y="3073209"/>
            <a:ext cx="1898666" cy="73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y we Invested in Neon - M12">
            <a:extLst>
              <a:ext uri="{FF2B5EF4-FFF2-40B4-BE49-F238E27FC236}">
                <a16:creationId xmlns:a16="http://schemas.microsoft.com/office/drawing/2014/main" id="{FC354FBA-6247-189D-8F65-B7CFD3D64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227" y="5156267"/>
            <a:ext cx="1165278" cy="49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i - Icônes ui gratuites">
            <a:extLst>
              <a:ext uri="{FF2B5EF4-FFF2-40B4-BE49-F238E27FC236}">
                <a16:creationId xmlns:a16="http://schemas.microsoft.com/office/drawing/2014/main" id="{E0729101-BC7F-6237-F3B9-6B817300E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862" y="1200737"/>
            <a:ext cx="986115" cy="98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41A3D41-7F0F-4EE4-EB94-491C9291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707" y="4120980"/>
            <a:ext cx="1134187" cy="611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Lflow — a modern MLOps tool for data project collaboration | by Hong  Nguyen | SFU Professional Computer Science | Medium">
            <a:extLst>
              <a:ext uri="{FF2B5EF4-FFF2-40B4-BE49-F238E27FC236}">
                <a16:creationId xmlns:a16="http://schemas.microsoft.com/office/drawing/2014/main" id="{D87E8C90-475C-B99C-8FE4-F8A325D63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345" y="4781611"/>
            <a:ext cx="1242732" cy="48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C5DA6877-52A7-E732-DB07-822F811F7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0858" y="733830"/>
            <a:ext cx="731388" cy="73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679386F7-740E-1933-9FD7-25B4ED255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1742" y="2134433"/>
            <a:ext cx="1250236" cy="73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43DF3AC-3FC9-298E-2F4F-D19454F9CB1D}"/>
              </a:ext>
            </a:extLst>
          </p:cNvPr>
          <p:cNvSpPr txBox="1"/>
          <p:nvPr/>
        </p:nvSpPr>
        <p:spPr>
          <a:xfrm>
            <a:off x="79769" y="1442362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 err="1"/>
              <a:t>History</a:t>
            </a:r>
            <a:r>
              <a:rPr lang="fr-FR" sz="1100" b="1" i="1" dirty="0"/>
              <a:t> </a:t>
            </a:r>
            <a:r>
              <a:rPr lang="fr-FR" sz="1100" b="1" i="1" dirty="0" err="1"/>
              <a:t>database</a:t>
            </a:r>
            <a:endParaRPr lang="fr-FR" sz="1100" b="1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2FE09CD-C582-E190-90D9-2C79F0C8B316}"/>
              </a:ext>
            </a:extLst>
          </p:cNvPr>
          <p:cNvSpPr txBox="1"/>
          <p:nvPr/>
        </p:nvSpPr>
        <p:spPr>
          <a:xfrm>
            <a:off x="2631879" y="837914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Real-Time API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83BBBA1-175A-C1C2-5136-6D2F80A94A3F}"/>
              </a:ext>
            </a:extLst>
          </p:cNvPr>
          <p:cNvSpPr txBox="1"/>
          <p:nvPr/>
        </p:nvSpPr>
        <p:spPr>
          <a:xfrm>
            <a:off x="79769" y="231064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Data Sources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C23B9D5-3C57-2FCE-E322-E4963F6B7824}"/>
              </a:ext>
            </a:extLst>
          </p:cNvPr>
          <p:cNvSpPr txBox="1"/>
          <p:nvPr/>
        </p:nvSpPr>
        <p:spPr>
          <a:xfrm>
            <a:off x="142759" y="6023261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Machine Learning</a:t>
            </a:r>
          </a:p>
        </p:txBody>
      </p:sp>
      <p:pic>
        <p:nvPicPr>
          <p:cNvPr id="1056" name="Picture 32" descr="Database Icons - Free SVG &amp; PNG Database Images - Noun Project">
            <a:extLst>
              <a:ext uri="{FF2B5EF4-FFF2-40B4-BE49-F238E27FC236}">
                <a16:creationId xmlns:a16="http://schemas.microsoft.com/office/drawing/2014/main" id="{1047CF3E-64AA-B9F0-EF27-25DDCD54C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79" y="1771487"/>
            <a:ext cx="986116" cy="98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Machine Learning Icon - Free Download Science &amp; Technology Icons | IconScout">
            <a:extLst>
              <a:ext uri="{FF2B5EF4-FFF2-40B4-BE49-F238E27FC236}">
                <a16:creationId xmlns:a16="http://schemas.microsoft.com/office/drawing/2014/main" id="{C85F6B9E-E947-982A-3B3C-D874575A3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60947" y="4217717"/>
            <a:ext cx="137352" cy="13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Python logo - Icônes Médias sociaux et logos">
            <a:extLst>
              <a:ext uri="{FF2B5EF4-FFF2-40B4-BE49-F238E27FC236}">
                <a16:creationId xmlns:a16="http://schemas.microsoft.com/office/drawing/2014/main" id="{787C8B72-916D-2ABF-0357-C8B810077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314" y="3948425"/>
            <a:ext cx="463647" cy="46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55F13B9B-66FD-B63A-4CD1-8EC8538B7019}"/>
              </a:ext>
            </a:extLst>
          </p:cNvPr>
          <p:cNvSpPr txBox="1"/>
          <p:nvPr/>
        </p:nvSpPr>
        <p:spPr>
          <a:xfrm>
            <a:off x="11559339" y="253684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User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8EFA2C5-9436-42B5-E0FC-25289A01F5D7}"/>
              </a:ext>
            </a:extLst>
          </p:cNvPr>
          <p:cNvSpPr txBox="1"/>
          <p:nvPr/>
        </p:nvSpPr>
        <p:spPr>
          <a:xfrm>
            <a:off x="11382774" y="6026722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Storage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6BE535F-6CFD-DECB-C1A8-8C879F5C325E}"/>
              </a:ext>
            </a:extLst>
          </p:cNvPr>
          <p:cNvSpPr txBox="1"/>
          <p:nvPr/>
        </p:nvSpPr>
        <p:spPr>
          <a:xfrm>
            <a:off x="5087501" y="2622203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Workflow orchestration</a:t>
            </a:r>
          </a:p>
        </p:txBody>
      </p:sp>
      <p:pic>
        <p:nvPicPr>
          <p:cNvPr id="1070" name="Picture 46" descr="Machine learning model&quot; Icon - Download for free – Iconduck">
            <a:extLst>
              <a:ext uri="{FF2B5EF4-FFF2-40B4-BE49-F238E27FC236}">
                <a16:creationId xmlns:a16="http://schemas.microsoft.com/office/drawing/2014/main" id="{ADE9EFAB-9C79-0FE8-5A99-DADA44CC5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21" y="5088826"/>
            <a:ext cx="921615" cy="92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DC7B7B57-F41A-F651-86C3-805798669547}"/>
              </a:ext>
            </a:extLst>
          </p:cNvPr>
          <p:cNvSpPr txBox="1"/>
          <p:nvPr/>
        </p:nvSpPr>
        <p:spPr>
          <a:xfrm>
            <a:off x="2693904" y="5459512"/>
            <a:ext cx="24462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i="1" dirty="0" err="1"/>
              <a:t>Performed</a:t>
            </a:r>
            <a:r>
              <a:rPr lang="fr-FR" sz="1100" b="1" i="1" dirty="0"/>
              <a:t> on </a:t>
            </a:r>
            <a:r>
              <a:rPr lang="fr-FR" sz="1100" b="1" i="1" dirty="0" err="1"/>
              <a:t>scikit-learn</a:t>
            </a:r>
            <a:br>
              <a:rPr lang="fr-FR" sz="1100" b="1" i="1" dirty="0"/>
            </a:br>
            <a:r>
              <a:rPr lang="fr-FR" sz="1100" b="1" i="1" dirty="0" err="1"/>
              <a:t>Tracked</a:t>
            </a:r>
            <a:r>
              <a:rPr lang="fr-FR" sz="1100" b="1" i="1" dirty="0"/>
              <a:t> on </a:t>
            </a:r>
            <a:r>
              <a:rPr lang="fr-FR" sz="1100" b="1" i="1" dirty="0" err="1"/>
              <a:t>Mlflow</a:t>
            </a:r>
            <a:endParaRPr lang="fr-FR" sz="1100" b="1" i="1" dirty="0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D3E5469D-F32C-8BE8-F13F-002C04768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865" y="5015244"/>
            <a:ext cx="817841" cy="97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56">
            <a:extLst>
              <a:ext uri="{FF2B5EF4-FFF2-40B4-BE49-F238E27FC236}">
                <a16:creationId xmlns:a16="http://schemas.microsoft.com/office/drawing/2014/main" id="{22E30CB2-448C-FAB5-7FF3-57F2F9C67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1631" y="4275132"/>
            <a:ext cx="2052184" cy="54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 descr="Fraud detection - Free business and finance icons">
            <a:extLst>
              <a:ext uri="{FF2B5EF4-FFF2-40B4-BE49-F238E27FC236}">
                <a16:creationId xmlns:a16="http://schemas.microsoft.com/office/drawing/2014/main" id="{0679B57B-6262-9482-DA1C-57242BC06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394" y="1391127"/>
            <a:ext cx="914586" cy="91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04F2E30A-197C-C8FF-1779-FF4BFA75C4F5}"/>
              </a:ext>
            </a:extLst>
          </p:cNvPr>
          <p:cNvCxnSpPr>
            <a:cxnSpLocks/>
          </p:cNvCxnSpPr>
          <p:nvPr/>
        </p:nvCxnSpPr>
        <p:spPr>
          <a:xfrm>
            <a:off x="3936745" y="1881438"/>
            <a:ext cx="948717" cy="817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9FD35E68-3A49-6DEB-A70D-3AC4DBD1C5F9}"/>
              </a:ext>
            </a:extLst>
          </p:cNvPr>
          <p:cNvCxnSpPr>
            <a:cxnSpLocks/>
          </p:cNvCxnSpPr>
          <p:nvPr/>
        </p:nvCxnSpPr>
        <p:spPr>
          <a:xfrm>
            <a:off x="1245140" y="2698449"/>
            <a:ext cx="1516204" cy="1422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38B47C95-B0C3-22A2-F990-10176E5ABF06}"/>
              </a:ext>
            </a:extLst>
          </p:cNvPr>
          <p:cNvCxnSpPr>
            <a:cxnSpLocks/>
          </p:cNvCxnSpPr>
          <p:nvPr/>
        </p:nvCxnSpPr>
        <p:spPr>
          <a:xfrm>
            <a:off x="5045533" y="5148274"/>
            <a:ext cx="1931412" cy="311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25E08704-2F4C-EA8A-CCCD-C82911362BFD}"/>
              </a:ext>
            </a:extLst>
          </p:cNvPr>
          <p:cNvCxnSpPr>
            <a:cxnSpLocks/>
          </p:cNvCxnSpPr>
          <p:nvPr/>
        </p:nvCxnSpPr>
        <p:spPr>
          <a:xfrm>
            <a:off x="6923371" y="4681221"/>
            <a:ext cx="229538" cy="310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808740E2-D960-5D5E-DCFB-792FD4E0D93D}"/>
              </a:ext>
            </a:extLst>
          </p:cNvPr>
          <p:cNvCxnSpPr>
            <a:cxnSpLocks/>
          </p:cNvCxnSpPr>
          <p:nvPr/>
        </p:nvCxnSpPr>
        <p:spPr>
          <a:xfrm>
            <a:off x="7692652" y="4093802"/>
            <a:ext cx="881670" cy="927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4347B41C-D9B5-8592-957D-643A87D93228}"/>
              </a:ext>
            </a:extLst>
          </p:cNvPr>
          <p:cNvCxnSpPr>
            <a:cxnSpLocks/>
          </p:cNvCxnSpPr>
          <p:nvPr/>
        </p:nvCxnSpPr>
        <p:spPr>
          <a:xfrm flipV="1">
            <a:off x="7529232" y="2004753"/>
            <a:ext cx="805500" cy="61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0A6CA2BD-D2AC-D0E8-B396-ED646079321C}"/>
              </a:ext>
            </a:extLst>
          </p:cNvPr>
          <p:cNvSpPr txBox="1"/>
          <p:nvPr/>
        </p:nvSpPr>
        <p:spPr>
          <a:xfrm>
            <a:off x="8233033" y="1021470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 err="1"/>
              <a:t>Fraud</a:t>
            </a:r>
            <a:r>
              <a:rPr lang="fr-FR" sz="1100" b="1" i="1" dirty="0"/>
              <a:t> </a:t>
            </a:r>
            <a:r>
              <a:rPr lang="fr-FR" sz="1100" b="1" i="1" dirty="0" err="1"/>
              <a:t>Detection</a:t>
            </a:r>
            <a:endParaRPr lang="fr-FR" sz="1100" b="1" i="1" dirty="0"/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EBE70E25-0E2B-9BF8-C077-AB5FE7441AF2}"/>
              </a:ext>
            </a:extLst>
          </p:cNvPr>
          <p:cNvCxnSpPr>
            <a:cxnSpLocks/>
            <a:stCxn id="1082" idx="2"/>
          </p:cNvCxnSpPr>
          <p:nvPr/>
        </p:nvCxnSpPr>
        <p:spPr>
          <a:xfrm>
            <a:off x="8869687" y="2305713"/>
            <a:ext cx="277280" cy="2693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AF0CE495-ECC0-2EE0-12F5-5AEA131442ED}"/>
              </a:ext>
            </a:extLst>
          </p:cNvPr>
          <p:cNvCxnSpPr>
            <a:cxnSpLocks/>
          </p:cNvCxnSpPr>
          <p:nvPr/>
        </p:nvCxnSpPr>
        <p:spPr>
          <a:xfrm flipV="1">
            <a:off x="9404101" y="1152275"/>
            <a:ext cx="983326" cy="453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78D19A6A-F75C-7222-DE88-1129423D2618}"/>
              </a:ext>
            </a:extLst>
          </p:cNvPr>
          <p:cNvSpPr txBox="1"/>
          <p:nvPr/>
        </p:nvSpPr>
        <p:spPr>
          <a:xfrm>
            <a:off x="10622245" y="450557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Email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B4A9F40D-20FB-6925-5AED-006033B9120C}"/>
              </a:ext>
            </a:extLst>
          </p:cNvPr>
          <p:cNvSpPr txBox="1"/>
          <p:nvPr/>
        </p:nvSpPr>
        <p:spPr>
          <a:xfrm>
            <a:off x="10535554" y="1925242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Dashboard</a:t>
            </a:r>
          </a:p>
        </p:txBody>
      </p: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51FB5D6A-6CB7-1E32-3A08-20238CC61290}"/>
              </a:ext>
            </a:extLst>
          </p:cNvPr>
          <p:cNvCxnSpPr>
            <a:cxnSpLocks/>
          </p:cNvCxnSpPr>
          <p:nvPr/>
        </p:nvCxnSpPr>
        <p:spPr>
          <a:xfrm flipV="1">
            <a:off x="9950423" y="4871513"/>
            <a:ext cx="371319" cy="304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eur droit avec flèche 1034">
            <a:extLst>
              <a:ext uri="{FF2B5EF4-FFF2-40B4-BE49-F238E27FC236}">
                <a16:creationId xmlns:a16="http://schemas.microsoft.com/office/drawing/2014/main" id="{4BD791E0-0573-1889-A90B-FD2AA2FA7074}"/>
              </a:ext>
            </a:extLst>
          </p:cNvPr>
          <p:cNvCxnSpPr>
            <a:cxnSpLocks/>
          </p:cNvCxnSpPr>
          <p:nvPr/>
        </p:nvCxnSpPr>
        <p:spPr>
          <a:xfrm flipH="1" flipV="1">
            <a:off x="10975708" y="2929604"/>
            <a:ext cx="46331" cy="1246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ZoneTexte 1046">
            <a:extLst>
              <a:ext uri="{FF2B5EF4-FFF2-40B4-BE49-F238E27FC236}">
                <a16:creationId xmlns:a16="http://schemas.microsoft.com/office/drawing/2014/main" id="{9106F8B7-365C-031E-CC4D-4EF5BA9A70F8}"/>
              </a:ext>
            </a:extLst>
          </p:cNvPr>
          <p:cNvSpPr txBox="1"/>
          <p:nvPr/>
        </p:nvSpPr>
        <p:spPr>
          <a:xfrm>
            <a:off x="8242380" y="5807279"/>
            <a:ext cx="30298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i="1" dirty="0"/>
              <a:t>Amazon S3 : Model and </a:t>
            </a:r>
            <a:r>
              <a:rPr lang="fr-FR" sz="1100" b="1" i="1" dirty="0" err="1"/>
              <a:t>Tracking</a:t>
            </a:r>
            <a:endParaRPr lang="fr-FR" sz="1100" b="1" i="1" dirty="0"/>
          </a:p>
          <a:p>
            <a:pPr algn="ctr"/>
            <a:r>
              <a:rPr lang="fr-FR" sz="1100" b="1" i="1" dirty="0" err="1"/>
              <a:t>NeonDB</a:t>
            </a:r>
            <a:r>
              <a:rPr lang="fr-FR" sz="1100" b="1" i="1" dirty="0"/>
              <a:t> : </a:t>
            </a:r>
            <a:r>
              <a:rPr lang="fr-FR" sz="1100" b="1" i="1" dirty="0" err="1"/>
              <a:t>Databases</a:t>
            </a:r>
            <a:endParaRPr lang="fr-FR" sz="1100" b="1" i="1" dirty="0"/>
          </a:p>
          <a:p>
            <a:pPr algn="ctr"/>
            <a:r>
              <a:rPr lang="fr-FR" sz="1100" b="1" i="1" dirty="0" err="1"/>
              <a:t>HuggingFace</a:t>
            </a:r>
            <a:r>
              <a:rPr lang="fr-FR" sz="1100" b="1" i="1" dirty="0"/>
              <a:t> : Dashboard </a:t>
            </a:r>
            <a:r>
              <a:rPr lang="fr-FR" sz="1100" b="1" i="1" dirty="0" err="1"/>
              <a:t>deployment</a:t>
            </a:r>
            <a:endParaRPr lang="fr-FR" sz="1100" b="1" i="1" dirty="0"/>
          </a:p>
        </p:txBody>
      </p:sp>
    </p:spTree>
    <p:extLst>
      <p:ext uri="{BB962C8B-B14F-4D97-AF65-F5344CB8AC3E}">
        <p14:creationId xmlns:p14="http://schemas.microsoft.com/office/powerpoint/2010/main" val="84502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llipse 23">
            <a:extLst>
              <a:ext uri="{FF2B5EF4-FFF2-40B4-BE49-F238E27FC236}">
                <a16:creationId xmlns:a16="http://schemas.microsoft.com/office/drawing/2014/main" id="{FBBF0187-3782-DD68-6886-37CAA740B228}"/>
              </a:ext>
            </a:extLst>
          </p:cNvPr>
          <p:cNvSpPr/>
          <p:nvPr/>
        </p:nvSpPr>
        <p:spPr>
          <a:xfrm>
            <a:off x="4743272" y="2167834"/>
            <a:ext cx="2927931" cy="25449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FCF6BC-7BFB-AD24-A4E0-CE84C4A3A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628" y="2762932"/>
            <a:ext cx="1898666" cy="73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y we Invested in Neon - M12">
            <a:extLst>
              <a:ext uri="{FF2B5EF4-FFF2-40B4-BE49-F238E27FC236}">
                <a16:creationId xmlns:a16="http://schemas.microsoft.com/office/drawing/2014/main" id="{FC354FBA-6247-189D-8F65-B7CFD3D64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227" y="5156267"/>
            <a:ext cx="1165278" cy="49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i - Icônes ui gratuites">
            <a:extLst>
              <a:ext uri="{FF2B5EF4-FFF2-40B4-BE49-F238E27FC236}">
                <a16:creationId xmlns:a16="http://schemas.microsoft.com/office/drawing/2014/main" id="{E0729101-BC7F-6237-F3B9-6B817300E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862" y="1200737"/>
            <a:ext cx="986115" cy="98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679386F7-740E-1933-9FD7-25B4ED255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078" y="2034513"/>
            <a:ext cx="1250236" cy="73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43DF3AC-3FC9-298E-2F4F-D19454F9CB1D}"/>
              </a:ext>
            </a:extLst>
          </p:cNvPr>
          <p:cNvSpPr txBox="1"/>
          <p:nvPr/>
        </p:nvSpPr>
        <p:spPr>
          <a:xfrm>
            <a:off x="79769" y="1442362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 err="1"/>
              <a:t>History</a:t>
            </a:r>
            <a:r>
              <a:rPr lang="fr-FR" sz="1100" b="1" i="1" dirty="0"/>
              <a:t> </a:t>
            </a:r>
            <a:r>
              <a:rPr lang="fr-FR" sz="1100" b="1" i="1" dirty="0" err="1"/>
              <a:t>database</a:t>
            </a:r>
            <a:endParaRPr lang="fr-FR" sz="1100" b="1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2FE09CD-C582-E190-90D9-2C79F0C8B316}"/>
              </a:ext>
            </a:extLst>
          </p:cNvPr>
          <p:cNvSpPr txBox="1"/>
          <p:nvPr/>
        </p:nvSpPr>
        <p:spPr>
          <a:xfrm>
            <a:off x="2631879" y="837914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Live </a:t>
            </a:r>
            <a:r>
              <a:rPr lang="fr-FR" sz="1100" b="1" i="1" dirty="0" err="1"/>
              <a:t>Youtube</a:t>
            </a:r>
            <a:r>
              <a:rPr lang="fr-FR" sz="1100" b="1" i="1" dirty="0"/>
              <a:t> or Twitch streaming</a:t>
            </a:r>
          </a:p>
        </p:txBody>
      </p:sp>
      <p:pic>
        <p:nvPicPr>
          <p:cNvPr id="1056" name="Picture 32" descr="Database Icons - Free SVG &amp; PNG Database Images - Noun Project">
            <a:extLst>
              <a:ext uri="{FF2B5EF4-FFF2-40B4-BE49-F238E27FC236}">
                <a16:creationId xmlns:a16="http://schemas.microsoft.com/office/drawing/2014/main" id="{1047CF3E-64AA-B9F0-EF27-25DDCD54C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79" y="1771487"/>
            <a:ext cx="986116" cy="98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Machine Learning Icon - Free Download Science &amp; Technology Icons | IconScout">
            <a:extLst>
              <a:ext uri="{FF2B5EF4-FFF2-40B4-BE49-F238E27FC236}">
                <a16:creationId xmlns:a16="http://schemas.microsoft.com/office/drawing/2014/main" id="{C85F6B9E-E947-982A-3B3C-D874575A3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60947" y="4217717"/>
            <a:ext cx="137352" cy="13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Python logo - Icônes Médias sociaux et logos">
            <a:extLst>
              <a:ext uri="{FF2B5EF4-FFF2-40B4-BE49-F238E27FC236}">
                <a16:creationId xmlns:a16="http://schemas.microsoft.com/office/drawing/2014/main" id="{787C8B72-916D-2ABF-0357-C8B810077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5048" y="3698960"/>
            <a:ext cx="463647" cy="46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 descr="Machine learning model&quot; Icon - Download for free – Iconduck">
            <a:extLst>
              <a:ext uri="{FF2B5EF4-FFF2-40B4-BE49-F238E27FC236}">
                <a16:creationId xmlns:a16="http://schemas.microsoft.com/office/drawing/2014/main" id="{ADE9EFAB-9C79-0FE8-5A99-DADA44CC5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705" y="5459512"/>
            <a:ext cx="621686" cy="62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6" name="Picture 52">
            <a:extLst>
              <a:ext uri="{FF2B5EF4-FFF2-40B4-BE49-F238E27FC236}">
                <a16:creationId xmlns:a16="http://schemas.microsoft.com/office/drawing/2014/main" id="{D3E5469D-F32C-8BE8-F13F-002C04768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865" y="5015244"/>
            <a:ext cx="817841" cy="97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04F2E30A-197C-C8FF-1779-FF4BFA75C4F5}"/>
              </a:ext>
            </a:extLst>
          </p:cNvPr>
          <p:cNvCxnSpPr>
            <a:cxnSpLocks/>
          </p:cNvCxnSpPr>
          <p:nvPr/>
        </p:nvCxnSpPr>
        <p:spPr>
          <a:xfrm>
            <a:off x="3936745" y="1881438"/>
            <a:ext cx="948717" cy="817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9FD35E68-3A49-6DEB-A70D-3AC4DBD1C5F9}"/>
              </a:ext>
            </a:extLst>
          </p:cNvPr>
          <p:cNvCxnSpPr>
            <a:cxnSpLocks/>
          </p:cNvCxnSpPr>
          <p:nvPr/>
        </p:nvCxnSpPr>
        <p:spPr>
          <a:xfrm>
            <a:off x="1245140" y="2698449"/>
            <a:ext cx="1516204" cy="1422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38B47C95-B0C3-22A2-F990-10176E5ABF06}"/>
              </a:ext>
            </a:extLst>
          </p:cNvPr>
          <p:cNvCxnSpPr>
            <a:cxnSpLocks/>
          </p:cNvCxnSpPr>
          <p:nvPr/>
        </p:nvCxnSpPr>
        <p:spPr>
          <a:xfrm>
            <a:off x="5045533" y="5148274"/>
            <a:ext cx="1931412" cy="311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25E08704-2F4C-EA8A-CCCD-C82911362BFD}"/>
              </a:ext>
            </a:extLst>
          </p:cNvPr>
          <p:cNvCxnSpPr>
            <a:cxnSpLocks/>
          </p:cNvCxnSpPr>
          <p:nvPr/>
        </p:nvCxnSpPr>
        <p:spPr>
          <a:xfrm>
            <a:off x="6923371" y="4681221"/>
            <a:ext cx="229538" cy="310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808740E2-D960-5D5E-DCFB-792FD4E0D93D}"/>
              </a:ext>
            </a:extLst>
          </p:cNvPr>
          <p:cNvCxnSpPr>
            <a:cxnSpLocks/>
          </p:cNvCxnSpPr>
          <p:nvPr/>
        </p:nvCxnSpPr>
        <p:spPr>
          <a:xfrm>
            <a:off x="7692652" y="4093802"/>
            <a:ext cx="881670" cy="927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4347B41C-D9B5-8592-957D-643A87D93228}"/>
              </a:ext>
            </a:extLst>
          </p:cNvPr>
          <p:cNvCxnSpPr>
            <a:cxnSpLocks/>
          </p:cNvCxnSpPr>
          <p:nvPr/>
        </p:nvCxnSpPr>
        <p:spPr>
          <a:xfrm flipV="1">
            <a:off x="7436880" y="2034513"/>
            <a:ext cx="805500" cy="61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0A6CA2BD-D2AC-D0E8-B396-ED646079321C}"/>
              </a:ext>
            </a:extLst>
          </p:cNvPr>
          <p:cNvSpPr txBox="1"/>
          <p:nvPr/>
        </p:nvSpPr>
        <p:spPr>
          <a:xfrm>
            <a:off x="7436880" y="927462"/>
            <a:ext cx="24462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Mesure de l’ambiance du chat</a:t>
            </a:r>
          </a:p>
          <a:p>
            <a:r>
              <a:rPr lang="fr-FR" sz="1100" b="1" i="1" dirty="0"/>
              <a:t>en temps réel</a:t>
            </a:r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EBE70E25-0E2B-9BF8-C077-AB5FE7441AF2}"/>
              </a:ext>
            </a:extLst>
          </p:cNvPr>
          <p:cNvCxnSpPr>
            <a:cxnSpLocks/>
          </p:cNvCxnSpPr>
          <p:nvPr/>
        </p:nvCxnSpPr>
        <p:spPr>
          <a:xfrm>
            <a:off x="8869687" y="2305713"/>
            <a:ext cx="277280" cy="2693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ZoneTexte 61">
            <a:extLst>
              <a:ext uri="{FF2B5EF4-FFF2-40B4-BE49-F238E27FC236}">
                <a16:creationId xmlns:a16="http://schemas.microsoft.com/office/drawing/2014/main" id="{B4A9F40D-20FB-6925-5AED-006033B9120C}"/>
              </a:ext>
            </a:extLst>
          </p:cNvPr>
          <p:cNvSpPr txBox="1"/>
          <p:nvPr/>
        </p:nvSpPr>
        <p:spPr>
          <a:xfrm>
            <a:off x="10309647" y="1311567"/>
            <a:ext cx="244623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Dashboard  </a:t>
            </a:r>
            <a:br>
              <a:rPr lang="fr-FR" sz="1100" b="1" i="1" dirty="0"/>
            </a:br>
            <a:r>
              <a:rPr lang="fr-FR" sz="1100" b="1" i="1" dirty="0"/>
              <a:t>Ambiance, nb </a:t>
            </a:r>
            <a:r>
              <a:rPr lang="fr-FR" sz="1100" b="1" i="1" dirty="0" err="1"/>
              <a:t>viewers</a:t>
            </a:r>
            <a:r>
              <a:rPr lang="fr-FR" sz="1100" b="1" i="1" dirty="0"/>
              <a:t>, nb messages par min. …</a:t>
            </a:r>
          </a:p>
        </p:txBody>
      </p:sp>
      <p:cxnSp>
        <p:nvCxnSpPr>
          <p:cNvPr id="1035" name="Connecteur droit avec flèche 1034">
            <a:extLst>
              <a:ext uri="{FF2B5EF4-FFF2-40B4-BE49-F238E27FC236}">
                <a16:creationId xmlns:a16="http://schemas.microsoft.com/office/drawing/2014/main" id="{4BD791E0-0573-1889-A90B-FD2AA2FA7074}"/>
              </a:ext>
            </a:extLst>
          </p:cNvPr>
          <p:cNvCxnSpPr>
            <a:cxnSpLocks/>
          </p:cNvCxnSpPr>
          <p:nvPr/>
        </p:nvCxnSpPr>
        <p:spPr>
          <a:xfrm flipV="1">
            <a:off x="10000725" y="3050140"/>
            <a:ext cx="793073" cy="1761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nderstanding Reputation Management Through Sentiment Analysis">
            <a:extLst>
              <a:ext uri="{FF2B5EF4-FFF2-40B4-BE49-F238E27FC236}">
                <a16:creationId xmlns:a16="http://schemas.microsoft.com/office/drawing/2014/main" id="{2C7AF4F5-E930-B522-5B49-B99AEC094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874" y="4250665"/>
            <a:ext cx="2213348" cy="115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Images de Pouce Vert Rouge – Téléchargement gratuit sur Freepik">
            <a:extLst>
              <a:ext uri="{FF2B5EF4-FFF2-40B4-BE49-F238E27FC236}">
                <a16:creationId xmlns:a16="http://schemas.microsoft.com/office/drawing/2014/main" id="{901C73DE-B165-ABC6-C415-BB5798B83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997" y="1413065"/>
            <a:ext cx="1401358" cy="84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40389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3074</TotalTime>
  <Words>64</Words>
  <Application>Microsoft Office PowerPoint</Application>
  <PresentationFormat>Grand écran</PresentationFormat>
  <Paragraphs>19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Loic Valentini</dc:creator>
  <cp:lastModifiedBy>Loic Valentini</cp:lastModifiedBy>
  <cp:revision>5</cp:revision>
  <dcterms:created xsi:type="dcterms:W3CDTF">2025-05-18T13:22:32Z</dcterms:created>
  <dcterms:modified xsi:type="dcterms:W3CDTF">2025-05-21T14:28:13Z</dcterms:modified>
</cp:coreProperties>
</file>