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2B7FE-2222-434C-9341-6E093E2CFAA4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D3DA6-67FF-4164-9D4F-BB9C8F09C1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563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5F915E-14A1-A8C6-AECD-23D22A837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ABB29D-048B-2666-E28C-63720E3C1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60A301-3BAF-92F5-3DF4-1D3F9985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1F1883-B26C-04A8-E3F8-F1063C44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0604D9-518D-912A-8A95-56B4726F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674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3A3B7-59FA-D636-D728-59C93D9DB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DE5192-AB9B-3E46-3471-6011BBBC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75D85E-3002-1E68-6C41-525180C23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7E1B3C-EF1D-78F8-F791-3D24D4B53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8DE61E-B3B3-AE20-F36B-1211F8D9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414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341235-3FAA-A02C-20EC-ADAAF44C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62FAA8-A084-47D4-C724-85D671748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CBFC70-A1BA-B2BC-E4A3-E83941CF5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02B18C-2B68-C696-F2E7-A0EC1CAC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8B58CC-A8D3-9D28-949C-E2F425FE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707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69870-03E0-B489-3146-0DD9A5AE1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D28E3D-F3A4-B300-C767-32EC01490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B8D74C-E664-FF23-4316-13D7758C9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9BF863-D2DA-E6FA-FE03-92D6BDF5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87141F7-771B-C472-1971-6F5E4F11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C6F2C9-FA36-A694-294F-75EDD38B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6627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52B77E-C350-BB6F-AEAA-A27ED4BA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476AB5-637A-C0A3-D36C-F634FAEF0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515AD9-D1A5-0588-4A72-4CDFF6D6E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810A8BC-B1BF-2A2F-A1B2-E02AA11A3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CB0C38-B6DE-638E-0E79-EB330318E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C659D4D-58D8-C1F3-6E06-06BABF83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A303E0F-C0A3-7CB5-BC48-C8705AF2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10A1534-EAB4-7862-6EC3-9F1B51D9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343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4D8FFF-89B5-952E-051B-E1E96777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502DE16-6ECD-3D2D-3AFE-8E5484D15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6E1146-6A62-34E7-6883-28A8550E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27CD0F-6E69-D6F9-4F83-9E0CC5B9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5411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22B2E6A-D46E-829C-AFFC-9CF8A5A1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FD77778-8AB2-A420-51C7-AD6FC4A6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0F25D9-7A72-A450-2B15-99E88D8C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23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439D8-8AA2-1E17-BDC9-821A3D2CD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877BB0-6F62-D847-A319-1ABCDF3F7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9E340A-B1EA-61BB-DF87-DC9B5488C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4102A2-AEF2-68CF-41E6-A2ECADE5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C4B215-1558-29DA-F911-F0102290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5ED257F-6EA7-11CE-B200-8B1F84CA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6355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8335B6-A23B-C039-5227-2C84B7404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CC3948C-ADDD-5508-BF94-8F7943CAB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A3CC504-C17B-55B2-4B36-46B86B762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64D0CC-D855-991D-A8E8-15445339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0FC709-B08F-1198-A05A-A3A08F36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3AB8F-C105-6D05-F24F-E1FB22FF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100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BAA35-8083-7454-8FBB-EFFE87CA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0AA7DB0-78D7-57BF-D68D-DC94917C5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955490-333C-B380-AF5A-045552C3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9F5F67-64EE-432B-6E87-152B0965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B8A1F8-1F07-CD4E-ABA4-D80D275C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7176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FE2AD27-3977-6E9F-C19C-7E400D290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B01797-D3D3-76CE-4A53-B741D58D3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C4C48F-34EF-1E31-6C54-3BE488A05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F890FA-8A73-3077-D3E9-5F64C29B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1A52F4-A1B8-E29C-9E44-8D37D9E6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065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6E05967-AFCF-2C2C-27F1-C41308296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7DF904-171E-3FFC-8DB2-9315F13D3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271CCD-986E-E6B5-3923-A02BF4D8B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06B2C-3CAE-4EA5-9F5D-D2B76FE68327}" type="datetimeFigureOut">
              <a:rPr lang="fr-FR" smtClean="0"/>
              <a:t>27/09/2025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0ECE1E-D7BC-A60C-1205-1FE19ACD3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7DBB03-D705-2E21-93ED-6ED12C7C9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2431AC-1916-4283-82BC-E62042D237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10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lead-program-assets.s3.eu-west-3.amazonaws.com/M05-Projects/fraudTest.csv" TargetMode="External"/><Relationship Id="rId18" Type="http://schemas.openxmlformats.org/officeDocument/2006/relationships/hyperlink" Target="https://ibb.co/7dXvYCg0" TargetMode="External"/><Relationship Id="rId26" Type="http://schemas.openxmlformats.org/officeDocument/2006/relationships/image" Target="../media/image14.png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hyperlink" Target="https://ibb.co/N6HNjvZ5" TargetMode="External"/><Relationship Id="rId25" Type="http://schemas.openxmlformats.org/officeDocument/2006/relationships/hyperlink" Target="https://ibb.co/gZQPK8KR" TargetMode="External"/><Relationship Id="rId2" Type="http://schemas.openxmlformats.org/officeDocument/2006/relationships/image" Target="../media/image1.png"/><Relationship Id="rId16" Type="http://schemas.openxmlformats.org/officeDocument/2006/relationships/hyperlink" Target="https://ibb.co/5WMCNfRw" TargetMode="External"/><Relationship Id="rId20" Type="http://schemas.openxmlformats.org/officeDocument/2006/relationships/hyperlink" Target="https://ibb.co/k2ZLw8wt" TargetMode="External"/><Relationship Id="rId29" Type="http://schemas.openxmlformats.org/officeDocument/2006/relationships/hyperlink" Target="https://ibb.co/84MRd83d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24" Type="http://schemas.openxmlformats.org/officeDocument/2006/relationships/hyperlink" Target="https://appfrauddetection-epeqsuz4dk6587dglvvsbd.streamlit.app/" TargetMode="External"/><Relationship Id="rId5" Type="http://schemas.openxmlformats.org/officeDocument/2006/relationships/image" Target="../media/image4.png"/><Relationship Id="rId15" Type="http://schemas.openxmlformats.org/officeDocument/2006/relationships/hyperlink" Target="https://huggingface.co/spaces/charlestng/real-time-fraud-detection" TargetMode="External"/><Relationship Id="rId23" Type="http://schemas.openxmlformats.org/officeDocument/2006/relationships/image" Target="../media/image13.png"/><Relationship Id="rId28" Type="http://schemas.openxmlformats.org/officeDocument/2006/relationships/hyperlink" Target="https://ibb.co/sdHK6fc2" TargetMode="External"/><Relationship Id="rId10" Type="http://schemas.openxmlformats.org/officeDocument/2006/relationships/hyperlink" Target="https://loicv17-fraud-detection-api.hf.space/docs" TargetMode="External"/><Relationship Id="rId19" Type="http://schemas.openxmlformats.org/officeDocument/2006/relationships/hyperlink" Target="https://ibb.co/9CkX3Fj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hyperlink" Target="https://ibb.co/GQ5jWbvs" TargetMode="External"/><Relationship Id="rId22" Type="http://schemas.openxmlformats.org/officeDocument/2006/relationships/image" Target="../media/image12.png"/><Relationship Id="rId27" Type="http://schemas.openxmlformats.org/officeDocument/2006/relationships/hyperlink" Target="https://ibb.co/cK6jzSz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2" descr="Database Icons - Free SVG &amp; PNG Database Images - Noun Project">
            <a:extLst>
              <a:ext uri="{FF2B5EF4-FFF2-40B4-BE49-F238E27FC236}">
                <a16:creationId xmlns:a16="http://schemas.microsoft.com/office/drawing/2014/main" id="{09831F48-820D-F5EE-C0F5-9021D78A6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077" y="459291"/>
            <a:ext cx="1052177" cy="105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MLflow — a modern MLOps tool for data project collaboration | by Hong  Nguyen | SFU Professional Computer Science | Medium">
            <a:extLst>
              <a:ext uri="{FF2B5EF4-FFF2-40B4-BE49-F238E27FC236}">
                <a16:creationId xmlns:a16="http://schemas.microsoft.com/office/drawing/2014/main" id="{9EBACE7B-6FF1-E52F-BC74-C33C22FA6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262" y="1104150"/>
            <a:ext cx="641351" cy="247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762E9762-5AFE-62B3-06A9-449B149E6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270" y="1019471"/>
            <a:ext cx="678605" cy="36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Understanding XGBoost &amp; it's growing popularity among the ML community | by  Deep Borkar | Analytics Vidhya | Medium">
            <a:extLst>
              <a:ext uri="{FF2B5EF4-FFF2-40B4-BE49-F238E27FC236}">
                <a16:creationId xmlns:a16="http://schemas.microsoft.com/office/drawing/2014/main" id="{7A8B1E19-E9CD-86FF-83BB-D71317EB2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894" y="929161"/>
            <a:ext cx="1085901" cy="603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FastAPI">
            <a:extLst>
              <a:ext uri="{FF2B5EF4-FFF2-40B4-BE49-F238E27FC236}">
                <a16:creationId xmlns:a16="http://schemas.microsoft.com/office/drawing/2014/main" id="{CA2ACF8B-BD40-5988-3C34-2D8B65EDC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085" y="985380"/>
            <a:ext cx="1020834" cy="36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E846A177-047F-CFB4-AFE6-F90A4B45D42D}"/>
              </a:ext>
            </a:extLst>
          </p:cNvPr>
          <p:cNvCxnSpPr>
            <a:cxnSpLocks/>
          </p:cNvCxnSpPr>
          <p:nvPr/>
        </p:nvCxnSpPr>
        <p:spPr>
          <a:xfrm>
            <a:off x="2457319" y="974963"/>
            <a:ext cx="2745584" cy="1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8AF38276-4A09-DC3A-1E35-3104DD60313D}"/>
              </a:ext>
            </a:extLst>
          </p:cNvPr>
          <p:cNvCxnSpPr>
            <a:cxnSpLocks/>
          </p:cNvCxnSpPr>
          <p:nvPr/>
        </p:nvCxnSpPr>
        <p:spPr>
          <a:xfrm>
            <a:off x="6116644" y="997324"/>
            <a:ext cx="2938010" cy="9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56">
            <a:extLst>
              <a:ext uri="{FF2B5EF4-FFF2-40B4-BE49-F238E27FC236}">
                <a16:creationId xmlns:a16="http://schemas.microsoft.com/office/drawing/2014/main" id="{A1485606-E11F-7EFE-3356-579D9A0E4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461" y="1040076"/>
            <a:ext cx="1020834" cy="27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Api - Icônes ui gratuites">
            <a:extLst>
              <a:ext uri="{FF2B5EF4-FFF2-40B4-BE49-F238E27FC236}">
                <a16:creationId xmlns:a16="http://schemas.microsoft.com/office/drawing/2014/main" id="{184D638C-06A1-EC14-85F8-865853B62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303" y="1673933"/>
            <a:ext cx="1194823" cy="119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Why we Invested in Neon - M12">
            <a:extLst>
              <a:ext uri="{FF2B5EF4-FFF2-40B4-BE49-F238E27FC236}">
                <a16:creationId xmlns:a16="http://schemas.microsoft.com/office/drawing/2014/main" id="{22658CC4-7125-CE9F-8650-79EBE81A8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444" y="3254405"/>
            <a:ext cx="876763" cy="37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E8AD010-1124-8067-4636-612302305280}"/>
              </a:ext>
            </a:extLst>
          </p:cNvPr>
          <p:cNvCxnSpPr>
            <a:cxnSpLocks/>
          </p:cNvCxnSpPr>
          <p:nvPr/>
        </p:nvCxnSpPr>
        <p:spPr>
          <a:xfrm flipV="1">
            <a:off x="2885161" y="2291084"/>
            <a:ext cx="2010795" cy="8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oneTexte 2">
            <a:extLst>
              <a:ext uri="{FF2B5EF4-FFF2-40B4-BE49-F238E27FC236}">
                <a16:creationId xmlns:a16="http://schemas.microsoft.com/office/drawing/2014/main" id="{974977F9-4E16-F4EE-4DE5-0B37D53ED46E}"/>
              </a:ext>
            </a:extLst>
          </p:cNvPr>
          <p:cNvSpPr txBox="1"/>
          <p:nvPr/>
        </p:nvSpPr>
        <p:spPr>
          <a:xfrm>
            <a:off x="10272870" y="769936"/>
            <a:ext cx="163664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Accès au prédictions </a:t>
            </a:r>
          </a:p>
          <a:p>
            <a:pPr algn="ctr"/>
            <a:r>
              <a:rPr lang="fr-FR" sz="1100" b="1" dirty="0"/>
              <a:t>du modèle via l’API </a:t>
            </a:r>
            <a:r>
              <a:rPr lang="fr-FR" sz="1100" b="1" dirty="0">
                <a:solidFill>
                  <a:schemeClr val="accent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pic>
        <p:nvPicPr>
          <p:cNvPr id="13" name="Picture 52">
            <a:extLst>
              <a:ext uri="{FF2B5EF4-FFF2-40B4-BE49-F238E27FC236}">
                <a16:creationId xmlns:a16="http://schemas.microsoft.com/office/drawing/2014/main" id="{03B86037-4359-40DC-8C8D-E3CF2F3A5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408" y="3108737"/>
            <a:ext cx="522519" cy="62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>
            <a:extLst>
              <a:ext uri="{FF2B5EF4-FFF2-40B4-BE49-F238E27FC236}">
                <a16:creationId xmlns:a16="http://schemas.microsoft.com/office/drawing/2014/main" id="{6791693A-C0B1-20EA-8EBB-2F284C2F5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738" y="4909074"/>
            <a:ext cx="1242736" cy="48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ZoneTexte 53">
            <a:extLst>
              <a:ext uri="{FF2B5EF4-FFF2-40B4-BE49-F238E27FC236}">
                <a16:creationId xmlns:a16="http://schemas.microsoft.com/office/drawing/2014/main" id="{9F958565-4BBA-E520-05E2-97F482E3AFBF}"/>
              </a:ext>
            </a:extLst>
          </p:cNvPr>
          <p:cNvSpPr txBox="1"/>
          <p:nvPr/>
        </p:nvSpPr>
        <p:spPr>
          <a:xfrm>
            <a:off x="2526183" y="576618"/>
            <a:ext cx="2098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Création et entraînement du modèle, suivi et performances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01C228C-1609-93D1-36E2-4799ECC25818}"/>
              </a:ext>
            </a:extLst>
          </p:cNvPr>
          <p:cNvSpPr txBox="1"/>
          <p:nvPr/>
        </p:nvSpPr>
        <p:spPr>
          <a:xfrm>
            <a:off x="128355" y="729611"/>
            <a:ext cx="130150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Base de données historique</a:t>
            </a:r>
          </a:p>
          <a:p>
            <a:pPr algn="ctr"/>
            <a:r>
              <a:rPr lang="fr-FR" sz="1100" b="1" dirty="0">
                <a:solidFill>
                  <a:schemeClr val="accent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r>
              <a:rPr lang="fr-FR" sz="1100" b="1" dirty="0"/>
              <a:t> 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F11A95D2-BC0A-886E-7DCC-4D143CBAD4BD}"/>
              </a:ext>
            </a:extLst>
          </p:cNvPr>
          <p:cNvSpPr txBox="1"/>
          <p:nvPr/>
        </p:nvSpPr>
        <p:spPr>
          <a:xfrm>
            <a:off x="5145275" y="257094"/>
            <a:ext cx="12714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AWS S3 </a:t>
            </a:r>
            <a:r>
              <a:rPr lang="fr-FR" sz="1100" b="1" dirty="0" err="1"/>
              <a:t>bucket</a:t>
            </a:r>
            <a:endParaRPr lang="fr-FR" sz="1100" b="1" dirty="0"/>
          </a:p>
          <a:p>
            <a:pPr algn="ctr"/>
            <a:r>
              <a:rPr lang="fr-FR" sz="1100" b="1" dirty="0">
                <a:solidFill>
                  <a:schemeClr val="accent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14318FEC-CCCD-5527-4952-84AFAE45AEA1}"/>
              </a:ext>
            </a:extLst>
          </p:cNvPr>
          <p:cNvSpPr txBox="1"/>
          <p:nvPr/>
        </p:nvSpPr>
        <p:spPr>
          <a:xfrm>
            <a:off x="6473908" y="576618"/>
            <a:ext cx="2098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Création d’une API déployée pour obtenir des prédictions</a:t>
            </a:r>
          </a:p>
        </p:txBody>
      </p:sp>
      <p:pic>
        <p:nvPicPr>
          <p:cNvPr id="2051" name="Picture 6" descr="Api - Icônes ui gratuites">
            <a:extLst>
              <a:ext uri="{FF2B5EF4-FFF2-40B4-BE49-F238E27FC236}">
                <a16:creationId xmlns:a16="http://schemas.microsoft.com/office/drawing/2014/main" id="{F8842F37-965D-4BDD-1A47-4220C6E59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6617" y="599908"/>
            <a:ext cx="813294" cy="813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2" name="ZoneTexte 2051">
            <a:extLst>
              <a:ext uri="{FF2B5EF4-FFF2-40B4-BE49-F238E27FC236}">
                <a16:creationId xmlns:a16="http://schemas.microsoft.com/office/drawing/2014/main" id="{A8F0C943-E319-8C57-5676-AFF1E9B1A2F1}"/>
              </a:ext>
            </a:extLst>
          </p:cNvPr>
          <p:cNvSpPr txBox="1"/>
          <p:nvPr/>
        </p:nvSpPr>
        <p:spPr>
          <a:xfrm>
            <a:off x="0" y="2123011"/>
            <a:ext cx="169242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API données de paiement en temps réel</a:t>
            </a:r>
          </a:p>
          <a:p>
            <a:pPr algn="ctr"/>
            <a:r>
              <a:rPr lang="fr-FR" sz="1100" b="1" dirty="0">
                <a:solidFill>
                  <a:schemeClr val="accent1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r>
              <a:rPr lang="fr-FR" sz="1100" b="1" dirty="0"/>
              <a:t> </a:t>
            </a:r>
          </a:p>
        </p:txBody>
      </p:sp>
      <p:sp>
        <p:nvSpPr>
          <p:cNvPr id="2055" name="ZoneTexte 2054">
            <a:extLst>
              <a:ext uri="{FF2B5EF4-FFF2-40B4-BE49-F238E27FC236}">
                <a16:creationId xmlns:a16="http://schemas.microsoft.com/office/drawing/2014/main" id="{ADF373CF-5D29-B3EC-EF6A-DEB7DD998F26}"/>
              </a:ext>
            </a:extLst>
          </p:cNvPr>
          <p:cNvSpPr txBox="1"/>
          <p:nvPr/>
        </p:nvSpPr>
        <p:spPr>
          <a:xfrm>
            <a:off x="2705257" y="2044863"/>
            <a:ext cx="2098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Envoi des données brutes</a:t>
            </a:r>
          </a:p>
        </p:txBody>
      </p:sp>
      <p:cxnSp>
        <p:nvCxnSpPr>
          <p:cNvPr id="2056" name="Connecteur droit avec flèche 2055">
            <a:extLst>
              <a:ext uri="{FF2B5EF4-FFF2-40B4-BE49-F238E27FC236}">
                <a16:creationId xmlns:a16="http://schemas.microsoft.com/office/drawing/2014/main" id="{F8F55387-4A35-D1DA-67B2-6EEB7F0438F7}"/>
              </a:ext>
            </a:extLst>
          </p:cNvPr>
          <p:cNvCxnSpPr>
            <a:cxnSpLocks/>
          </p:cNvCxnSpPr>
          <p:nvPr/>
        </p:nvCxnSpPr>
        <p:spPr>
          <a:xfrm>
            <a:off x="6116644" y="2652730"/>
            <a:ext cx="0" cy="389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7" name="ZoneTexte 2056">
            <a:extLst>
              <a:ext uri="{FF2B5EF4-FFF2-40B4-BE49-F238E27FC236}">
                <a16:creationId xmlns:a16="http://schemas.microsoft.com/office/drawing/2014/main" id="{3902CC38-89B6-F362-BEC6-BADA401B07FC}"/>
              </a:ext>
            </a:extLst>
          </p:cNvPr>
          <p:cNvSpPr txBox="1"/>
          <p:nvPr/>
        </p:nvSpPr>
        <p:spPr>
          <a:xfrm>
            <a:off x="6100366" y="2652730"/>
            <a:ext cx="2355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Stockage de raw_payments.csv et scored_payments.csv sur deux bases</a:t>
            </a:r>
          </a:p>
        </p:txBody>
      </p:sp>
      <p:cxnSp>
        <p:nvCxnSpPr>
          <p:cNvPr id="2059" name="Connecteur droit avec flèche 2058">
            <a:extLst>
              <a:ext uri="{FF2B5EF4-FFF2-40B4-BE49-F238E27FC236}">
                <a16:creationId xmlns:a16="http://schemas.microsoft.com/office/drawing/2014/main" id="{A2832545-A568-1543-2BBE-7AE28C9A6B9F}"/>
              </a:ext>
            </a:extLst>
          </p:cNvPr>
          <p:cNvCxnSpPr>
            <a:cxnSpLocks/>
          </p:cNvCxnSpPr>
          <p:nvPr/>
        </p:nvCxnSpPr>
        <p:spPr>
          <a:xfrm flipH="1">
            <a:off x="7466081" y="1529436"/>
            <a:ext cx="2089741" cy="834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1" name="ZoneTexte 2060">
            <a:extLst>
              <a:ext uri="{FF2B5EF4-FFF2-40B4-BE49-F238E27FC236}">
                <a16:creationId xmlns:a16="http://schemas.microsoft.com/office/drawing/2014/main" id="{AC54E6DB-C2C5-77D5-C3F5-328B10042E19}"/>
              </a:ext>
            </a:extLst>
          </p:cNvPr>
          <p:cNvSpPr txBox="1"/>
          <p:nvPr/>
        </p:nvSpPr>
        <p:spPr>
          <a:xfrm>
            <a:off x="8558295" y="1935799"/>
            <a:ext cx="1797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Récolte du </a:t>
            </a:r>
            <a:r>
              <a:rPr lang="fr-FR" sz="1000" dirty="0" err="1"/>
              <a:t>scoring</a:t>
            </a:r>
            <a:r>
              <a:rPr lang="fr-FR" sz="1000" dirty="0"/>
              <a:t> lié à chaque transaction</a:t>
            </a:r>
          </a:p>
        </p:txBody>
      </p:sp>
      <p:cxnSp>
        <p:nvCxnSpPr>
          <p:cNvPr id="2066" name="Connecteur droit avec flèche 2065">
            <a:extLst>
              <a:ext uri="{FF2B5EF4-FFF2-40B4-BE49-F238E27FC236}">
                <a16:creationId xmlns:a16="http://schemas.microsoft.com/office/drawing/2014/main" id="{F22C93B4-9146-3286-556C-D8F487CFB54A}"/>
              </a:ext>
            </a:extLst>
          </p:cNvPr>
          <p:cNvCxnSpPr>
            <a:cxnSpLocks/>
          </p:cNvCxnSpPr>
          <p:nvPr/>
        </p:nvCxnSpPr>
        <p:spPr>
          <a:xfrm flipH="1">
            <a:off x="5477930" y="2652730"/>
            <a:ext cx="285514" cy="323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5" name="Connecteur droit avec flèche 2074">
            <a:extLst>
              <a:ext uri="{FF2B5EF4-FFF2-40B4-BE49-F238E27FC236}">
                <a16:creationId xmlns:a16="http://schemas.microsoft.com/office/drawing/2014/main" id="{A5466B1D-53E4-8F9B-65D3-AC67AC4BF93B}"/>
              </a:ext>
            </a:extLst>
          </p:cNvPr>
          <p:cNvCxnSpPr>
            <a:cxnSpLocks/>
          </p:cNvCxnSpPr>
          <p:nvPr/>
        </p:nvCxnSpPr>
        <p:spPr>
          <a:xfrm flipH="1">
            <a:off x="7251693" y="1413202"/>
            <a:ext cx="2205599" cy="878623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7" name="ZoneTexte 2076">
            <a:extLst>
              <a:ext uri="{FF2B5EF4-FFF2-40B4-BE49-F238E27FC236}">
                <a16:creationId xmlns:a16="http://schemas.microsoft.com/office/drawing/2014/main" id="{E1C071EC-4F1F-9C0A-127A-682BE6FF8700}"/>
              </a:ext>
            </a:extLst>
          </p:cNvPr>
          <p:cNvSpPr txBox="1"/>
          <p:nvPr/>
        </p:nvSpPr>
        <p:spPr>
          <a:xfrm>
            <a:off x="6840851" y="1459912"/>
            <a:ext cx="2098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Guidage des données brutes vers l’API de prédiction</a:t>
            </a:r>
          </a:p>
        </p:txBody>
      </p:sp>
      <p:sp>
        <p:nvSpPr>
          <p:cNvPr id="2078" name="ZoneTexte 2077">
            <a:extLst>
              <a:ext uri="{FF2B5EF4-FFF2-40B4-BE49-F238E27FC236}">
                <a16:creationId xmlns:a16="http://schemas.microsoft.com/office/drawing/2014/main" id="{352735EA-3C32-7298-EA8C-051D28B29605}"/>
              </a:ext>
            </a:extLst>
          </p:cNvPr>
          <p:cNvSpPr txBox="1"/>
          <p:nvPr/>
        </p:nvSpPr>
        <p:spPr>
          <a:xfrm>
            <a:off x="3583859" y="3186392"/>
            <a:ext cx="1506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AWS S3 </a:t>
            </a:r>
            <a:r>
              <a:rPr lang="fr-FR" sz="1100" b="1" dirty="0" err="1"/>
              <a:t>bucket</a:t>
            </a:r>
            <a:endParaRPr lang="fr-FR" sz="1100" b="1" dirty="0"/>
          </a:p>
          <a:p>
            <a:pPr algn="ctr"/>
            <a:r>
              <a:rPr lang="fr-FR" sz="1100" b="1" dirty="0">
                <a:solidFill>
                  <a:schemeClr val="accent1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sp>
        <p:nvSpPr>
          <p:cNvPr id="2079" name="ZoneTexte 2078">
            <a:extLst>
              <a:ext uri="{FF2B5EF4-FFF2-40B4-BE49-F238E27FC236}">
                <a16:creationId xmlns:a16="http://schemas.microsoft.com/office/drawing/2014/main" id="{2CBFCD64-5836-0B78-6410-3483343C865B}"/>
              </a:ext>
            </a:extLst>
          </p:cNvPr>
          <p:cNvSpPr txBox="1"/>
          <p:nvPr/>
        </p:nvSpPr>
        <p:spPr>
          <a:xfrm>
            <a:off x="4772590" y="1669051"/>
            <a:ext cx="20988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DAG </a:t>
            </a:r>
            <a:r>
              <a:rPr lang="fr-FR" sz="1100" b="1" dirty="0" err="1"/>
              <a:t>fetch_and_score</a:t>
            </a:r>
            <a:r>
              <a:rPr lang="fr-FR" sz="1100" b="1" dirty="0"/>
              <a:t> </a:t>
            </a:r>
            <a:r>
              <a:rPr lang="fr-FR" sz="1100" b="1" dirty="0">
                <a:solidFill>
                  <a:schemeClr val="accent1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sp>
        <p:nvSpPr>
          <p:cNvPr id="2084" name="AutoShape 8" descr="Docker Vector SVG Icon - SVG Repo">
            <a:extLst>
              <a:ext uri="{FF2B5EF4-FFF2-40B4-BE49-F238E27FC236}">
                <a16:creationId xmlns:a16="http://schemas.microsoft.com/office/drawing/2014/main" id="{524A79BA-C01F-07C3-C57F-3AB4A12E2A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78367" y="319591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cxnSp>
        <p:nvCxnSpPr>
          <p:cNvPr id="2089" name="Connecteur droit avec flèche 2088">
            <a:extLst>
              <a:ext uri="{FF2B5EF4-FFF2-40B4-BE49-F238E27FC236}">
                <a16:creationId xmlns:a16="http://schemas.microsoft.com/office/drawing/2014/main" id="{5DADD2CB-FF88-2079-F42D-E83E6751A1FE}"/>
              </a:ext>
            </a:extLst>
          </p:cNvPr>
          <p:cNvCxnSpPr>
            <a:cxnSpLocks/>
            <a:endCxn id="1041" idx="0"/>
          </p:cNvCxnSpPr>
          <p:nvPr/>
        </p:nvCxnSpPr>
        <p:spPr>
          <a:xfrm flipH="1">
            <a:off x="2796920" y="3795361"/>
            <a:ext cx="2293099" cy="639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1" name="ZoneTexte 2090">
            <a:extLst>
              <a:ext uri="{FF2B5EF4-FFF2-40B4-BE49-F238E27FC236}">
                <a16:creationId xmlns:a16="http://schemas.microsoft.com/office/drawing/2014/main" id="{6A69F012-D4FF-74C1-6109-7E8CD989A418}"/>
              </a:ext>
            </a:extLst>
          </p:cNvPr>
          <p:cNvSpPr txBox="1"/>
          <p:nvPr/>
        </p:nvSpPr>
        <p:spPr>
          <a:xfrm>
            <a:off x="4895956" y="4526002"/>
            <a:ext cx="2208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DAG </a:t>
            </a:r>
            <a:r>
              <a:rPr lang="fr-FR" sz="1100" b="1" dirty="0" err="1"/>
              <a:t>full_report_refresh</a:t>
            </a:r>
            <a:r>
              <a:rPr lang="fr-FR" sz="1100" b="1" dirty="0"/>
              <a:t> </a:t>
            </a:r>
            <a:r>
              <a:rPr lang="fr-FR" sz="1100" b="1" dirty="0">
                <a:solidFill>
                  <a:schemeClr val="accent1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sp>
        <p:nvSpPr>
          <p:cNvPr id="2092" name="ZoneTexte 2091">
            <a:extLst>
              <a:ext uri="{FF2B5EF4-FFF2-40B4-BE49-F238E27FC236}">
                <a16:creationId xmlns:a16="http://schemas.microsoft.com/office/drawing/2014/main" id="{64A7BEE6-A300-557A-2DDE-7A503EED7B5C}"/>
              </a:ext>
            </a:extLst>
          </p:cNvPr>
          <p:cNvSpPr txBox="1"/>
          <p:nvPr/>
        </p:nvSpPr>
        <p:spPr>
          <a:xfrm>
            <a:off x="2414808" y="3733807"/>
            <a:ext cx="1506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Récolte de scored_payments.csv</a:t>
            </a:r>
          </a:p>
        </p:txBody>
      </p:sp>
      <p:pic>
        <p:nvPicPr>
          <p:cNvPr id="2098" name="Picture 52">
            <a:extLst>
              <a:ext uri="{FF2B5EF4-FFF2-40B4-BE49-F238E27FC236}">
                <a16:creationId xmlns:a16="http://schemas.microsoft.com/office/drawing/2014/main" id="{4FCD8E77-B7CB-1CB9-0744-431B73AB0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683" y="6020927"/>
            <a:ext cx="522519" cy="62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0" name="ZoneTexte 2099">
            <a:extLst>
              <a:ext uri="{FF2B5EF4-FFF2-40B4-BE49-F238E27FC236}">
                <a16:creationId xmlns:a16="http://schemas.microsoft.com/office/drawing/2014/main" id="{13E84D23-E465-C1B8-4B09-2EDEE6D2675B}"/>
              </a:ext>
            </a:extLst>
          </p:cNvPr>
          <p:cNvSpPr txBox="1"/>
          <p:nvPr/>
        </p:nvSpPr>
        <p:spPr>
          <a:xfrm>
            <a:off x="3807395" y="5428264"/>
            <a:ext cx="15246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Transformation du .csv en format .parquet optimisé et stockage</a:t>
            </a:r>
          </a:p>
        </p:txBody>
      </p:sp>
      <p:sp>
        <p:nvSpPr>
          <p:cNvPr id="2103" name="ZoneTexte 2102">
            <a:extLst>
              <a:ext uri="{FF2B5EF4-FFF2-40B4-BE49-F238E27FC236}">
                <a16:creationId xmlns:a16="http://schemas.microsoft.com/office/drawing/2014/main" id="{0061A35C-D817-E0D7-5DD0-EDC01B646F08}"/>
              </a:ext>
            </a:extLst>
          </p:cNvPr>
          <p:cNvSpPr txBox="1"/>
          <p:nvPr/>
        </p:nvSpPr>
        <p:spPr>
          <a:xfrm>
            <a:off x="6585228" y="3217170"/>
            <a:ext cx="16436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/>
              <a:t>Base </a:t>
            </a:r>
            <a:r>
              <a:rPr lang="fr-FR" sz="1100" b="1" dirty="0" err="1"/>
              <a:t>Postgre</a:t>
            </a:r>
            <a:r>
              <a:rPr lang="fr-FR" sz="1100" b="1" dirty="0"/>
              <a:t> </a:t>
            </a:r>
            <a:r>
              <a:rPr lang="fr-FR" sz="1100" b="1" dirty="0" err="1"/>
              <a:t>NeonDB</a:t>
            </a:r>
            <a:endParaRPr lang="fr-FR" sz="1100" b="1" dirty="0"/>
          </a:p>
          <a:p>
            <a:pPr algn="ctr"/>
            <a:r>
              <a:rPr lang="fr-FR" sz="1100" b="1" dirty="0">
                <a:solidFill>
                  <a:schemeClr val="accent1"/>
                </a:solidFill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sp>
        <p:nvSpPr>
          <p:cNvPr id="2105" name="ZoneTexte 2104">
            <a:extLst>
              <a:ext uri="{FF2B5EF4-FFF2-40B4-BE49-F238E27FC236}">
                <a16:creationId xmlns:a16="http://schemas.microsoft.com/office/drawing/2014/main" id="{4966B335-59C2-97AA-14F4-8842C5CDD72C}"/>
              </a:ext>
            </a:extLst>
          </p:cNvPr>
          <p:cNvSpPr txBox="1"/>
          <p:nvPr/>
        </p:nvSpPr>
        <p:spPr>
          <a:xfrm>
            <a:off x="4007808" y="6118018"/>
            <a:ext cx="11843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AWS S3 </a:t>
            </a:r>
            <a:r>
              <a:rPr lang="fr-FR" sz="1100" b="1" dirty="0" err="1"/>
              <a:t>bucket</a:t>
            </a:r>
            <a:endParaRPr lang="fr-FR" sz="1100" b="1" dirty="0"/>
          </a:p>
          <a:p>
            <a:pPr algn="ctr"/>
            <a:r>
              <a:rPr lang="fr-FR" sz="1100" b="1" dirty="0">
                <a:solidFill>
                  <a:schemeClr val="accent1"/>
                </a:solidFill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sp>
        <p:nvSpPr>
          <p:cNvPr id="2106" name="ZoneTexte 2105">
            <a:extLst>
              <a:ext uri="{FF2B5EF4-FFF2-40B4-BE49-F238E27FC236}">
                <a16:creationId xmlns:a16="http://schemas.microsoft.com/office/drawing/2014/main" id="{323C5D4A-004C-841F-7967-D026E78B9241}"/>
              </a:ext>
            </a:extLst>
          </p:cNvPr>
          <p:cNvSpPr txBox="1"/>
          <p:nvPr/>
        </p:nvSpPr>
        <p:spPr>
          <a:xfrm>
            <a:off x="5441946" y="5451963"/>
            <a:ext cx="7313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Récolte du fichier</a:t>
            </a:r>
          </a:p>
          <a:p>
            <a:pPr algn="ctr"/>
            <a:r>
              <a:rPr lang="fr-FR" sz="1000" dirty="0"/>
              <a:t> .parquet</a:t>
            </a:r>
          </a:p>
        </p:txBody>
      </p:sp>
      <p:cxnSp>
        <p:nvCxnSpPr>
          <p:cNvPr id="2107" name="Connecteur droit avec flèche 2106">
            <a:extLst>
              <a:ext uri="{FF2B5EF4-FFF2-40B4-BE49-F238E27FC236}">
                <a16:creationId xmlns:a16="http://schemas.microsoft.com/office/drawing/2014/main" id="{2BB0BD3A-8538-F9BD-63CE-DD85BF70414E}"/>
              </a:ext>
            </a:extLst>
          </p:cNvPr>
          <p:cNvCxnSpPr>
            <a:cxnSpLocks/>
          </p:cNvCxnSpPr>
          <p:nvPr/>
        </p:nvCxnSpPr>
        <p:spPr>
          <a:xfrm>
            <a:off x="5320383" y="5515020"/>
            <a:ext cx="0" cy="389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8" name="Connecteur droit avec flèche 2107">
            <a:extLst>
              <a:ext uri="{FF2B5EF4-FFF2-40B4-BE49-F238E27FC236}">
                <a16:creationId xmlns:a16="http://schemas.microsoft.com/office/drawing/2014/main" id="{186A31E1-4A43-4D73-D2E1-AFD5BDBCD480}"/>
              </a:ext>
            </a:extLst>
          </p:cNvPr>
          <p:cNvCxnSpPr>
            <a:cxnSpLocks/>
          </p:cNvCxnSpPr>
          <p:nvPr/>
        </p:nvCxnSpPr>
        <p:spPr>
          <a:xfrm>
            <a:off x="5419942" y="5515020"/>
            <a:ext cx="0" cy="38923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9" name="Connecteur droit avec flèche 2108">
            <a:extLst>
              <a:ext uri="{FF2B5EF4-FFF2-40B4-BE49-F238E27FC236}">
                <a16:creationId xmlns:a16="http://schemas.microsoft.com/office/drawing/2014/main" id="{9C85EE6A-1066-FF77-B633-6E069794B4D0}"/>
              </a:ext>
            </a:extLst>
          </p:cNvPr>
          <p:cNvCxnSpPr>
            <a:cxnSpLocks/>
          </p:cNvCxnSpPr>
          <p:nvPr/>
        </p:nvCxnSpPr>
        <p:spPr>
          <a:xfrm>
            <a:off x="6328257" y="5404558"/>
            <a:ext cx="453021" cy="6163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1" name="ZoneTexte 2110">
            <a:extLst>
              <a:ext uri="{FF2B5EF4-FFF2-40B4-BE49-F238E27FC236}">
                <a16:creationId xmlns:a16="http://schemas.microsoft.com/office/drawing/2014/main" id="{EE22372C-60A4-EF3B-80BD-E471A8CD5779}"/>
              </a:ext>
            </a:extLst>
          </p:cNvPr>
          <p:cNvSpPr txBox="1"/>
          <p:nvPr/>
        </p:nvSpPr>
        <p:spPr>
          <a:xfrm>
            <a:off x="6484637" y="5350257"/>
            <a:ext cx="18560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Génération d’un tableau de bord déployé, basé sur fichier .parquet</a:t>
            </a:r>
          </a:p>
        </p:txBody>
      </p:sp>
      <p:pic>
        <p:nvPicPr>
          <p:cNvPr id="1025" name="Image 1024">
            <a:extLst>
              <a:ext uri="{FF2B5EF4-FFF2-40B4-BE49-F238E27FC236}">
                <a16:creationId xmlns:a16="http://schemas.microsoft.com/office/drawing/2014/main" id="{CEC346E5-97EC-C222-D92D-9AB7272ECE3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33643" y="4758889"/>
            <a:ext cx="344287" cy="344287"/>
          </a:xfrm>
          <a:prstGeom prst="rect">
            <a:avLst/>
          </a:prstGeom>
        </p:spPr>
      </p:pic>
      <p:pic>
        <p:nvPicPr>
          <p:cNvPr id="1026" name="Picture 44" descr="Python logo - Icônes Médias sociaux et logos">
            <a:extLst>
              <a:ext uri="{FF2B5EF4-FFF2-40B4-BE49-F238E27FC236}">
                <a16:creationId xmlns:a16="http://schemas.microsoft.com/office/drawing/2014/main" id="{3A931997-A852-3B33-EB06-FE1363339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683" y="5154532"/>
            <a:ext cx="250033" cy="250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24">
            <a:extLst>
              <a:ext uri="{FF2B5EF4-FFF2-40B4-BE49-F238E27FC236}">
                <a16:creationId xmlns:a16="http://schemas.microsoft.com/office/drawing/2014/main" id="{2AB1C4AD-0C2A-126A-4858-9A64BF57D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436" y="5821278"/>
            <a:ext cx="1479507" cy="865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ZoneTexte 1028">
            <a:extLst>
              <a:ext uri="{FF2B5EF4-FFF2-40B4-BE49-F238E27FC236}">
                <a16:creationId xmlns:a16="http://schemas.microsoft.com/office/drawing/2014/main" id="{6A2D64FA-9755-17CA-B576-7ECCAE39F210}"/>
              </a:ext>
            </a:extLst>
          </p:cNvPr>
          <p:cNvSpPr txBox="1"/>
          <p:nvPr/>
        </p:nvSpPr>
        <p:spPr>
          <a:xfrm>
            <a:off x="7592848" y="6008476"/>
            <a:ext cx="134722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100" b="1" dirty="0"/>
              <a:t>Tableau de bord permanent </a:t>
            </a:r>
          </a:p>
          <a:p>
            <a:pPr algn="ctr"/>
            <a:r>
              <a:rPr lang="fr-FR" sz="1100" b="1" dirty="0">
                <a:solidFill>
                  <a:schemeClr val="accent1"/>
                </a:solidFill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pic>
        <p:nvPicPr>
          <p:cNvPr id="1030" name="Picture 52">
            <a:extLst>
              <a:ext uri="{FF2B5EF4-FFF2-40B4-BE49-F238E27FC236}">
                <a16:creationId xmlns:a16="http://schemas.microsoft.com/office/drawing/2014/main" id="{1DEF6109-F126-CB91-031D-D6B53903A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830" y="704705"/>
            <a:ext cx="522519" cy="62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5" name="Connecteur droit avec flèche 1034">
            <a:extLst>
              <a:ext uri="{FF2B5EF4-FFF2-40B4-BE49-F238E27FC236}">
                <a16:creationId xmlns:a16="http://schemas.microsoft.com/office/drawing/2014/main" id="{52EE3928-023B-78AA-AEFF-EC26519F19AE}"/>
              </a:ext>
            </a:extLst>
          </p:cNvPr>
          <p:cNvCxnSpPr>
            <a:cxnSpLocks/>
            <a:endCxn id="2091" idx="0"/>
          </p:cNvCxnSpPr>
          <p:nvPr/>
        </p:nvCxnSpPr>
        <p:spPr>
          <a:xfrm>
            <a:off x="5434476" y="3760839"/>
            <a:ext cx="565973" cy="7651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1" name="ZoneTexte 1040">
            <a:extLst>
              <a:ext uri="{FF2B5EF4-FFF2-40B4-BE49-F238E27FC236}">
                <a16:creationId xmlns:a16="http://schemas.microsoft.com/office/drawing/2014/main" id="{B1162AB7-727A-D3E1-A83A-C41F4CD9C006}"/>
              </a:ext>
            </a:extLst>
          </p:cNvPr>
          <p:cNvSpPr txBox="1"/>
          <p:nvPr/>
        </p:nvSpPr>
        <p:spPr>
          <a:xfrm>
            <a:off x="1692427" y="4434439"/>
            <a:ext cx="2208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DAG </a:t>
            </a:r>
            <a:r>
              <a:rPr lang="fr-FR" sz="1100" b="1" dirty="0" err="1"/>
              <a:t>daily_report_email</a:t>
            </a:r>
            <a:r>
              <a:rPr lang="fr-FR" sz="1100" b="1" dirty="0"/>
              <a:t> </a:t>
            </a:r>
            <a:r>
              <a:rPr lang="fr-FR" sz="1100" b="1" dirty="0">
                <a:solidFill>
                  <a:schemeClr val="accent1"/>
                </a:solidFill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pic>
        <p:nvPicPr>
          <p:cNvPr id="1043" name="Picture 2">
            <a:extLst>
              <a:ext uri="{FF2B5EF4-FFF2-40B4-BE49-F238E27FC236}">
                <a16:creationId xmlns:a16="http://schemas.microsoft.com/office/drawing/2014/main" id="{DE4D9533-C0B9-629B-BE46-9ABF6716B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123" y="4825299"/>
            <a:ext cx="1242736" cy="48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Image 1043">
            <a:extLst>
              <a:ext uri="{FF2B5EF4-FFF2-40B4-BE49-F238E27FC236}">
                <a16:creationId xmlns:a16="http://schemas.microsoft.com/office/drawing/2014/main" id="{6640C145-AD3E-EF32-8B77-5B6F34D2652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59028" y="4675114"/>
            <a:ext cx="344287" cy="344287"/>
          </a:xfrm>
          <a:prstGeom prst="rect">
            <a:avLst/>
          </a:prstGeom>
        </p:spPr>
      </p:pic>
      <p:pic>
        <p:nvPicPr>
          <p:cNvPr id="1045" name="Picture 44" descr="Python logo - Icônes Médias sociaux et logos">
            <a:extLst>
              <a:ext uri="{FF2B5EF4-FFF2-40B4-BE49-F238E27FC236}">
                <a16:creationId xmlns:a16="http://schemas.microsoft.com/office/drawing/2014/main" id="{5B6B9236-A4EA-6B50-8D98-D39962F65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068" y="5070757"/>
            <a:ext cx="250033" cy="250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6" name="ZoneTexte 1045">
            <a:extLst>
              <a:ext uri="{FF2B5EF4-FFF2-40B4-BE49-F238E27FC236}">
                <a16:creationId xmlns:a16="http://schemas.microsoft.com/office/drawing/2014/main" id="{A58779D0-78CF-21BD-5CC1-25BD5AB5EB2F}"/>
              </a:ext>
            </a:extLst>
          </p:cNvPr>
          <p:cNvSpPr txBox="1"/>
          <p:nvPr/>
        </p:nvSpPr>
        <p:spPr>
          <a:xfrm>
            <a:off x="159961" y="5385932"/>
            <a:ext cx="1784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Filtrage des 24 dernières heures et envoi d’un rapport</a:t>
            </a:r>
          </a:p>
        </p:txBody>
      </p:sp>
      <p:cxnSp>
        <p:nvCxnSpPr>
          <p:cNvPr id="1047" name="Connecteur droit avec flèche 1046">
            <a:extLst>
              <a:ext uri="{FF2B5EF4-FFF2-40B4-BE49-F238E27FC236}">
                <a16:creationId xmlns:a16="http://schemas.microsoft.com/office/drawing/2014/main" id="{0CB06E8E-2B36-2BBC-0CF1-5681CF26BF96}"/>
              </a:ext>
            </a:extLst>
          </p:cNvPr>
          <p:cNvCxnSpPr>
            <a:cxnSpLocks/>
          </p:cNvCxnSpPr>
          <p:nvPr/>
        </p:nvCxnSpPr>
        <p:spPr>
          <a:xfrm flipH="1">
            <a:off x="1998690" y="5419685"/>
            <a:ext cx="242921" cy="322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8" name="Picture 22">
            <a:extLst>
              <a:ext uri="{FF2B5EF4-FFF2-40B4-BE49-F238E27FC236}">
                <a16:creationId xmlns:a16="http://schemas.microsoft.com/office/drawing/2014/main" id="{80B90274-0B5F-726A-C882-BD173C6F0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326" y="5864009"/>
            <a:ext cx="731388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ZoneTexte 1048">
            <a:extLst>
              <a:ext uri="{FF2B5EF4-FFF2-40B4-BE49-F238E27FC236}">
                <a16:creationId xmlns:a16="http://schemas.microsoft.com/office/drawing/2014/main" id="{F01F3618-0889-3BDF-1C05-6465E136C66F}"/>
              </a:ext>
            </a:extLst>
          </p:cNvPr>
          <p:cNvSpPr txBox="1"/>
          <p:nvPr/>
        </p:nvSpPr>
        <p:spPr>
          <a:xfrm>
            <a:off x="93143" y="5998871"/>
            <a:ext cx="1506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Email quotidien</a:t>
            </a:r>
          </a:p>
          <a:p>
            <a:pPr algn="ctr"/>
            <a:r>
              <a:rPr lang="fr-FR" sz="1100" b="1" dirty="0">
                <a:solidFill>
                  <a:schemeClr val="accent1"/>
                </a:solidFill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cxnSp>
        <p:nvCxnSpPr>
          <p:cNvPr id="1050" name="Connecteur droit avec flèche 1049">
            <a:extLst>
              <a:ext uri="{FF2B5EF4-FFF2-40B4-BE49-F238E27FC236}">
                <a16:creationId xmlns:a16="http://schemas.microsoft.com/office/drawing/2014/main" id="{E5C6CA8C-E1BE-FC7B-7FA8-617D1CAA373F}"/>
              </a:ext>
            </a:extLst>
          </p:cNvPr>
          <p:cNvCxnSpPr>
            <a:cxnSpLocks/>
          </p:cNvCxnSpPr>
          <p:nvPr/>
        </p:nvCxnSpPr>
        <p:spPr>
          <a:xfrm>
            <a:off x="5616422" y="3704448"/>
            <a:ext cx="3323240" cy="424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3" name="ZoneTexte 1052">
            <a:extLst>
              <a:ext uri="{FF2B5EF4-FFF2-40B4-BE49-F238E27FC236}">
                <a16:creationId xmlns:a16="http://schemas.microsoft.com/office/drawing/2014/main" id="{14D29F4D-032E-A6C0-952D-750EC5B8D500}"/>
              </a:ext>
            </a:extLst>
          </p:cNvPr>
          <p:cNvSpPr txBox="1"/>
          <p:nvPr/>
        </p:nvSpPr>
        <p:spPr>
          <a:xfrm>
            <a:off x="8907126" y="3949447"/>
            <a:ext cx="22089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DAG </a:t>
            </a:r>
            <a:r>
              <a:rPr lang="fr-FR" sz="1100" b="1" dirty="0" err="1"/>
              <a:t>fraud_report_email</a:t>
            </a:r>
            <a:r>
              <a:rPr lang="fr-FR" sz="1100" b="1" dirty="0"/>
              <a:t> </a:t>
            </a:r>
            <a:r>
              <a:rPr lang="fr-FR" sz="1100" b="1" dirty="0">
                <a:solidFill>
                  <a:schemeClr val="accent1"/>
                </a:solidFill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  <p:pic>
        <p:nvPicPr>
          <p:cNvPr id="1054" name="Picture 2">
            <a:extLst>
              <a:ext uri="{FF2B5EF4-FFF2-40B4-BE49-F238E27FC236}">
                <a16:creationId xmlns:a16="http://schemas.microsoft.com/office/drawing/2014/main" id="{65104D0E-F8BF-BE87-3B6E-67D814130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822" y="4340307"/>
            <a:ext cx="1242736" cy="48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Image 1054">
            <a:extLst>
              <a:ext uri="{FF2B5EF4-FFF2-40B4-BE49-F238E27FC236}">
                <a16:creationId xmlns:a16="http://schemas.microsoft.com/office/drawing/2014/main" id="{3E910C07-48AD-66E1-FF88-DFE16C87BAA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73727" y="4190122"/>
            <a:ext cx="344287" cy="344287"/>
          </a:xfrm>
          <a:prstGeom prst="rect">
            <a:avLst/>
          </a:prstGeom>
        </p:spPr>
      </p:pic>
      <p:pic>
        <p:nvPicPr>
          <p:cNvPr id="1056" name="Picture 44" descr="Python logo - Icônes Médias sociaux et logos">
            <a:extLst>
              <a:ext uri="{FF2B5EF4-FFF2-40B4-BE49-F238E27FC236}">
                <a16:creationId xmlns:a16="http://schemas.microsoft.com/office/drawing/2014/main" id="{0B376E95-34AD-DF44-2629-8AA9D0749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767" y="4585765"/>
            <a:ext cx="250033" cy="250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22">
            <a:extLst>
              <a:ext uri="{FF2B5EF4-FFF2-40B4-BE49-F238E27FC236}">
                <a16:creationId xmlns:a16="http://schemas.microsoft.com/office/drawing/2014/main" id="{FEEF2A0C-E08E-9188-640E-107FD35CF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3264" y="5680497"/>
            <a:ext cx="731388" cy="73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9" name="Connecteur droit avec flèche 1058">
            <a:extLst>
              <a:ext uri="{FF2B5EF4-FFF2-40B4-BE49-F238E27FC236}">
                <a16:creationId xmlns:a16="http://schemas.microsoft.com/office/drawing/2014/main" id="{FDC1B702-2D9A-A28B-5554-E6464E564888}"/>
              </a:ext>
            </a:extLst>
          </p:cNvPr>
          <p:cNvCxnSpPr>
            <a:cxnSpLocks/>
          </p:cNvCxnSpPr>
          <p:nvPr/>
        </p:nvCxnSpPr>
        <p:spPr>
          <a:xfrm>
            <a:off x="10078958" y="4931032"/>
            <a:ext cx="0" cy="581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1" name="ZoneTexte 1060">
            <a:extLst>
              <a:ext uri="{FF2B5EF4-FFF2-40B4-BE49-F238E27FC236}">
                <a16:creationId xmlns:a16="http://schemas.microsoft.com/office/drawing/2014/main" id="{0B28A869-C354-D149-B085-5D4BF991F7F2}"/>
              </a:ext>
            </a:extLst>
          </p:cNvPr>
          <p:cNvSpPr txBox="1"/>
          <p:nvPr/>
        </p:nvSpPr>
        <p:spPr>
          <a:xfrm>
            <a:off x="10304100" y="5839984"/>
            <a:ext cx="1506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Email d’alerte</a:t>
            </a:r>
          </a:p>
          <a:p>
            <a:pPr algn="ctr"/>
            <a:r>
              <a:rPr lang="fr-FR" sz="1100" b="1" u="sng" dirty="0">
                <a:solidFill>
                  <a:schemeClr val="accent1"/>
                </a:solidFill>
              </a:rPr>
              <a:t>LIEN</a:t>
            </a:r>
          </a:p>
        </p:txBody>
      </p:sp>
      <p:sp>
        <p:nvSpPr>
          <p:cNvPr id="1065" name="ZoneTexte 1064">
            <a:extLst>
              <a:ext uri="{FF2B5EF4-FFF2-40B4-BE49-F238E27FC236}">
                <a16:creationId xmlns:a16="http://schemas.microsoft.com/office/drawing/2014/main" id="{C45DD322-32FB-D5DF-3B73-19230BB10756}"/>
              </a:ext>
            </a:extLst>
          </p:cNvPr>
          <p:cNvSpPr txBox="1"/>
          <p:nvPr/>
        </p:nvSpPr>
        <p:spPr>
          <a:xfrm>
            <a:off x="10078958" y="4958755"/>
            <a:ext cx="17847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Déclenchement d’un email d’alerte immédiat en cas de fraude détectée</a:t>
            </a:r>
          </a:p>
        </p:txBody>
      </p:sp>
      <p:pic>
        <p:nvPicPr>
          <p:cNvPr id="1070" name="Picture 52">
            <a:extLst>
              <a:ext uri="{FF2B5EF4-FFF2-40B4-BE49-F238E27FC236}">
                <a16:creationId xmlns:a16="http://schemas.microsoft.com/office/drawing/2014/main" id="{9353334B-25C1-27D4-57D1-52905585D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061" y="348805"/>
            <a:ext cx="261259" cy="312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1" name="Picture 56">
            <a:extLst>
              <a:ext uri="{FF2B5EF4-FFF2-40B4-BE49-F238E27FC236}">
                <a16:creationId xmlns:a16="http://schemas.microsoft.com/office/drawing/2014/main" id="{4B8AF34D-163F-590C-78D8-AA1DFF186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55" y="1666912"/>
            <a:ext cx="922957" cy="246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5" name="Picture 2">
            <a:extLst>
              <a:ext uri="{FF2B5EF4-FFF2-40B4-BE49-F238E27FC236}">
                <a16:creationId xmlns:a16="http://schemas.microsoft.com/office/drawing/2014/main" id="{B67A1378-CD37-3AE7-8049-5578649BE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409" y="2063220"/>
            <a:ext cx="1242736" cy="48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Image 1075">
            <a:extLst>
              <a:ext uri="{FF2B5EF4-FFF2-40B4-BE49-F238E27FC236}">
                <a16:creationId xmlns:a16="http://schemas.microsoft.com/office/drawing/2014/main" id="{9EEB6FD4-2080-77BC-2A51-64C2DA8CEE4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76314" y="1913035"/>
            <a:ext cx="344287" cy="344287"/>
          </a:xfrm>
          <a:prstGeom prst="rect">
            <a:avLst/>
          </a:prstGeom>
        </p:spPr>
      </p:pic>
      <p:pic>
        <p:nvPicPr>
          <p:cNvPr id="1077" name="Picture 44" descr="Python logo - Icônes Médias sociaux et logos">
            <a:extLst>
              <a:ext uri="{FF2B5EF4-FFF2-40B4-BE49-F238E27FC236}">
                <a16:creationId xmlns:a16="http://schemas.microsoft.com/office/drawing/2014/main" id="{81496DAD-23BA-A116-FB98-9E6F377DE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354" y="2308678"/>
            <a:ext cx="250033" cy="250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0" name="ZoneTexte 1079">
            <a:extLst>
              <a:ext uri="{FF2B5EF4-FFF2-40B4-BE49-F238E27FC236}">
                <a16:creationId xmlns:a16="http://schemas.microsoft.com/office/drawing/2014/main" id="{80A67A94-775B-A141-7357-2AC27E1B4C4A}"/>
              </a:ext>
            </a:extLst>
          </p:cNvPr>
          <p:cNvSpPr txBox="1"/>
          <p:nvPr/>
        </p:nvSpPr>
        <p:spPr>
          <a:xfrm>
            <a:off x="4336939" y="3977459"/>
            <a:ext cx="1506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Récolte de scored_payments.csv</a:t>
            </a:r>
          </a:p>
        </p:txBody>
      </p:sp>
      <p:sp>
        <p:nvSpPr>
          <p:cNvPr id="1081" name="ZoneTexte 1080">
            <a:extLst>
              <a:ext uri="{FF2B5EF4-FFF2-40B4-BE49-F238E27FC236}">
                <a16:creationId xmlns:a16="http://schemas.microsoft.com/office/drawing/2014/main" id="{5F7F0BBA-81FE-1A30-ED71-F9386ED72EB6}"/>
              </a:ext>
            </a:extLst>
          </p:cNvPr>
          <p:cNvSpPr txBox="1"/>
          <p:nvPr/>
        </p:nvSpPr>
        <p:spPr>
          <a:xfrm>
            <a:off x="6548666" y="3947074"/>
            <a:ext cx="15061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Récolte de scored_payments.csv</a:t>
            </a:r>
          </a:p>
        </p:txBody>
      </p:sp>
      <p:cxnSp>
        <p:nvCxnSpPr>
          <p:cNvPr id="1086" name="Connecteur droit avec flèche 1085">
            <a:extLst>
              <a:ext uri="{FF2B5EF4-FFF2-40B4-BE49-F238E27FC236}">
                <a16:creationId xmlns:a16="http://schemas.microsoft.com/office/drawing/2014/main" id="{037C4787-D6B7-8607-31FB-C7DBEBB174C0}"/>
              </a:ext>
            </a:extLst>
          </p:cNvPr>
          <p:cNvCxnSpPr>
            <a:cxnSpLocks/>
          </p:cNvCxnSpPr>
          <p:nvPr/>
        </p:nvCxnSpPr>
        <p:spPr>
          <a:xfrm>
            <a:off x="2651722" y="5428264"/>
            <a:ext cx="0" cy="389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7" name="Picture 52">
            <a:extLst>
              <a:ext uri="{FF2B5EF4-FFF2-40B4-BE49-F238E27FC236}">
                <a16:creationId xmlns:a16="http://schemas.microsoft.com/office/drawing/2014/main" id="{14826D68-0D16-EDB7-5647-A27910EC6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463" y="5904255"/>
            <a:ext cx="522519" cy="62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2" name="ZoneTexte 2111">
            <a:extLst>
              <a:ext uri="{FF2B5EF4-FFF2-40B4-BE49-F238E27FC236}">
                <a16:creationId xmlns:a16="http://schemas.microsoft.com/office/drawing/2014/main" id="{BC46887A-B10D-301F-7BB9-6A5770C5A877}"/>
              </a:ext>
            </a:extLst>
          </p:cNvPr>
          <p:cNvSpPr txBox="1"/>
          <p:nvPr/>
        </p:nvSpPr>
        <p:spPr>
          <a:xfrm>
            <a:off x="2673078" y="5419685"/>
            <a:ext cx="809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Copie des rapports</a:t>
            </a:r>
          </a:p>
        </p:txBody>
      </p:sp>
      <p:sp>
        <p:nvSpPr>
          <p:cNvPr id="2113" name="ZoneTexte 2112">
            <a:extLst>
              <a:ext uri="{FF2B5EF4-FFF2-40B4-BE49-F238E27FC236}">
                <a16:creationId xmlns:a16="http://schemas.microsoft.com/office/drawing/2014/main" id="{CAE3D014-35C5-90FF-337E-401E7C91EFD5}"/>
              </a:ext>
            </a:extLst>
          </p:cNvPr>
          <p:cNvSpPr txBox="1"/>
          <p:nvPr/>
        </p:nvSpPr>
        <p:spPr>
          <a:xfrm>
            <a:off x="2777289" y="5904255"/>
            <a:ext cx="10423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AWS S3 </a:t>
            </a:r>
            <a:r>
              <a:rPr lang="fr-FR" sz="1100" b="1" dirty="0" err="1"/>
              <a:t>bucket</a:t>
            </a:r>
            <a:endParaRPr lang="fr-FR" sz="1100" b="1" dirty="0"/>
          </a:p>
          <a:p>
            <a:pPr algn="ctr"/>
            <a:r>
              <a:rPr lang="fr-FR" sz="1100" b="1" dirty="0">
                <a:solidFill>
                  <a:schemeClr val="accent1"/>
                </a:solidFill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</a:t>
            </a:r>
            <a:endParaRPr lang="fr-FR" sz="11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1321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4945</TotalTime>
  <Words>204</Words>
  <Application>Microsoft Office PowerPoint</Application>
  <PresentationFormat>Grand écran</PresentationFormat>
  <Paragraphs>42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Loic Valentini</dc:creator>
  <cp:lastModifiedBy>Loic Valentini</cp:lastModifiedBy>
  <cp:revision>16</cp:revision>
  <dcterms:created xsi:type="dcterms:W3CDTF">2025-05-18T13:22:32Z</dcterms:created>
  <dcterms:modified xsi:type="dcterms:W3CDTF">2025-09-27T11:38:52Z</dcterms:modified>
</cp:coreProperties>
</file>