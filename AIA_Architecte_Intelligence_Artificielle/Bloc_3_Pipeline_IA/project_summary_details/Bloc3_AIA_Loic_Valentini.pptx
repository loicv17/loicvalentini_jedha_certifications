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3" r:id="rId3"/>
    <p:sldId id="265" r:id="rId4"/>
    <p:sldId id="266" r:id="rId5"/>
    <p:sldId id="274" r:id="rId6"/>
    <p:sldId id="268" r:id="rId7"/>
    <p:sldId id="271" r:id="rId8"/>
    <p:sldId id="273" r:id="rId9"/>
    <p:sldId id="264" r:id="rId10"/>
    <p:sldId id="262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38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6734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39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164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777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6620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1675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143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3 – Pipeline IA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Fraud Detection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Décembre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aud Prevention Images – Browse 42,849 Stock Photos, Vectors, and Video |  Adobe Stock">
            <a:extLst>
              <a:ext uri="{FF2B5EF4-FFF2-40B4-BE49-F238E27FC236}">
                <a16:creationId xmlns:a16="http://schemas.microsoft.com/office/drawing/2014/main" id="{9DBDF4B6-A016-42A5-5260-EB8A144AA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022" y="-331840"/>
            <a:ext cx="12264168" cy="526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Stopper la fraude bancaire en temps réel grâce à un pipeline IA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Réduire les pertes financières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Modèle de détection de Machine Learning entraîné et optimisé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Evaluation du risque en temps réel via API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Réagir immédiatement aux fraudes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Alerte envoyée dès détection 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Orchestration en continu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Automatiser la production de rapports quotidiens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Rapport e-mail quotidien avec KPI et détails des fraudes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Archivage des rapports HTML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Assurer conformité et traçabilité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Sauvegarde continue des transactions brutes et scorées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Consolidation + tableau de bord interactif en ligne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0" y="212397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299" y="284885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6300" y="359881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1028" name="Picture 4" descr="Illustration Silhouette de création de logo détective loupe | Vecteur  Premium">
            <a:extLst>
              <a:ext uri="{FF2B5EF4-FFF2-40B4-BE49-F238E27FC236}">
                <a16:creationId xmlns:a16="http://schemas.microsoft.com/office/drawing/2014/main" id="{57F8AA4E-5FE6-B1E1-28E7-7C69225C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32879"/>
            <a:ext cx="916551" cy="61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pic>
        <p:nvPicPr>
          <p:cNvPr id="1028" name="Picture 4" descr="Illustration Silhouette de création de logo détective loupe | Vecteur  Premium">
            <a:extLst>
              <a:ext uri="{FF2B5EF4-FFF2-40B4-BE49-F238E27FC236}">
                <a16:creationId xmlns:a16="http://schemas.microsoft.com/office/drawing/2014/main" id="{57F8AA4E-5FE6-B1E1-28E7-7C69225C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32879"/>
            <a:ext cx="916551" cy="61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F50D22D-0D16-B403-8830-ABB62E5B6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008" y="440525"/>
            <a:ext cx="7516800" cy="419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4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pic>
        <p:nvPicPr>
          <p:cNvPr id="1028" name="Picture 4" descr="Illustration Silhouette de création de logo détective loupe | Vecteur  Premium">
            <a:extLst>
              <a:ext uri="{FF2B5EF4-FFF2-40B4-BE49-F238E27FC236}">
                <a16:creationId xmlns:a16="http://schemas.microsoft.com/office/drawing/2014/main" id="{57F8AA4E-5FE6-B1E1-28E7-7C69225C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32879"/>
            <a:ext cx="916551" cy="61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F50D22D-0D16-B403-8830-ABB62E5B6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8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0008" y="440525"/>
            <a:ext cx="7516800" cy="419697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0983B63-DF49-5B03-1267-105C7DF0C74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75122" b="54700"/>
          <a:stretch/>
        </p:blipFill>
        <p:spPr>
          <a:xfrm>
            <a:off x="1230008" y="440525"/>
            <a:ext cx="2873641" cy="2921585"/>
          </a:xfrm>
          <a:prstGeom prst="round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667CFA6-50E0-6257-4B09-B3E5D2A989C0}"/>
              </a:ext>
            </a:extLst>
          </p:cNvPr>
          <p:cNvSpPr txBox="1"/>
          <p:nvPr/>
        </p:nvSpPr>
        <p:spPr>
          <a:xfrm>
            <a:off x="-113421" y="1705541"/>
            <a:ext cx="1620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Aptos" panose="020B0004020202020204" pitchFamily="34" charset="0"/>
                <a:ea typeface="Inter" panose="020B0604020202020204" charset="0"/>
              </a:rPr>
              <a:t>Sources de données</a:t>
            </a:r>
          </a:p>
        </p:txBody>
      </p:sp>
    </p:spTree>
    <p:extLst>
      <p:ext uri="{BB962C8B-B14F-4D97-AF65-F5344CB8AC3E}">
        <p14:creationId xmlns:p14="http://schemas.microsoft.com/office/powerpoint/2010/main" val="289897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pic>
        <p:nvPicPr>
          <p:cNvPr id="1028" name="Picture 4" descr="Illustration Silhouette de création de logo détective loupe | Vecteur  Premium">
            <a:extLst>
              <a:ext uri="{FF2B5EF4-FFF2-40B4-BE49-F238E27FC236}">
                <a16:creationId xmlns:a16="http://schemas.microsoft.com/office/drawing/2014/main" id="{57F8AA4E-5FE6-B1E1-28E7-7C69225C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32879"/>
            <a:ext cx="916551" cy="61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F50D22D-0D16-B403-8830-ABB62E5B6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8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0008" y="440525"/>
            <a:ext cx="7516800" cy="419697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667CFA6-50E0-6257-4B09-B3E5D2A989C0}"/>
              </a:ext>
            </a:extLst>
          </p:cNvPr>
          <p:cNvSpPr txBox="1"/>
          <p:nvPr/>
        </p:nvSpPr>
        <p:spPr>
          <a:xfrm>
            <a:off x="696901" y="2310140"/>
            <a:ext cx="2425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Inter" panose="020B0604020202020204" charset="0"/>
              </a:rPr>
              <a:t>Modèle Machine Learning entraîné et optimisé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DE4EBD5-47E5-4AF3-E498-DBD8F8BE3D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054" r="55540" b="74361"/>
          <a:stretch/>
        </p:blipFill>
        <p:spPr>
          <a:xfrm>
            <a:off x="2587083" y="440526"/>
            <a:ext cx="3411110" cy="1849192"/>
          </a:xfrm>
          <a:prstGeom prst="round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0154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6</a:t>
            </a:fld>
            <a:endParaRPr lang="fr-FR" sz="1600" b="1" dirty="0"/>
          </a:p>
        </p:txBody>
      </p:sp>
      <p:pic>
        <p:nvPicPr>
          <p:cNvPr id="1028" name="Picture 4" descr="Illustration Silhouette de création de logo détective loupe | Vecteur  Premium">
            <a:extLst>
              <a:ext uri="{FF2B5EF4-FFF2-40B4-BE49-F238E27FC236}">
                <a16:creationId xmlns:a16="http://schemas.microsoft.com/office/drawing/2014/main" id="{57F8AA4E-5FE6-B1E1-28E7-7C69225C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32879"/>
            <a:ext cx="916551" cy="61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F50D22D-0D16-B403-8830-ABB62E5B6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8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0008" y="440525"/>
            <a:ext cx="7516800" cy="419697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80EDD06-016D-7525-D91E-D8320C2459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1064" b="61962"/>
          <a:stretch/>
        </p:blipFill>
        <p:spPr>
          <a:xfrm>
            <a:off x="5493688" y="440524"/>
            <a:ext cx="3253120" cy="2387737"/>
          </a:xfrm>
          <a:prstGeom prst="ellips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418F34B-C7C0-942F-A8CB-B5F1DF35DE5D}"/>
              </a:ext>
            </a:extLst>
          </p:cNvPr>
          <p:cNvSpPr txBox="1"/>
          <p:nvPr/>
        </p:nvSpPr>
        <p:spPr>
          <a:xfrm>
            <a:off x="7662136" y="198219"/>
            <a:ext cx="1620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Inter" panose="020B0604020202020204" charset="0"/>
              </a:rPr>
              <a:t>API de </a:t>
            </a:r>
            <a:r>
              <a:rPr lang="fr-FR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Inter" panose="020B0604020202020204" charset="0"/>
              </a:rPr>
              <a:t>scoring</a:t>
            </a:r>
            <a:endParaRPr lang="fr-FR" b="1" dirty="0">
              <a:solidFill>
                <a:schemeClr val="accent5">
                  <a:lumMod val="60000"/>
                  <a:lumOff val="40000"/>
                </a:schemeClr>
              </a:solidFill>
              <a:latin typeface="Aptos" panose="020B0004020202020204" pitchFamily="3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39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7</a:t>
            </a:fld>
            <a:endParaRPr lang="fr-FR" sz="1600" b="1" dirty="0"/>
          </a:p>
        </p:txBody>
      </p:sp>
      <p:pic>
        <p:nvPicPr>
          <p:cNvPr id="1028" name="Picture 4" descr="Illustration Silhouette de création de logo détective loupe | Vecteur  Premium">
            <a:extLst>
              <a:ext uri="{FF2B5EF4-FFF2-40B4-BE49-F238E27FC236}">
                <a16:creationId xmlns:a16="http://schemas.microsoft.com/office/drawing/2014/main" id="{57F8AA4E-5FE6-B1E1-28E7-7C69225C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32879"/>
            <a:ext cx="916551" cy="61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F50D22D-0D16-B403-8830-ABB62E5B6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8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0008" y="440525"/>
            <a:ext cx="7516800" cy="4196979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DDB16D33-9C3D-6731-961A-10E12C4CE24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790" t="22096" r="7276" b="16439"/>
          <a:stretch/>
        </p:blipFill>
        <p:spPr>
          <a:xfrm>
            <a:off x="1330844" y="951571"/>
            <a:ext cx="6854152" cy="3018263"/>
          </a:xfrm>
          <a:prstGeom prst="roundRect">
            <a:avLst/>
          </a:prstGeom>
          <a:ln w="38100">
            <a:solidFill>
              <a:srgbClr val="92D050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E08E3AA-32FF-07BE-965C-3FD64282F300}"/>
              </a:ext>
            </a:extLst>
          </p:cNvPr>
          <p:cNvSpPr txBox="1"/>
          <p:nvPr/>
        </p:nvSpPr>
        <p:spPr>
          <a:xfrm>
            <a:off x="-113421" y="3635728"/>
            <a:ext cx="1620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92D050"/>
                </a:solidFill>
                <a:latin typeface="Aptos" panose="020B0004020202020204" pitchFamily="34" charset="0"/>
                <a:ea typeface="Inter" panose="020B0604020202020204" charset="0"/>
              </a:rPr>
              <a:t>4 </a:t>
            </a:r>
            <a:r>
              <a:rPr lang="fr-FR" b="1" dirty="0" err="1">
                <a:solidFill>
                  <a:srgbClr val="92D050"/>
                </a:solidFill>
                <a:latin typeface="Aptos" panose="020B0004020202020204" pitchFamily="34" charset="0"/>
                <a:ea typeface="Inter" panose="020B0604020202020204" charset="0"/>
              </a:rPr>
              <a:t>DAGs</a:t>
            </a:r>
            <a:r>
              <a:rPr lang="fr-FR" b="1" dirty="0">
                <a:solidFill>
                  <a:srgbClr val="92D050"/>
                </a:solidFill>
                <a:latin typeface="Aptos" panose="020B0004020202020204" pitchFamily="34" charset="0"/>
                <a:ea typeface="Inter" panose="020B0604020202020204" charset="0"/>
              </a:rPr>
              <a:t> d’orchestration</a:t>
            </a:r>
          </a:p>
        </p:txBody>
      </p:sp>
    </p:spTree>
    <p:extLst>
      <p:ext uri="{BB962C8B-B14F-4D97-AF65-F5344CB8AC3E}">
        <p14:creationId xmlns:p14="http://schemas.microsoft.com/office/powerpoint/2010/main" val="1102423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8</a:t>
            </a:fld>
            <a:endParaRPr lang="fr-FR" sz="1600" b="1" dirty="0"/>
          </a:p>
        </p:txBody>
      </p:sp>
      <p:pic>
        <p:nvPicPr>
          <p:cNvPr id="1028" name="Picture 4" descr="Illustration Silhouette de création de logo détective loupe | Vecteur  Premium">
            <a:extLst>
              <a:ext uri="{FF2B5EF4-FFF2-40B4-BE49-F238E27FC236}">
                <a16:creationId xmlns:a16="http://schemas.microsoft.com/office/drawing/2014/main" id="{57F8AA4E-5FE6-B1E1-28E7-7C69225C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32879"/>
            <a:ext cx="916551" cy="61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F50D22D-0D16-B403-8830-ABB62E5B6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8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0008" y="440525"/>
            <a:ext cx="7516800" cy="419697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FFBABAA-444B-FE12-F942-0093355C13C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0984"/>
          <a:stretch/>
        </p:blipFill>
        <p:spPr>
          <a:xfrm>
            <a:off x="266382" y="3263591"/>
            <a:ext cx="8480426" cy="1373914"/>
          </a:xfrm>
          <a:prstGeom prst="roundRect">
            <a:avLst/>
          </a:prstGeom>
          <a:ln w="38100">
            <a:solidFill>
              <a:srgbClr val="7030A0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0A5BF4B-B008-6718-78E6-9976A7B8E4C2}"/>
              </a:ext>
            </a:extLst>
          </p:cNvPr>
          <p:cNvSpPr txBox="1"/>
          <p:nvPr/>
        </p:nvSpPr>
        <p:spPr>
          <a:xfrm>
            <a:off x="297358" y="2571750"/>
            <a:ext cx="2631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7030A0"/>
                </a:solidFill>
                <a:latin typeface="Aptos" panose="020B0004020202020204" pitchFamily="34" charset="0"/>
                <a:ea typeface="Inter" panose="020B0604020202020204" charset="0"/>
              </a:rPr>
              <a:t>Sorties pour l’utilisateur : emails/</a:t>
            </a:r>
            <a:r>
              <a:rPr lang="fr-FR" b="1" dirty="0" err="1">
                <a:solidFill>
                  <a:srgbClr val="7030A0"/>
                </a:solidFill>
                <a:latin typeface="Aptos" panose="020B0004020202020204" pitchFamily="34" charset="0"/>
                <a:ea typeface="Inter" panose="020B0604020202020204" charset="0"/>
              </a:rPr>
              <a:t>dashboard</a:t>
            </a:r>
            <a:r>
              <a:rPr lang="fr-FR" b="1" dirty="0">
                <a:solidFill>
                  <a:srgbClr val="7030A0"/>
                </a:solidFill>
                <a:latin typeface="Aptos" panose="020B0004020202020204" pitchFamily="34" charset="0"/>
                <a:ea typeface="Inter" panose="020B0604020202020204" charset="0"/>
              </a:rPr>
              <a:t>/rapports </a:t>
            </a:r>
          </a:p>
        </p:txBody>
      </p:sp>
    </p:spTree>
    <p:extLst>
      <p:ext uri="{BB962C8B-B14F-4D97-AF65-F5344CB8AC3E}">
        <p14:creationId xmlns:p14="http://schemas.microsoft.com/office/powerpoint/2010/main" val="738175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aud Prevention Images – Browse 42,849 Stock Photos, Vectors, and Video |  Adobe Stock">
            <a:extLst>
              <a:ext uri="{FF2B5EF4-FFF2-40B4-BE49-F238E27FC236}">
                <a16:creationId xmlns:a16="http://schemas.microsoft.com/office/drawing/2014/main" id="{9DBDF4B6-A016-42A5-5260-EB8A144AA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022" y="-331840"/>
            <a:ext cx="12264168" cy="526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Stopper la fraude bancaire en temps réel grâce à un pipeline IA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Couverture de données limitées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Jeu de données simulé, pas représentatif de tous les scénarios de fraude réels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Caractréistiques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simples (distance, date/heure) sans enrichissement externe ni historique client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Performance et robustesse du modèle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Risque de drift si les schémas de fraude évoluent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Pas de réentraînement automatique ni de pipeline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MLOps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complet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Infrastructure orientée POC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Airflow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planifié à la minute, pas de vrai streaming temps réel (Kafka)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S3 +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NeonDB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adaptés pour un POC, mais limites si volumes plus massifs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Adoption et conformité métier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Alertes par e-mail basiques, non intégrées aux outils métiers 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Conformité du projet à aligner avec les règlementations métiers (blanchiment d’argent…)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0" y="212397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299" y="284885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6300" y="359881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9</a:t>
            </a:fld>
            <a:endParaRPr lang="fr-FR" sz="1600" b="1" dirty="0"/>
          </a:p>
        </p:txBody>
      </p:sp>
      <p:pic>
        <p:nvPicPr>
          <p:cNvPr id="1028" name="Picture 4" descr="Illustration Silhouette de création de logo détective loupe | Vecteur  Premium">
            <a:extLst>
              <a:ext uri="{FF2B5EF4-FFF2-40B4-BE49-F238E27FC236}">
                <a16:creationId xmlns:a16="http://schemas.microsoft.com/office/drawing/2014/main" id="{57F8AA4E-5FE6-B1E1-28E7-7C69225C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32879"/>
            <a:ext cx="916551" cy="61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925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294</Words>
  <Application>Microsoft Office PowerPoint</Application>
  <PresentationFormat>Affichage à l'écran (16:9)</PresentationFormat>
  <Paragraphs>22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Inter Medium</vt:lpstr>
      <vt:lpstr>Aptos</vt:lpstr>
      <vt:lpstr>Inter</vt:lpstr>
      <vt:lpstr>Inter SemiBold</vt:lpstr>
      <vt:lpstr>Arial</vt:lpstr>
      <vt:lpstr>Simple Light</vt:lpstr>
      <vt:lpstr>BLOC 3 – Pipeline IA Fraud Detection project</vt:lpstr>
      <vt:lpstr>Stopper la fraude bancaire en temps réel grâce à un pipeline IA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Stopper la fraude bancaire en temps réel grâce à un pipeline IA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9</cp:revision>
  <dcterms:modified xsi:type="dcterms:W3CDTF">2025-09-27T11:37:00Z</dcterms:modified>
</cp:coreProperties>
</file>