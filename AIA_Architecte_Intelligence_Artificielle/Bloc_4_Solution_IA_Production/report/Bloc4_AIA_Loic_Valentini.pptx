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8"/>
  </p:notesMasterIdLst>
  <p:sldIdLst>
    <p:sldId id="256" r:id="rId2"/>
    <p:sldId id="275" r:id="rId3"/>
    <p:sldId id="263" r:id="rId4"/>
    <p:sldId id="265" r:id="rId5"/>
    <p:sldId id="276" r:id="rId6"/>
    <p:sldId id="262" r:id="rId7"/>
  </p:sldIdLst>
  <p:sldSz cx="9144000" cy="5143500" type="screen16x9"/>
  <p:notesSz cx="6858000" cy="9144000"/>
  <p:embeddedFontLst>
    <p:embeddedFont>
      <p:font typeface="Inter" panose="020B0604020202020204" charset="0"/>
      <p:regular r:id="rId9"/>
      <p:bold r:id="rId10"/>
      <p:italic r:id="rId11"/>
      <p:boldItalic r:id="rId12"/>
    </p:embeddedFont>
    <p:embeddedFont>
      <p:font typeface="Inter Medium" panose="020B0604020202020204" charset="0"/>
      <p:regular r:id="rId13"/>
      <p:bold r:id="rId14"/>
      <p:italic r:id="rId15"/>
      <p:boldItalic r:id="rId16"/>
    </p:embeddedFont>
    <p:embeddedFont>
      <p:font typeface="Inter SemiBold" panose="020B0604020202020204" charset="0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3" d="100"/>
          <a:sy n="133" d="100"/>
        </p:scale>
        <p:origin x="906" y="10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23" Type="http://schemas.openxmlformats.org/officeDocument/2006/relationships/theme" Target="theme/theme1.xml"/><Relationship Id="rId10" Type="http://schemas.openxmlformats.org/officeDocument/2006/relationships/font" Target="fonts/font2.fntdata"/><Relationship Id="rId19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77af7a6af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77af7a6af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256175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167342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949486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77ed9f117a_2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77ed9f117a_2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FDAD2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735474" y="2062825"/>
            <a:ext cx="8012525" cy="61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3200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BLOC 4 – Solution IA Production</a:t>
            </a:r>
            <a:br>
              <a:rPr lang="fr" sz="3200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</a:br>
            <a:r>
              <a:rPr lang="fr" sz="3200" i="1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NMM project</a:t>
            </a:r>
            <a:endParaRPr sz="3200" i="1" dirty="0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55" name="Google Shape;5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5550" y="2595750"/>
            <a:ext cx="3818450" cy="2547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0550" y="787375"/>
            <a:ext cx="973275" cy="65105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>
            <a:spLocks noGrp="1"/>
          </p:cNvSpPr>
          <p:nvPr>
            <p:ph type="ctrTitle"/>
          </p:nvPr>
        </p:nvSpPr>
        <p:spPr>
          <a:xfrm>
            <a:off x="202664" y="4356125"/>
            <a:ext cx="5315100" cy="53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 dirty="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rPr>
              <a:t>CDSD - Loic Valentini – Décembre 2025</a:t>
            </a:r>
            <a:endParaRPr sz="1800" dirty="0">
              <a:solidFill>
                <a:schemeClr val="lt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7921B91B-F36A-9DD0-A880-2FD685970CF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600" b="1" smtClean="0"/>
              <a:t>1</a:t>
            </a:fld>
            <a:endParaRPr lang="fr-FR" sz="16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C8C3DC98-3919-3A44-92CD-A7C607ED511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2</a:t>
            </a:fld>
            <a:endParaRPr lang="fr-FR"/>
          </a:p>
        </p:txBody>
      </p:sp>
      <p:pic>
        <p:nvPicPr>
          <p:cNvPr id="1028" name="Picture 4" descr="400+] Lakers Wallpapers | Wallpapers.com">
            <a:extLst>
              <a:ext uri="{FF2B5EF4-FFF2-40B4-BE49-F238E27FC236}">
                <a16:creationId xmlns:a16="http://schemas.microsoft.com/office/drawing/2014/main" id="{8A4E17B5-2A0C-F668-2DBE-D8A595E729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F7C593E1-F3FC-80BF-07DD-C13C75D84EC2}"/>
              </a:ext>
            </a:extLst>
          </p:cNvPr>
          <p:cNvSpPr txBox="1"/>
          <p:nvPr/>
        </p:nvSpPr>
        <p:spPr>
          <a:xfrm>
            <a:off x="79200" y="698400"/>
            <a:ext cx="4233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>
                <a:solidFill>
                  <a:schemeClr val="bg1"/>
                </a:solidFill>
                <a:latin typeface="Aptos Display" panose="020B0004020202020204" pitchFamily="34" charset="0"/>
              </a:rPr>
              <a:t>NMM – NBA Mood Monitor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245B6788-6805-69F4-434F-029542CBB9DE}"/>
              </a:ext>
            </a:extLst>
          </p:cNvPr>
          <p:cNvSpPr txBox="1"/>
          <p:nvPr/>
        </p:nvSpPr>
        <p:spPr>
          <a:xfrm>
            <a:off x="6567600" y="698400"/>
            <a:ext cx="4233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>
                <a:solidFill>
                  <a:schemeClr val="bg1"/>
                </a:solidFill>
                <a:latin typeface="Aptos Display" panose="020B0004020202020204" pitchFamily="34" charset="0"/>
              </a:rPr>
              <a:t>Lakers - Edition</a:t>
            </a:r>
          </a:p>
        </p:txBody>
      </p:sp>
      <p:pic>
        <p:nvPicPr>
          <p:cNvPr id="1032" name="Picture 8" descr="NBA logo et symbole, sens, histoire, PNG, marque">
            <a:extLst>
              <a:ext uri="{FF2B5EF4-FFF2-40B4-BE49-F238E27FC236}">
                <a16:creationId xmlns:a16="http://schemas.microsoft.com/office/drawing/2014/main" id="{BEC2F25C-2FBA-F41A-F5F1-41E15AB72D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029600" y="3571425"/>
            <a:ext cx="2794800" cy="1572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502008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4" descr="400+] Lakers Wallpapers | Wallpapers.com">
            <a:extLst>
              <a:ext uri="{FF2B5EF4-FFF2-40B4-BE49-F238E27FC236}">
                <a16:creationId xmlns:a16="http://schemas.microsoft.com/office/drawing/2014/main" id="{BE120375-96D6-E469-5865-7BF5858B7E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0225" y="-75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8" name="Google Shape;68;p15"/>
          <p:cNvSpPr txBox="1">
            <a:spLocks noGrp="1"/>
          </p:cNvSpPr>
          <p:nvPr>
            <p:ph type="ctrTitle" idx="4294967295"/>
          </p:nvPr>
        </p:nvSpPr>
        <p:spPr>
          <a:xfrm>
            <a:off x="1063063" y="213002"/>
            <a:ext cx="7672485" cy="5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500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Automatiser la collecte, le </a:t>
            </a:r>
            <a:r>
              <a:rPr lang="fr-FR" sz="2500" dirty="0" err="1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scoring</a:t>
            </a:r>
            <a:r>
              <a:rPr lang="fr-FR" sz="2500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et le monitoring </a:t>
            </a:r>
            <a:r>
              <a:rPr lang="fr-FR" sz="2500" dirty="0" err="1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Reddit</a:t>
            </a:r>
            <a:r>
              <a:rPr lang="fr-FR" sz="2500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dans un pipeline </a:t>
            </a:r>
            <a:r>
              <a:rPr lang="fr-FR" sz="2500" dirty="0" err="1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MLOps</a:t>
            </a:r>
            <a:endParaRPr lang="fr-FR" sz="2500" dirty="0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69" name="Google Shape;69;p15"/>
          <p:cNvSpPr txBox="1">
            <a:spLocks noGrp="1"/>
          </p:cNvSpPr>
          <p:nvPr>
            <p:ph type="ctrTitle" idx="4294967295"/>
          </p:nvPr>
        </p:nvSpPr>
        <p:spPr>
          <a:xfrm>
            <a:off x="897364" y="1202551"/>
            <a:ext cx="7944236" cy="5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Automatiser la récupération des </a:t>
            </a:r>
            <a:r>
              <a:rPr lang="fr-FR" sz="1400" dirty="0" err="1">
                <a:latin typeface="Inter Medium" panose="020B0604020202020204" charset="0"/>
                <a:ea typeface="Inter Medium" panose="020B0604020202020204" charset="0"/>
              </a:rPr>
              <a:t>posts</a:t>
            </a: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 </a:t>
            </a:r>
            <a:r>
              <a:rPr lang="fr-FR" sz="1400" dirty="0" err="1">
                <a:latin typeface="Inter Medium" panose="020B0604020202020204" charset="0"/>
                <a:ea typeface="Inter Medium" panose="020B0604020202020204" charset="0"/>
              </a:rPr>
              <a:t>Reddit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050" dirty="0">
                <a:latin typeface="Inter Medium" panose="020B0604020202020204" charset="0"/>
                <a:ea typeface="Inter Medium" panose="020B0604020202020204" charset="0"/>
              </a:rPr>
              <a:t>Collecte quotidienne, structure homogène, stockage fiable dans </a:t>
            </a:r>
            <a:r>
              <a:rPr lang="fr-FR" sz="1050" dirty="0" err="1">
                <a:latin typeface="Inter Medium" panose="020B0604020202020204" charset="0"/>
                <a:ea typeface="Inter Medium" panose="020B0604020202020204" charset="0"/>
              </a:rPr>
              <a:t>NeonDB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Produire un </a:t>
            </a:r>
            <a:r>
              <a:rPr lang="fr-FR" sz="1400" dirty="0" err="1">
                <a:latin typeface="Inter Medium" panose="020B0604020202020204" charset="0"/>
                <a:ea typeface="Inter Medium" panose="020B0604020202020204" charset="0"/>
              </a:rPr>
              <a:t>scoring</a:t>
            </a: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 émotionnel robuste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050" dirty="0">
                <a:latin typeface="Inter Medium" panose="020B0604020202020204" charset="0"/>
                <a:ea typeface="Inter Medium" panose="020B0604020202020204" charset="0"/>
              </a:rPr>
              <a:t>Modèle Transformers, classification en 7 émotions, reproductibilité assurée</a:t>
            </a:r>
            <a:br>
              <a:rPr lang="fr-FR" sz="105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05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Détecter les dérives ou anomalies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050" dirty="0">
                <a:latin typeface="Inter Medium" panose="020B0604020202020204" charset="0"/>
                <a:ea typeface="Inter Medium" panose="020B0604020202020204" charset="0"/>
              </a:rPr>
              <a:t>Comparaison entre runs, indicateurs qualité, détection de comportements inhabituels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Garantir la stabilité du code avec Jenkins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050" dirty="0">
                <a:latin typeface="Inter Medium" panose="020B0604020202020204" charset="0"/>
                <a:ea typeface="Inter Medium" panose="020B0604020202020204" charset="0"/>
              </a:rPr>
              <a:t>Exécutions automatisées, tests </a:t>
            </a:r>
            <a:r>
              <a:rPr lang="fr-FR" sz="1050" dirty="0" err="1">
                <a:latin typeface="Inter Medium" panose="020B0604020202020204" charset="0"/>
                <a:ea typeface="Inter Medium" panose="020B0604020202020204" charset="0"/>
              </a:rPr>
              <a:t>PyTest</a:t>
            </a:r>
            <a:r>
              <a:rPr lang="fr-FR" sz="1050" dirty="0">
                <a:latin typeface="Inter Medium" panose="020B0604020202020204" charset="0"/>
                <a:ea typeface="Inter Medium" panose="020B0604020202020204" charset="0"/>
              </a:rPr>
              <a:t>, contrôles de qualité, génération et archivage des rapports</a:t>
            </a:r>
            <a:br>
              <a:rPr lang="fr-FR" sz="105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05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Mettre à jour automatiquement les clusters d’émotions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050" dirty="0">
                <a:latin typeface="Inter Medium" panose="020B0604020202020204" charset="0"/>
                <a:ea typeface="Inter Medium" panose="020B0604020202020204" charset="0"/>
              </a:rPr>
              <a:t>Clusters </a:t>
            </a:r>
            <a:r>
              <a:rPr lang="fr-FR" sz="1050" dirty="0" err="1">
                <a:latin typeface="Inter Medium" panose="020B0604020202020204" charset="0"/>
                <a:ea typeface="Inter Medium" panose="020B0604020202020204" charset="0"/>
              </a:rPr>
              <a:t>Kmeans</a:t>
            </a:r>
            <a:r>
              <a:rPr lang="fr-FR" sz="1050" dirty="0">
                <a:latin typeface="Inter Medium" panose="020B0604020202020204" charset="0"/>
                <a:ea typeface="Inter Medium" panose="020B0604020202020204" charset="0"/>
              </a:rPr>
              <a:t>, adaptation aux nouvelles tendances des discussions, visualisation et suivi dans le pipeline</a:t>
            </a:r>
            <a:br>
              <a:rPr lang="fr-FR" sz="105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05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Offrir une visualisation claire via </a:t>
            </a:r>
            <a:r>
              <a:rPr lang="fr-FR" sz="1400" dirty="0" err="1">
                <a:latin typeface="Inter Medium" panose="020B0604020202020204" charset="0"/>
                <a:ea typeface="Inter Medium" panose="020B0604020202020204" charset="0"/>
              </a:rPr>
              <a:t>Streamlit</a:t>
            </a:r>
            <a:br>
              <a:rPr lang="fr-FR" sz="20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050" dirty="0">
                <a:latin typeface="Inter Medium" panose="020B0604020202020204" charset="0"/>
                <a:ea typeface="Inter Medium" panose="020B0604020202020204" charset="0"/>
              </a:rPr>
              <a:t>Dashboard interactive: data analyse, </a:t>
            </a:r>
            <a:r>
              <a:rPr lang="fr-FR" sz="1050" dirty="0" err="1">
                <a:latin typeface="Inter Medium" panose="020B0604020202020204" charset="0"/>
                <a:ea typeface="Inter Medium" panose="020B0604020202020204" charset="0"/>
              </a:rPr>
              <a:t>builds</a:t>
            </a:r>
            <a:r>
              <a:rPr lang="fr-FR" sz="1050" dirty="0">
                <a:latin typeface="Inter Medium" panose="020B0604020202020204" charset="0"/>
                <a:ea typeface="Inter Medium" panose="020B0604020202020204" charset="0"/>
              </a:rPr>
              <a:t> Jenkins, tests, logs, qualité des données…</a:t>
            </a:r>
            <a:br>
              <a:rPr lang="fr-FR" sz="105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600" dirty="0">
                <a:latin typeface="Inter Medium" panose="020B0604020202020204" charset="0"/>
                <a:ea typeface="Inter Medium" panose="020B0604020202020204" charset="0"/>
              </a:rPr>
            </a:br>
            <a:endParaRPr lang="fr-FR" sz="1600" dirty="0">
              <a:latin typeface="Inter Medium" panose="020B0604020202020204" charset="0"/>
              <a:ea typeface="Inter Medium" panose="020B0604020202020204" charset="0"/>
            </a:endParaRPr>
          </a:p>
        </p:txBody>
      </p:sp>
      <p:pic>
        <p:nvPicPr>
          <p:cNvPr id="75" name="Google Shape;75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8451" y="286600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/>
          <p:cNvSpPr/>
          <p:nvPr/>
        </p:nvSpPr>
        <p:spPr>
          <a:xfrm>
            <a:off x="10225" y="4757521"/>
            <a:ext cx="9144000" cy="385904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72;p15">
            <a:extLst>
              <a:ext uri="{FF2B5EF4-FFF2-40B4-BE49-F238E27FC236}">
                <a16:creationId xmlns:a16="http://schemas.microsoft.com/office/drawing/2014/main" id="{0A92A33E-5C0D-9471-660D-EEF056D7FEEB}"/>
              </a:ext>
            </a:extLst>
          </p:cNvPr>
          <p:cNvSpPr/>
          <p:nvPr/>
        </p:nvSpPr>
        <p:spPr>
          <a:xfrm rot="21244006">
            <a:off x="566300" y="1399087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72;p15">
            <a:extLst>
              <a:ext uri="{FF2B5EF4-FFF2-40B4-BE49-F238E27FC236}">
                <a16:creationId xmlns:a16="http://schemas.microsoft.com/office/drawing/2014/main" id="{B1894868-8F62-D5B9-ADF5-75C6F5190CCF}"/>
              </a:ext>
            </a:extLst>
          </p:cNvPr>
          <p:cNvSpPr/>
          <p:nvPr/>
        </p:nvSpPr>
        <p:spPr>
          <a:xfrm rot="21244006">
            <a:off x="566300" y="1973005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72;p15">
            <a:extLst>
              <a:ext uri="{FF2B5EF4-FFF2-40B4-BE49-F238E27FC236}">
                <a16:creationId xmlns:a16="http://schemas.microsoft.com/office/drawing/2014/main" id="{081DBEE9-5635-AACD-58A1-43551D1D74EC}"/>
              </a:ext>
            </a:extLst>
          </p:cNvPr>
          <p:cNvSpPr/>
          <p:nvPr/>
        </p:nvSpPr>
        <p:spPr>
          <a:xfrm rot="21244006">
            <a:off x="566301" y="2497104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72;p15">
            <a:extLst>
              <a:ext uri="{FF2B5EF4-FFF2-40B4-BE49-F238E27FC236}">
                <a16:creationId xmlns:a16="http://schemas.microsoft.com/office/drawing/2014/main" id="{4A90B45F-BA0F-4387-91B1-C2764DAA586A}"/>
              </a:ext>
            </a:extLst>
          </p:cNvPr>
          <p:cNvSpPr/>
          <p:nvPr/>
        </p:nvSpPr>
        <p:spPr>
          <a:xfrm rot="21244006">
            <a:off x="564799" y="3084992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Espace réservé du numéro de diapositive 11">
            <a:extLst>
              <a:ext uri="{FF2B5EF4-FFF2-40B4-BE49-F238E27FC236}">
                <a16:creationId xmlns:a16="http://schemas.microsoft.com/office/drawing/2014/main" id="{B88E95F2-A825-9FD5-45E5-DFEEB6C5DC8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749825"/>
            <a:ext cx="548700" cy="39360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600" b="1" smtClean="0"/>
              <a:t>3</a:t>
            </a:fld>
            <a:endParaRPr lang="fr-FR" sz="1600" b="1" dirty="0"/>
          </a:p>
        </p:txBody>
      </p:sp>
      <p:sp>
        <p:nvSpPr>
          <p:cNvPr id="4" name="Google Shape;72;p15">
            <a:extLst>
              <a:ext uri="{FF2B5EF4-FFF2-40B4-BE49-F238E27FC236}">
                <a16:creationId xmlns:a16="http://schemas.microsoft.com/office/drawing/2014/main" id="{5AF13A8C-50B8-B25B-D7A4-8CC2211ADF77}"/>
              </a:ext>
            </a:extLst>
          </p:cNvPr>
          <p:cNvSpPr/>
          <p:nvPr/>
        </p:nvSpPr>
        <p:spPr>
          <a:xfrm rot="21244006">
            <a:off x="564800" y="3625555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72;p15">
            <a:extLst>
              <a:ext uri="{FF2B5EF4-FFF2-40B4-BE49-F238E27FC236}">
                <a16:creationId xmlns:a16="http://schemas.microsoft.com/office/drawing/2014/main" id="{81E072B3-F64F-EA08-AA95-8FEC591CB949}"/>
              </a:ext>
            </a:extLst>
          </p:cNvPr>
          <p:cNvSpPr/>
          <p:nvPr/>
        </p:nvSpPr>
        <p:spPr>
          <a:xfrm rot="21244006">
            <a:off x="564799" y="4146260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915481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635BADFA-7980-C2C8-A749-F7C8615EF1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208" y="177896"/>
            <a:ext cx="8265600" cy="4641604"/>
          </a:xfrm>
          <a:prstGeom prst="rect">
            <a:avLst/>
          </a:prstGeom>
        </p:spPr>
      </p:pic>
      <p:pic>
        <p:nvPicPr>
          <p:cNvPr id="75" name="Google Shape;75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8451" y="286600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/>
          <p:cNvSpPr/>
          <p:nvPr/>
        </p:nvSpPr>
        <p:spPr>
          <a:xfrm>
            <a:off x="10225" y="4757521"/>
            <a:ext cx="9144000" cy="385904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Espace réservé du numéro de diapositive 11">
            <a:extLst>
              <a:ext uri="{FF2B5EF4-FFF2-40B4-BE49-F238E27FC236}">
                <a16:creationId xmlns:a16="http://schemas.microsoft.com/office/drawing/2014/main" id="{B88E95F2-A825-9FD5-45E5-DFEEB6C5DC8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749825"/>
            <a:ext cx="548700" cy="39360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600" b="1" smtClean="0"/>
              <a:t>4</a:t>
            </a:fld>
            <a:endParaRPr lang="fr-FR" sz="1600" b="1" dirty="0"/>
          </a:p>
        </p:txBody>
      </p:sp>
    </p:spTree>
    <p:extLst>
      <p:ext uri="{BB962C8B-B14F-4D97-AF65-F5344CB8AC3E}">
        <p14:creationId xmlns:p14="http://schemas.microsoft.com/office/powerpoint/2010/main" val="12564416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4" descr="400+] Lakers Wallpapers | Wallpapers.com">
            <a:extLst>
              <a:ext uri="{FF2B5EF4-FFF2-40B4-BE49-F238E27FC236}">
                <a16:creationId xmlns:a16="http://schemas.microsoft.com/office/drawing/2014/main" id="{BE120375-96D6-E469-5865-7BF5858B7E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0225" y="-75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8" name="Google Shape;68;p15"/>
          <p:cNvSpPr txBox="1">
            <a:spLocks noGrp="1"/>
          </p:cNvSpPr>
          <p:nvPr>
            <p:ph type="ctrTitle" idx="4294967295"/>
          </p:nvPr>
        </p:nvSpPr>
        <p:spPr>
          <a:xfrm>
            <a:off x="1063063" y="213002"/>
            <a:ext cx="7672485" cy="5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500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Améliorations futures du pipeline</a:t>
            </a:r>
          </a:p>
        </p:txBody>
      </p:sp>
      <p:sp>
        <p:nvSpPr>
          <p:cNvPr id="69" name="Google Shape;69;p15"/>
          <p:cNvSpPr txBox="1">
            <a:spLocks noGrp="1"/>
          </p:cNvSpPr>
          <p:nvPr>
            <p:ph type="ctrTitle" idx="4294967295"/>
          </p:nvPr>
        </p:nvSpPr>
        <p:spPr>
          <a:xfrm>
            <a:off x="897364" y="1202551"/>
            <a:ext cx="7944236" cy="5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Stockage long-terme en ligne (type S3)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Intégrer un versioning de dataset (DVC)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Réentraînement automatique du modèle Transformers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Exploiter les mesures de Data Drift mesurées avec </a:t>
            </a:r>
            <a:r>
              <a:rPr lang="fr-FR" sz="1400" dirty="0" err="1">
                <a:latin typeface="Inter Medium" panose="020B0604020202020204" charset="0"/>
                <a:ea typeface="Inter Medium" panose="020B0604020202020204" charset="0"/>
              </a:rPr>
              <a:t>Evidently</a:t>
            </a: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 (</a:t>
            </a:r>
            <a:r>
              <a:rPr lang="fr-FR" sz="1400" dirty="0" err="1">
                <a:latin typeface="Inter Medium" panose="020B0604020202020204" charset="0"/>
                <a:ea typeface="Inter Medium" panose="020B0604020202020204" charset="0"/>
              </a:rPr>
              <a:t>alerting</a:t>
            </a: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)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05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Réintégrer les clusters modifiés dans la Data Analyse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Déploiement du pipeline sur cloud (</a:t>
            </a:r>
            <a:r>
              <a:rPr lang="fr-FR" sz="1400" dirty="0" err="1">
                <a:latin typeface="Inter Medium" panose="020B0604020202020204" charset="0"/>
                <a:ea typeface="Inter Medium" panose="020B0604020202020204" charset="0"/>
              </a:rPr>
              <a:t>Streamlit</a:t>
            </a: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)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600" dirty="0">
                <a:latin typeface="Inter Medium" panose="020B0604020202020204" charset="0"/>
                <a:ea typeface="Inter Medium" panose="020B0604020202020204" charset="0"/>
              </a:rPr>
            </a:br>
            <a:endParaRPr lang="fr-FR" sz="1600" dirty="0">
              <a:latin typeface="Inter Medium" panose="020B0604020202020204" charset="0"/>
              <a:ea typeface="Inter Medium" panose="020B0604020202020204" charset="0"/>
            </a:endParaRPr>
          </a:p>
        </p:txBody>
      </p:sp>
      <p:pic>
        <p:nvPicPr>
          <p:cNvPr id="75" name="Google Shape;75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8451" y="286600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/>
          <p:cNvSpPr/>
          <p:nvPr/>
        </p:nvSpPr>
        <p:spPr>
          <a:xfrm>
            <a:off x="10225" y="4757521"/>
            <a:ext cx="9144000" cy="385904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72;p15">
            <a:extLst>
              <a:ext uri="{FF2B5EF4-FFF2-40B4-BE49-F238E27FC236}">
                <a16:creationId xmlns:a16="http://schemas.microsoft.com/office/drawing/2014/main" id="{0A92A33E-5C0D-9471-660D-EEF056D7FEEB}"/>
              </a:ext>
            </a:extLst>
          </p:cNvPr>
          <p:cNvSpPr/>
          <p:nvPr/>
        </p:nvSpPr>
        <p:spPr>
          <a:xfrm rot="21244006">
            <a:off x="566300" y="1399087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72;p15">
            <a:extLst>
              <a:ext uri="{FF2B5EF4-FFF2-40B4-BE49-F238E27FC236}">
                <a16:creationId xmlns:a16="http://schemas.microsoft.com/office/drawing/2014/main" id="{B1894868-8F62-D5B9-ADF5-75C6F5190CCF}"/>
              </a:ext>
            </a:extLst>
          </p:cNvPr>
          <p:cNvSpPr/>
          <p:nvPr/>
        </p:nvSpPr>
        <p:spPr>
          <a:xfrm rot="21244006">
            <a:off x="564799" y="1819476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72;p15">
            <a:extLst>
              <a:ext uri="{FF2B5EF4-FFF2-40B4-BE49-F238E27FC236}">
                <a16:creationId xmlns:a16="http://schemas.microsoft.com/office/drawing/2014/main" id="{081DBEE9-5635-AACD-58A1-43551D1D74EC}"/>
              </a:ext>
            </a:extLst>
          </p:cNvPr>
          <p:cNvSpPr/>
          <p:nvPr/>
        </p:nvSpPr>
        <p:spPr>
          <a:xfrm rot="21244006">
            <a:off x="564798" y="2239864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72;p15">
            <a:extLst>
              <a:ext uri="{FF2B5EF4-FFF2-40B4-BE49-F238E27FC236}">
                <a16:creationId xmlns:a16="http://schemas.microsoft.com/office/drawing/2014/main" id="{4A90B45F-BA0F-4387-91B1-C2764DAA586A}"/>
              </a:ext>
            </a:extLst>
          </p:cNvPr>
          <p:cNvSpPr/>
          <p:nvPr/>
        </p:nvSpPr>
        <p:spPr>
          <a:xfrm rot="21244006">
            <a:off x="564797" y="2670549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Espace réservé du numéro de diapositive 11">
            <a:extLst>
              <a:ext uri="{FF2B5EF4-FFF2-40B4-BE49-F238E27FC236}">
                <a16:creationId xmlns:a16="http://schemas.microsoft.com/office/drawing/2014/main" id="{B88E95F2-A825-9FD5-45E5-DFEEB6C5DC8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749825"/>
            <a:ext cx="548700" cy="39360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600" b="1" smtClean="0"/>
              <a:t>5</a:t>
            </a:fld>
            <a:endParaRPr lang="fr-FR" sz="1600" b="1" dirty="0"/>
          </a:p>
        </p:txBody>
      </p:sp>
      <p:sp>
        <p:nvSpPr>
          <p:cNvPr id="4" name="Google Shape;72;p15">
            <a:extLst>
              <a:ext uri="{FF2B5EF4-FFF2-40B4-BE49-F238E27FC236}">
                <a16:creationId xmlns:a16="http://schemas.microsoft.com/office/drawing/2014/main" id="{5AF13A8C-50B8-B25B-D7A4-8CC2211ADF77}"/>
              </a:ext>
            </a:extLst>
          </p:cNvPr>
          <p:cNvSpPr/>
          <p:nvPr/>
        </p:nvSpPr>
        <p:spPr>
          <a:xfrm rot="21244006">
            <a:off x="564798" y="3054188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72;p15">
            <a:extLst>
              <a:ext uri="{FF2B5EF4-FFF2-40B4-BE49-F238E27FC236}">
                <a16:creationId xmlns:a16="http://schemas.microsoft.com/office/drawing/2014/main" id="{81E072B3-F64F-EA08-AA95-8FEC591CB949}"/>
              </a:ext>
            </a:extLst>
          </p:cNvPr>
          <p:cNvSpPr/>
          <p:nvPr/>
        </p:nvSpPr>
        <p:spPr>
          <a:xfrm rot="21244006">
            <a:off x="564797" y="3491138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2922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DBD0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9"/>
          <p:cNvSpPr txBox="1">
            <a:spLocks noGrp="1"/>
          </p:cNvSpPr>
          <p:nvPr>
            <p:ph type="ctrTitle" idx="4294967295"/>
          </p:nvPr>
        </p:nvSpPr>
        <p:spPr>
          <a:xfrm>
            <a:off x="1235600" y="1742168"/>
            <a:ext cx="5315100" cy="69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5600" b="1" dirty="0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rPr>
              <a:t>Merci !</a:t>
            </a:r>
            <a:endParaRPr sz="5600" b="1" dirty="0">
              <a:solidFill>
                <a:srgbClr val="0E344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11" name="Google Shape;11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18625" y="3006625"/>
            <a:ext cx="4599299" cy="2136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93E3B375-4397-CD72-E602-C59A61DC411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6</a:t>
            </a:fld>
            <a:endParaRPr lang="fr-F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448</TotalTime>
  <Words>248</Words>
  <Application>Microsoft Office PowerPoint</Application>
  <PresentationFormat>Affichage à l'écran (16:9)</PresentationFormat>
  <Paragraphs>15</Paragraphs>
  <Slides>6</Slides>
  <Notes>5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2" baseType="lpstr">
      <vt:lpstr>Inter Medium</vt:lpstr>
      <vt:lpstr>Inter</vt:lpstr>
      <vt:lpstr>Inter SemiBold</vt:lpstr>
      <vt:lpstr>Aptos Display</vt:lpstr>
      <vt:lpstr>Arial</vt:lpstr>
      <vt:lpstr>Simple Light</vt:lpstr>
      <vt:lpstr>BLOC 4 – Solution IA Production NMM project</vt:lpstr>
      <vt:lpstr>Présentation PowerPoint</vt:lpstr>
      <vt:lpstr>Automatiser la collecte, le scoring et le monitoring Reddit dans un pipeline MLOps</vt:lpstr>
      <vt:lpstr>Présentation PowerPoint</vt:lpstr>
      <vt:lpstr>Améliorations futures du pipeline</vt:lpstr>
      <vt:lpstr>Merci 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Loic Valentini</dc:creator>
  <cp:lastModifiedBy>Loic Valentini</cp:lastModifiedBy>
  <cp:revision>11</cp:revision>
  <dcterms:modified xsi:type="dcterms:W3CDTF">2025-11-20T14:51:53Z</dcterms:modified>
</cp:coreProperties>
</file>